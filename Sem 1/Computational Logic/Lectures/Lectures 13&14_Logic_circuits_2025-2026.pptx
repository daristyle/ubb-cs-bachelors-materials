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301" r:id="rId11"/>
    <p:sldId id="300" r:id="rId12"/>
    <p:sldId id="264" r:id="rId13"/>
    <p:sldId id="266" r:id="rId14"/>
    <p:sldId id="265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293" r:id="rId23"/>
    <p:sldId id="267" r:id="rId24"/>
    <p:sldId id="268" r:id="rId25"/>
    <p:sldId id="269" r:id="rId26"/>
    <p:sldId id="270" r:id="rId27"/>
    <p:sldId id="273" r:id="rId28"/>
    <p:sldId id="299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8" r:id="rId39"/>
    <p:sldId id="302" r:id="rId40"/>
    <p:sldId id="304" r:id="rId41"/>
    <p:sldId id="303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>
      <p:cViewPr varScale="1">
        <p:scale>
          <a:sx n="76" d="100"/>
          <a:sy n="76" d="100"/>
        </p:scale>
        <p:origin x="70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25.6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13547 3298 0,'17'0'219,"19"0"-172,-1 0-31,0 0-1,18 0 1,-35 0 15,17-17 47,0 17-62,1 0-1,16 0 95,37 0-79,-19 0-15,-17 0 46,-18 0-31,18 17 344,-35 19-343,0-19-32,-18 1 203,-18-18-156,0 0-32,-17 18 1,-18-18 0,35 0-16,1 0 15,-18 17 1,-1-17-16,-17 0 62,36 0 110,-1 0-156,-17 0-1,0 0 17,17 0 30,-17 0-46,17 0-16,0 0 15,-17 0 1,0 0 109,-1 0 31,1 0-93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27.45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13600 4410 0,'-18'0'125,"36"0"-78,17 0-31,0 0 0,0 0-1,18 0 1,0-36-1,-35 36 1,17-17 62,0 17-62,1 0-1,-19 0 79,1 0-63,0 0 235,17 0-250,0 0 140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29.6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13635 5256 0,'0'18'203,"35"-18"-187,-17 0-16,35 0 16,-18 0-1,0 0 110,1 0-109,-1 0 15,0 0 47,0 0-62,18 0-1,-17 0 95,-1 0-79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31.3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13582 6032 0,'18'-35'63,"17"35"-32,18 0-31,17 0 31,-34 0-15,-19-17 93,54 17-93,-18 0-1,-18 0 1,0 0 31,18 0 0,-35 0-32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32.95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13723 6897 0,'0'-18'110,"18"-17"-63,105 35-16,-88 0-16,-17-35 1,0 35 15,35 0-15,-18-18 0,0 0-1,0 18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36.5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13688 7655 0,'17'0'219,"1"0"-157,17-17-46,-17-1-1,17 18 1,1 0 0,-19 0-1,1 0 1,17 0 15,18 0 0,-35 0-15,-1 0 0,1 0-1,35 0 1,-18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38.6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13564 8520 0,'0'-18'47,"36"18"16,-19 0-32,18-18-15,1 18-1,-19-17 1,19 17-1,-1 0 1,0-18 0,18 18 15,-18 0-15,36 0-1,-36 0 16,-17 0 1,52 0-17,-34 0 17,-19 0-17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40.84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13564 7655 0,'18'0'203,"52"0"-187,-34 0-1,-19 0 17,36 0-17,0 0 1,-17 0 0,-19 0 234,54 0-219,17 36-16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42.6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13564 6791 0,'0'-35'140,"36"35"-93,16 0-16,1 0-15,18 0 0,-36 0-1,1 0 16,-1 0 32,-18 0-47,1 0-16,35 0 15,-18 0 173,1 0-63,-19 0-110,1 0 251,-1 0-235,1 17-15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46.45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13723 9419 0,'0'-17'203,"0"-1"-172,35 18-15,1 0 0,-1 0-1,0 0 1,18-35-1,18 17 1,-54 18 15,19-18 94,-19 1-62,1 17-48,17 0 17,0 0 61,-17 0-77,17-18 62,1 0-62,-19 1 124,-34 17-77,-1 0-47,0 0-16,1 0 15,-1 0 1,0 0 15,-17 0-15,0 0-1,-18 0 17,35 0-17,1 0-15,-1 0 31,0 0-15,-17 0 0,0 0 31,17 0-32,1 0 1,-1 0-1,0 0 1,1 0 62,-19 0-62,1 0 31,0 0 31,17 0-47,0 0 63,1 0-79,-1 0 17,1 0 249,-19 0-265,1 0 93,17 0 141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49.85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13582 10107 0,'53'0'187,"35"0"-155,-53 0 46,18 0-47,-17 0-31,-1-18 31,0 18 1,-17 0 14,-1 0-30,1 0-16,0 0 31,-1 0-15,19 0 46,-1 0-30,0 0-17,-17 0-15,-1 0 47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51.8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13582 10971 0,'35'0'187,"18"0"-171,0 0 0,53 0-1,-88 0 1,17 0-1,-18 0 1,1 0 47,17 0-48,1 0 16,-19 0-15,1 0 0,17 0-1,-17 0 1,17 0 109,0 0-94,1 0 0,-19 0 63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8:59:58.9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22401 2187 0,'0'-17'156,"18"17"-125,0 0-15,-1 0-1,1 0 48,0 0-47,17 0-16,18 0 31,-18 0-16,18 17 110,-18 1-93,-88-1 233,-17 19-233,17-36-17,-18 17 16,36-17-15,-18 0 0,35 18 15,-34 0-15,16-1-1,19 1 48,-19-18 77,19 0-124,-1 0 109,0 0-109,1 0 15,-1 0-16,-17 0 220,0 0-188,-18 0-16,17 0-15,36 18 343,0 17-328,36-35-15,-19 35 15,19-35-15,-19 18 77,36-18-77,-18 0 0,1 0-1,-1 0 1,-17 0 0,17 0 46,0 0-46,-17 0-16,-1 17 15,19-17 63,-19 18-62,19 0 0,-1-1-1,-17-17 235,-54 36-218,-70-19-17,-17 19 1,88-19 62,17-17 78,0 0-140,-17 0 109,0 18-110,53-18 189,-1 17-142,18-17-46,1 18-1,-19-18 1,19 0 0,-1 18-1,-17-1-15,-1-17 16,71 0-1,-52 0 1,-19 0 31,1 0 47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02.0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13705 11765 0,'18'-18'94,"0"1"-78,17 17-1,-17 0 1,-1 0 15,19-35 0,16 35 1,-16 0-17,-19 0-15,1 0 16,70 0 0,-88 35 405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05.60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13705 12541 0,'18'0'172,"0"0"-156,-1 0-1,54 0 1,-53 0 15,-1 0-15,18 18 0,1-18 30,-1 0-14,18 18-17,-35-18 17,-1 0 46,-52 0 390,17 0-452,1 0 31,-19 0-31,19 0-16,-19 0 15,1 0 16,-18 0-15,36 0 0,-19 0 77,19 0-46,-19 0 94,1 0-94,53 0 578,-1 0-594,1 0 0,70 17-15,-70-17 0,0 0 15,17 0-16,-18 0 1,19 0 0,-1 0-1,18 0 376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08.44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13617 11677 0,'0'18'188,"35"-18"-141,36 0-32,-36 0 1,18 0-1,0 0 1,-18 0 15,36 0 1,-36 0-17,-17 0-15,17 0 16,0 0-1,18 0 17,-53 17 327,-35 1-328,-53 17 1,70-17-17,-35-1 63,36-17-62,-1 0-16,0 18 31,1-18-15,-36 18 343,35-18-234,-52 0-94,52 0 1,0 0-17,1 17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13.2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13617 13511 0,'18'-17'94,"-1"-1"-78,1 0 15,17 18 16,-17-17-32,0 17 48,17 0-47,36 0-1,-54 0 1,1 0 46,35 0-46,-18 0 0,0 0-1,-17 0 16,17 0-15,-17 0-16,-1 0 31,-52 0 188,-53-35-188,53 35-15,17-36 0,0 36-1,-17 0 1,18 0-1,-1 0 17,0 0-1,-17 0 0,0 0-15,-1 0 62,1 0-62,17 0 77,1-17 189,34 17-267,36-18 1,0 0-1,-35 18 1,0 0-16,52-17 31,-52-1-31,-1 18 16,19 0 62,-19 0-31,19 0-31,-19 0 15,36 0 250,-18 0-265,18 18-1,-35-18 1,-18 35 390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18.6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13617 14217 0,'0'-18'203,"18"18"-172,52-35 1,-52 35-17,35 0 1,-18 0-1,1 0 1,-1 0 0,0 0-1,-17 0 1,17 0 0,0 0-1,-17 0 1,0 0 62,-1 0 141,-34 0 31,-54 18-219,18-1-15,0-17-1,18 0-15,0 0 16,35 36 15,-36-36 16,19 17 375,34-17-391,36 0-15,-17 0-1,-19 0 1,1 0 62,52 0-62,-52 0-1,35 0 1,-35 0 0,17 0 187,-18 0-188,1 0 1,0 0 140,-18-35-125,0 0-15,0 17 0,-18 18 31,0-18-32,1 1 1,-1 17 15,1 0-15,-19 0-1,-17 0 17,18 0-17,0-36 1,0 36 62,-1 0-47,19 0 125,52 0 63,35 0-203,-52-17 15,0 17-15,-1 0 77,1 0-77,0 17 78,-18 19-63,0-1 0,0 18-15,0-18 15,0-17-15,0 35 46,0-18-15,0-17 125,-18-18-156,-53 17-1,19-17 1,-1 0 0,17 0-1,19 0 1,-1 0 31,-17 0-32,-18 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23.1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13617 15064 0,'35'-18'171,"36"0"-155,-18 1-16,0 17 16,0-36-1,-18 36-15,-17 0 110,35-17-79,17 17-15,-35 0-1,-35 17 298,-17 19-282,-1-19 0,-35 19 94,53-19-109,-17 1 15,-36 0-15,35-18 202,-35 0-202,0 0 0,36 0 15,-1 0 31,0 0-46,1 0 187,52 0 266,0 0-453,71-18 15,-71 0 0,1 18 47,-19-17 32,19 17-64,-36-18 95,-18 18-110,-17-18-15,-1 1 0,19-19-1,-19 19 1,19 17-1,-1-18 1,-17 18 156,0 0-141,-1 0-15,1 0 218,17 0-218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26.3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13635 15734 0,'17'0'204,"36"0"-189,53 0 1,-70 0-1,-19 0 1,1 0 78,17 0-79,18 0 1,-18 0 0,-17 0 62,0 0-47,-1 0-15,1 0-16,17 0 31,18 35-15,-53-17 218,-71 17-203,19 0-15,16-35 15,-17 36 0,36-19 47,-19-17 1,19 0-64,-18 0 1,-18-17 31,35-19-32,0 36 157,-17 0-125,35-17 344,35 17-313,1 0-63,17 0 17,-36 0 249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30.55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13670 16686 0,'35'-17'203,"89"-36"-172,-106 53-15,140-35-1,-122 35 1,-19 0 15,1-18-15,-1 0-1,19 18 32,-1-17-31,-53 17 312,-52 0-297,52 0-15,-52 0 15,-19-36 0,37 1 1,16 35 249,-17 0-266,-53 53 1,71-53 15,35 18 313,35-18-328,-35 17 15,36-17-15,-19 53 15,19-35-16,-19-1 1,19-17 47,-19 18-48,19-18-15,-1 18 16,18-1 249,-18 1-249,0-18 0,1 18 93,-36-1 79,-18-17-95,-35 0-77,18 0 0,-1 0-1,19 0 1,-1 0-1,1 0 1,-19 0 172,1 0-157,0 0 16,17 0-32,0 0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6T19:00:41.4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22419 2205 0,'35'0'171,"1"0"-108,-1 0-47,-18 0-1,36 17 1,0 1-1,-17-18 1,-19 18 78,19-18-47,-19 0-32,18 17 173,1 1-173,-1 17 1,-35-17 31,0 17-31,0-17 15,0 35 0,0-36-15,-18 19-1,-17-36 1,0 35 31,17 0-32,1 18 32,-1-18-31,0-35-16,18 53 31,0-17-15,0-19 15,0 1 47,0 17-62,0 0 78,18-17-48,-36-18 142,1 0-157,-1 0-15,0-18-1,-17 18 1,0-17 0,-18 17-1,35 0 1,-17-18 0,35-17 280,0-53-264,0 52-17,0 1 1,-18-18 46,18 36-46,0-19 0,-35 1-1,35 17 95,0-17-79,0 0 313,35 17-313,-17 18-15,17-17-1,-17-1 1,-1 18-1,19 0 1,-36-18 0,17 1 62,19 17-63,-36-36 345,0 1-329,-18 17 0,0 18 94,1 0-93,-19 0-1,1 0 16,0 0 46,0 0-77,17 0 203,-17 0-204,-18 0-15,35 0 16,-141 18 15,177-18 266,70-18-266,-52 18-15,-36-17 15,35-1-15,18 1 93,53-1-62,-54 0-31,-52 1-1,36 17 204,-19 0-188,1 0 1,17 0-1,-35 17-15,18 1-1,17 0 1,1-1-16,-1 1 31,-35-1-15,0 1 62,0 17-63,0 36 1,0-36 15,0 1-31,0-19 16,0 18 15,0-17 0,0 0-15,0-1 0,0 1-1,0 0 63,0 17-62,0 0 125,0 18-110,-18 0-15,-17-35 93,-36-18-78,-4021 0-15,8096 0 124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772F4-4470-4F12-8EB0-CCCF068C48FB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A77D449-C9D4-4F0E-8FA8-6B61D5A064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65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EA5DF0C-4168-4EDF-B065-B46058E47B59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2DB96C-544E-4AB2-9B64-C60ABB81D2C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85F6-5D4B-4D63-8639-84BB0226843A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BB9D0BF4-C982-4736-B75F-243D30188F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7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FFF8D-BA65-4C1F-AAB8-599F6E74450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122E5-0276-4C3A-89CF-88B780241A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0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447A6-2078-4B89-A4F4-BA917A747BE9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75CA82-AF7D-4E9A-A5F7-E63BEBAA1B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5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E2B79A5-3329-441C-AE01-D4EB813E579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92BBA3-FF9F-4E47-8461-10978D8E8C8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4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94823-D857-4A50-8333-F62588C08D8E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D11929-B627-4F36-B621-50ADCBC06C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3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186E747-C06B-4696-817C-A58CABA03FFC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22CFF8-1883-40E4-8E63-3A164B7D0D7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2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850D333-15B0-46A2-86DB-C0387C8323C3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2857B0-A663-4F22-AD3B-0BFBF46A055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0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919C-A5D3-486B-B908-25EB68844B71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51028-DF2A-4961-8DAE-2A3A170FDFB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5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354CC-FF00-42E1-8382-479EEC3DCCB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A42D7-FF78-4899-A028-A245A7560C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7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14160F-1030-44B2-9D7E-579492D3443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C33338D6-61DA-48D7-8AC6-1D1F56F9DE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16" r:id="rId4"/>
    <p:sldLayoutId id="2147483817" r:id="rId5"/>
    <p:sldLayoutId id="2147483824" r:id="rId6"/>
    <p:sldLayoutId id="2147483818" r:id="rId7"/>
    <p:sldLayoutId id="2147483825" r:id="rId8"/>
    <p:sldLayoutId id="2147483826" r:id="rId9"/>
    <p:sldLayoutId id="2147483819" r:id="rId10"/>
    <p:sldLayoutId id="21474838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56.png"/><Relationship Id="rId21" Type="http://schemas.openxmlformats.org/officeDocument/2006/relationships/image" Target="../media/image47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60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6" Type="http://schemas.openxmlformats.org/officeDocument/2006/relationships/customXml" Target="../ink/ink7.xml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42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55.png"/><Relationship Id="rId40" Type="http://schemas.openxmlformats.org/officeDocument/2006/relationships/customXml" Target="../ink/ink19.xml"/><Relationship Id="rId45" Type="http://schemas.openxmlformats.org/officeDocument/2006/relationships/image" Target="../media/image59.png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46.png"/><Relationship Id="rId31" Type="http://schemas.openxmlformats.org/officeDocument/2006/relationships/image" Target="../media/image52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4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50.png"/><Relationship Id="rId30" Type="http://schemas.openxmlformats.org/officeDocument/2006/relationships/customXml" Target="../ink/ink14.xml"/><Relationship Id="rId35" Type="http://schemas.openxmlformats.org/officeDocument/2006/relationships/image" Target="../media/image54.png"/><Relationship Id="rId43" Type="http://schemas.openxmlformats.org/officeDocument/2006/relationships/image" Target="../media/image58.png"/><Relationship Id="rId48" Type="http://schemas.openxmlformats.org/officeDocument/2006/relationships/image" Target="../media/image3.png"/><Relationship Id="rId8" Type="http://schemas.openxmlformats.org/officeDocument/2006/relationships/customXml" Target="../ink/ink3.xml"/><Relationship Id="rId3" Type="http://schemas.openxmlformats.org/officeDocument/2006/relationships/image" Target="../media/image38.png"/><Relationship Id="rId12" Type="http://schemas.openxmlformats.org/officeDocument/2006/relationships/customXml" Target="../ink/ink5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33" Type="http://schemas.openxmlformats.org/officeDocument/2006/relationships/image" Target="../media/image53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2.wmf"/><Relationship Id="rId7" Type="http://schemas.openxmlformats.org/officeDocument/2006/relationships/image" Target="../media/image6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8.wmf"/><Relationship Id="rId7" Type="http://schemas.openxmlformats.org/officeDocument/2006/relationships/image" Target="../media/image70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6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cDshWmhF4A" TargetMode="External"/><Relationship Id="rId2" Type="http://schemas.openxmlformats.org/officeDocument/2006/relationships/hyperlink" Target="https://www.youtube.com/watch?v=w6E7aQnA4W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8BOvLL8ok8I" TargetMode="External"/><Relationship Id="rId5" Type="http://schemas.openxmlformats.org/officeDocument/2006/relationships/hyperlink" Target="https://www.youtube.com/watch?v=kQeDnFUNW-Q" TargetMode="External"/><Relationship Id="rId4" Type="http://schemas.openxmlformats.org/officeDocument/2006/relationships/hyperlink" Target="https://www.youtube.com/watch?v=IxXaizglscw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cursion" TargetMode="Externa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4503" y="1371600"/>
            <a:ext cx="6629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Circuits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1600200"/>
            <a:ext cx="6400800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7" y="107157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241BF5-A2CC-365A-2123-4E7823A03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025" y="4191000"/>
            <a:ext cx="2960687" cy="2449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877697"/>
            <a:ext cx="31623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/>
              <a:t>Logic Circuits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8335108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5DE8F7B-FD02-0906-715E-24975AC1F89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4"/>
          <a:stretch>
            <a:fillRect/>
          </a:stretch>
        </p:blipFill>
        <p:spPr>
          <a:xfrm>
            <a:off x="434975" y="46038"/>
            <a:ext cx="1739179" cy="15476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129" y="1067628"/>
            <a:ext cx="6019800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    Basic gates – IEEE standards</a:t>
            </a:r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2949" y="2057400"/>
            <a:ext cx="7467600" cy="4089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1504FAB-0786-B1E5-FDB3-0D3B07384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42383" y="104625"/>
            <a:ext cx="2019817" cy="1733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4286"/>
            <a:ext cx="7467600" cy="11430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222" y="304800"/>
            <a:ext cx="7239000" cy="2209800"/>
          </a:xfrm>
          <a:noFill/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01691"/>
            <a:ext cx="7772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97E14A7-853B-3071-4FA6-9D9E1D54B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6781800" y="5043626"/>
            <a:ext cx="2057400" cy="176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975" y="293585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Derived gates</a:t>
            </a:r>
            <a:r>
              <a:rPr lang="en-US" sz="2600" b="1" dirty="0"/>
              <a:t>:</a:t>
            </a:r>
            <a:r>
              <a:rPr lang="en-US" sz="2600" dirty="0"/>
              <a:t>  </a:t>
            </a:r>
            <a:r>
              <a:rPr lang="en-US" sz="2500" b="1" dirty="0"/>
              <a:t>XOR, NAND, NOR, NXOR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36508"/>
            <a:ext cx="7924800" cy="4038600"/>
          </a:xfrm>
          <a:noFill/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51" y="5454470"/>
            <a:ext cx="7562850" cy="11306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444" y="67504"/>
            <a:ext cx="2589556" cy="944562"/>
          </a:xfrm>
        </p:spPr>
        <p:txBody>
          <a:bodyPr/>
          <a:lstStyle/>
          <a:p>
            <a:pPr>
              <a:defRPr/>
            </a:pPr>
            <a:r>
              <a:rPr lang="en-US" sz="2800" b="1" u="sng" dirty="0"/>
              <a:t>Example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29974" y="1149833"/>
            <a:ext cx="7467600" cy="15598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35" y="2832387"/>
            <a:ext cx="6938818" cy="2393306"/>
          </a:xfrm>
          <a:prstGeom prst="rect">
            <a:avLst/>
          </a:prstGeo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3C6F562-8DF8-A4B0-5406-500DDB76A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6675300" y="5045254"/>
            <a:ext cx="2058846" cy="176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9050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u="sng" dirty="0"/>
              <a:t>Example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04800" y="1074783"/>
            <a:ext cx="8000999" cy="15212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1" y="2468019"/>
            <a:ext cx="7391399" cy="2715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59" y="2911502"/>
            <a:ext cx="228599" cy="2624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100" y="3962400"/>
            <a:ext cx="495300" cy="2918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276600"/>
            <a:ext cx="1066800" cy="2803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3841" y="4441206"/>
            <a:ext cx="130559" cy="3532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2868047"/>
            <a:ext cx="122462" cy="1836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4993" y="3108776"/>
            <a:ext cx="135322" cy="1910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9039" y="3847557"/>
            <a:ext cx="135322" cy="1910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3313" y="3556831"/>
            <a:ext cx="147001" cy="25316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6517" y="5022575"/>
            <a:ext cx="142875" cy="2571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400" y="4410165"/>
            <a:ext cx="432023" cy="3312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605881"/>
            <a:ext cx="1545432" cy="27992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944" y="5227175"/>
            <a:ext cx="8153400" cy="509168"/>
          </a:xfrm>
          <a:prstGeom prst="rect">
            <a:avLst/>
          </a:prstGeo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85482D4-3948-85D1-3318-6FB6EEE42F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 bwMode="auto">
          <a:xfrm>
            <a:off x="7428147" y="0"/>
            <a:ext cx="1545433" cy="1353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860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u="sng" dirty="0"/>
              <a:t>Example 3</a:t>
            </a:r>
            <a:r>
              <a:rPr lang="en-US" sz="2600" b="1" dirty="0"/>
              <a:t>. NAND is a universal gate</a:t>
            </a:r>
            <a:br>
              <a:rPr lang="en-US" sz="2600" b="1" dirty="0"/>
            </a:br>
            <a:r>
              <a:rPr lang="en-US" sz="2600" b="1" dirty="0"/>
              <a:t>      - </a:t>
            </a:r>
            <a:r>
              <a:rPr lang="en-US" sz="2400" b="1" dirty="0"/>
              <a:t>it can be used to produce  all the other gates</a:t>
            </a:r>
            <a:endParaRPr lang="en-US" sz="2600" b="1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638800"/>
            <a:ext cx="3668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60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4"/>
          <a:stretch>
            <a:fillRect/>
          </a:stretch>
        </p:blipFill>
        <p:spPr>
          <a:xfrm>
            <a:off x="342901" y="1160101"/>
            <a:ext cx="7467600" cy="9892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1" y="2076331"/>
            <a:ext cx="7467600" cy="6607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31" y="2740481"/>
            <a:ext cx="7374169" cy="12091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235" y="3949622"/>
            <a:ext cx="7388165" cy="1212744"/>
          </a:xfrm>
          <a:prstGeom prst="rect">
            <a:avLst/>
          </a:prstGeom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0A8F199-DF24-98BE-D89F-520BAE9BCF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5334000" y="5158763"/>
            <a:ext cx="1851025" cy="164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876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42119"/>
            <a:ext cx="43434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/>
              <a:t>Combinational circuits</a:t>
            </a:r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912" y="1219200"/>
            <a:ext cx="80772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22B5BB5-76A2-7559-07E3-9A39D94EC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467600" y="10869"/>
            <a:ext cx="1622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834851"/>
            <a:ext cx="8153400" cy="95034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u="sng" dirty="0"/>
              <a:t>Examples </a:t>
            </a:r>
            <a:r>
              <a:rPr lang="ro-RO" b="1" dirty="0"/>
              <a:t>of useful combinational circuits</a:t>
            </a:r>
            <a:br>
              <a:rPr lang="en-US" b="1" i="1" dirty="0"/>
            </a:br>
            <a:endParaRPr lang="en-US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24372"/>
            <a:ext cx="8001000" cy="3505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7E8170B-4E2A-1B79-03B7-8913D17E4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04800" y="5061778"/>
            <a:ext cx="1774825" cy="1726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b="1" u="sng" dirty="0"/>
              <a:t>Example 4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81000" y="856673"/>
            <a:ext cx="7467600" cy="351817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93" y="1503236"/>
            <a:ext cx="3781425" cy="26216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5900" y="1292293"/>
            <a:ext cx="4229100" cy="44227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495800"/>
            <a:ext cx="2905125" cy="1438275"/>
          </a:xfrm>
          <a:prstGeom prst="rect">
            <a:avLst/>
          </a:prstGeom>
        </p:spPr>
      </p:pic>
      <p:pic>
        <p:nvPicPr>
          <p:cNvPr id="8" name="Content Placeholder 2">
            <a:extLst>
              <a:ext uri="{FF2B5EF4-FFF2-40B4-BE49-F238E27FC236}">
                <a16:creationId xmlns:a16="http://schemas.microsoft.com/office/drawing/2014/main" id="{189F3834-88CB-A50E-5D3D-4719D2457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409950" y="5248955"/>
            <a:ext cx="1562100" cy="1521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7DCF-4D1E-1B35-64E4-D96E2810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84AC-091F-163E-03E8-5201D085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Example 5</a:t>
            </a:r>
            <a:r>
              <a:rPr lang="en-US" dirty="0"/>
              <a:t>.     </a:t>
            </a:r>
            <a:r>
              <a:rPr lang="en-US" b="1" dirty="0"/>
              <a:t>7 segments Circuit</a:t>
            </a:r>
            <a:endParaRPr lang="en-US" dirty="0"/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9171CF69-0EA0-A82F-D7B6-5F6536641058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182" y="1295400"/>
            <a:ext cx="8153400" cy="5181600"/>
          </a:xfr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5EB00D-F16D-201D-A84F-89427E3F2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ABE41C7-6BEF-EF85-EEB0-A87473FAB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467600" y="1676400"/>
            <a:ext cx="15462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25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F484-8EBD-88C6-B04D-6856ED72F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8E16-6E59-54FD-D0A8-DB213569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563563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Example 5</a:t>
            </a:r>
            <a:r>
              <a:rPr lang="en-US" dirty="0"/>
              <a:t>. </a:t>
            </a:r>
            <a:r>
              <a:rPr lang="en-US" b="1" dirty="0"/>
              <a:t>7 segments Circuit</a:t>
            </a:r>
            <a:endParaRPr lang="en-US" dirty="0"/>
          </a:p>
        </p:txBody>
      </p:sp>
      <p:pic>
        <p:nvPicPr>
          <p:cNvPr id="34820" name="Picture 3">
            <a:extLst>
              <a:ext uri="{FF2B5EF4-FFF2-40B4-BE49-F238E27FC236}">
                <a16:creationId xmlns:a16="http://schemas.microsoft.com/office/drawing/2014/main" id="{495DA165-6D90-7454-D790-BB29976A6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6934200" cy="530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5">
            <a:extLst>
              <a:ext uri="{FF2B5EF4-FFF2-40B4-BE49-F238E27FC236}">
                <a16:creationId xmlns:a16="http://schemas.microsoft.com/office/drawing/2014/main" id="{371D4083-3439-85E5-39F8-15BC79561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0"/>
            <a:ext cx="1000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02C62C-05E2-E626-6BFA-746305611819}"/>
                  </a:ext>
                </a:extLst>
              </p14:cNvPr>
              <p14:cNvContentPartPr/>
              <p14:nvPr/>
            </p14:nvContentPartPr>
            <p14:xfrm>
              <a:off x="4876920" y="1181160"/>
              <a:ext cx="248040" cy="44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02C62C-05E2-E626-6BFA-7463056118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61080" y="1117800"/>
                <a:ext cx="2793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2D1DA0-C2CE-8559-36DC-D9930CF4C6DA}"/>
                  </a:ext>
                </a:extLst>
              </p14:cNvPr>
              <p14:cNvContentPartPr/>
              <p14:nvPr/>
            </p14:nvContentPartPr>
            <p14:xfrm>
              <a:off x="4889520" y="1568520"/>
              <a:ext cx="171720" cy="1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2D1DA0-C2CE-8559-36DC-D9930CF4C6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73680" y="1505160"/>
                <a:ext cx="2030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C48F6F-4B8F-8082-916A-95F0F2A702D1}"/>
                  </a:ext>
                </a:extLst>
              </p14:cNvPr>
              <p14:cNvContentPartPr/>
              <p14:nvPr/>
            </p14:nvContentPartPr>
            <p14:xfrm>
              <a:off x="4908600" y="1892160"/>
              <a:ext cx="159120" cy="6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C48F6F-4B8F-8082-916A-95F0F2A702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92760" y="1828800"/>
                <a:ext cx="1904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27BE86-0506-7BF3-EB28-F65893924B0C}"/>
                  </a:ext>
                </a:extLst>
              </p14:cNvPr>
              <p14:cNvContentPartPr/>
              <p14:nvPr/>
            </p14:nvContentPartPr>
            <p14:xfrm>
              <a:off x="4889520" y="2152800"/>
              <a:ext cx="178200" cy="19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27BE86-0506-7BF3-EB28-F65893924B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73680" y="2089440"/>
                <a:ext cx="2095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861EEB-0CDF-1D78-0FED-12AA0B9D50CD}"/>
                  </a:ext>
                </a:extLst>
              </p14:cNvPr>
              <p14:cNvContentPartPr/>
              <p14:nvPr/>
            </p14:nvContentPartPr>
            <p14:xfrm>
              <a:off x="4940280" y="2438280"/>
              <a:ext cx="133560" cy="45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861EEB-0CDF-1D78-0FED-12AA0B9D50C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24440" y="2374920"/>
                <a:ext cx="1648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5CC9BE-9B8D-FE6F-AB05-E6EE9D0B74F8}"/>
                  </a:ext>
                </a:extLst>
              </p14:cNvPr>
              <p14:cNvContentPartPr/>
              <p14:nvPr/>
            </p14:nvContentPartPr>
            <p14:xfrm>
              <a:off x="4927680" y="2743200"/>
              <a:ext cx="152640" cy="12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5CC9BE-9B8D-FE6F-AB05-E6EE9D0B74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11840" y="2679840"/>
                <a:ext cx="1839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3E36BA0-AA92-286C-345D-A9CA5DDABE35}"/>
                  </a:ext>
                </a:extLst>
              </p14:cNvPr>
              <p14:cNvContentPartPr/>
              <p14:nvPr/>
            </p14:nvContentPartPr>
            <p14:xfrm>
              <a:off x="4883040" y="3041640"/>
              <a:ext cx="209880" cy="25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3E36BA0-AA92-286C-345D-A9CA5DDABE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67200" y="2978280"/>
                <a:ext cx="241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C7AF8F6-56A3-F657-CD72-C92E6F7AA98A}"/>
                  </a:ext>
                </a:extLst>
              </p14:cNvPr>
              <p14:cNvContentPartPr/>
              <p14:nvPr/>
            </p14:nvContentPartPr>
            <p14:xfrm>
              <a:off x="4883040" y="2755800"/>
              <a:ext cx="165600" cy="13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C7AF8F6-56A3-F657-CD72-C92E6F7AA9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67200" y="2692440"/>
                <a:ext cx="1969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A1EB654-487D-C196-FC56-686EDB64A519}"/>
                  </a:ext>
                </a:extLst>
              </p14:cNvPr>
              <p14:cNvContentPartPr/>
              <p14:nvPr/>
            </p14:nvContentPartPr>
            <p14:xfrm>
              <a:off x="4883040" y="2432160"/>
              <a:ext cx="197280" cy="12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A1EB654-487D-C196-FC56-686EDB64A5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67200" y="2368800"/>
                <a:ext cx="2286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89D9E3E-AC0E-6C8C-FFBA-2FF89679CBCF}"/>
                  </a:ext>
                </a:extLst>
              </p14:cNvPr>
              <p14:cNvContentPartPr/>
              <p14:nvPr/>
            </p14:nvContentPartPr>
            <p14:xfrm>
              <a:off x="4863960" y="3327480"/>
              <a:ext cx="267120" cy="63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89D9E3E-AC0E-6C8C-FFBA-2FF89679CBC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48120" y="3264120"/>
                <a:ext cx="2984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1D3877-2534-C7FE-8C1E-6F41BC932DD3}"/>
                  </a:ext>
                </a:extLst>
              </p14:cNvPr>
              <p14:cNvContentPartPr/>
              <p14:nvPr/>
            </p14:nvContentPartPr>
            <p14:xfrm>
              <a:off x="4889520" y="3632040"/>
              <a:ext cx="203400" cy="6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1D3877-2534-C7FE-8C1E-6F41BC932DD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73680" y="3568680"/>
                <a:ext cx="2347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6BB7210-91E9-0B08-5B63-A58C76048C3F}"/>
                  </a:ext>
                </a:extLst>
              </p14:cNvPr>
              <p14:cNvContentPartPr/>
              <p14:nvPr/>
            </p14:nvContentPartPr>
            <p14:xfrm>
              <a:off x="4889520" y="3949560"/>
              <a:ext cx="22248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6BB7210-91E9-0B08-5B63-A58C76048C3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73680" y="3886200"/>
                <a:ext cx="253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89E47DC-01DD-C434-C81E-29F01FE8DCC1}"/>
                  </a:ext>
                </a:extLst>
              </p14:cNvPr>
              <p14:cNvContentPartPr/>
              <p14:nvPr/>
            </p14:nvContentPartPr>
            <p14:xfrm>
              <a:off x="7905600" y="781200"/>
              <a:ext cx="267120" cy="196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89E47DC-01DD-C434-C81E-29F01FE8DCC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89760" y="717840"/>
                <a:ext cx="2984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F74256-4D99-D41D-4A84-BCD021C23EC3}"/>
                  </a:ext>
                </a:extLst>
              </p14:cNvPr>
              <p14:cNvContentPartPr/>
              <p14:nvPr/>
            </p14:nvContentPartPr>
            <p14:xfrm>
              <a:off x="4933800" y="4210200"/>
              <a:ext cx="127440" cy="25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F74256-4D99-D41D-4A84-BCD021C23EC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17960" y="4146840"/>
                <a:ext cx="158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BAE59E-4EA2-B052-5F9D-669634CD1CA2}"/>
                  </a:ext>
                </a:extLst>
              </p14:cNvPr>
              <p14:cNvContentPartPr/>
              <p14:nvPr/>
            </p14:nvContentPartPr>
            <p14:xfrm>
              <a:off x="4921200" y="4514760"/>
              <a:ext cx="140040" cy="19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BAE59E-4EA2-B052-5F9D-669634CD1C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05360" y="4451400"/>
                <a:ext cx="1713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AF1000-70C5-FE8D-75FB-E947629E113F}"/>
                  </a:ext>
                </a:extLst>
              </p14:cNvPr>
              <p14:cNvContentPartPr/>
              <p14:nvPr/>
            </p14:nvContentPartPr>
            <p14:xfrm>
              <a:off x="4902120" y="4203720"/>
              <a:ext cx="190800" cy="63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AF1000-70C5-FE8D-75FB-E947629E113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86280" y="4140360"/>
                <a:ext cx="2221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EA4F0AF-E126-5BAD-34FC-F45A9D3ED3FF}"/>
                  </a:ext>
                </a:extLst>
              </p14:cNvPr>
              <p14:cNvContentPartPr/>
              <p14:nvPr/>
            </p14:nvContentPartPr>
            <p14:xfrm>
              <a:off x="4902120" y="4781520"/>
              <a:ext cx="197280" cy="82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EA4F0AF-E126-5BAD-34FC-F45A9D3ED3F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86280" y="4718160"/>
                <a:ext cx="2286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B9BC393-C33D-3CB8-E851-4CCECC6EDE12}"/>
                  </a:ext>
                </a:extLst>
              </p14:cNvPr>
              <p14:cNvContentPartPr/>
              <p14:nvPr/>
            </p14:nvContentPartPr>
            <p14:xfrm>
              <a:off x="4902120" y="5067360"/>
              <a:ext cx="184680" cy="114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B9BC393-C33D-3CB8-E851-4CCECC6EDE1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86280" y="5004000"/>
                <a:ext cx="2160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3914246-FE0E-675C-EAB3-4A86BF224D62}"/>
                  </a:ext>
                </a:extLst>
              </p14:cNvPr>
              <p14:cNvContentPartPr/>
              <p14:nvPr/>
            </p14:nvContentPartPr>
            <p14:xfrm>
              <a:off x="4902120" y="5378400"/>
              <a:ext cx="171720" cy="64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3914246-FE0E-675C-EAB3-4A86BF224D6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86280" y="5315040"/>
                <a:ext cx="2030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C01A3D4-6F42-2D18-6BC1-E036E2297539}"/>
                  </a:ext>
                </a:extLst>
              </p14:cNvPr>
              <p14:cNvContentPartPr/>
              <p14:nvPr/>
            </p14:nvContentPartPr>
            <p14:xfrm>
              <a:off x="4908600" y="5664240"/>
              <a:ext cx="190800" cy="63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C01A3D4-6F42-2D18-6BC1-E036E229753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92760" y="5600880"/>
                <a:ext cx="2221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20D45D7-2601-4022-6A65-53F76D30289B}"/>
                  </a:ext>
                </a:extLst>
              </p14:cNvPr>
              <p14:cNvContentPartPr/>
              <p14:nvPr/>
            </p14:nvContentPartPr>
            <p14:xfrm>
              <a:off x="4902120" y="5924520"/>
              <a:ext cx="197280" cy="101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20D45D7-2601-4022-6A65-53F76D30289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86280" y="5861160"/>
                <a:ext cx="2286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1416455-3E01-FBBF-48A1-8B883777055F}"/>
                  </a:ext>
                </a:extLst>
              </p14:cNvPr>
              <p14:cNvContentPartPr/>
              <p14:nvPr/>
            </p14:nvContentPartPr>
            <p14:xfrm>
              <a:off x="6680160" y="762120"/>
              <a:ext cx="1549800" cy="273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1416455-3E01-FBBF-48A1-8B883777055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64320" y="698760"/>
                <a:ext cx="1581120" cy="39996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Content Placeholder 2">
            <a:extLst>
              <a:ext uri="{FF2B5EF4-FFF2-40B4-BE49-F238E27FC236}">
                <a16:creationId xmlns:a16="http://schemas.microsoft.com/office/drawing/2014/main" id="{848C8EEE-DC9E-506F-6E84-4F96F96F6D65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 bwMode="auto">
          <a:xfrm>
            <a:off x="7454709" y="5371980"/>
            <a:ext cx="15462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4245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BAB47-57C5-5FCE-4AF5-59B19726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FCD8-6E0B-E0AB-AEF9-270AB0C6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26" y="342900"/>
            <a:ext cx="8763000" cy="990600"/>
          </a:xfrm>
        </p:spPr>
        <p:txBody>
          <a:bodyPr>
            <a:noAutofit/>
          </a:bodyPr>
          <a:lstStyle/>
          <a:p>
            <a:br>
              <a:rPr lang="en-GB" sz="2000" b="1" u="sng" dirty="0"/>
            </a:br>
            <a:br>
              <a:rPr lang="en-GB" sz="2000" b="1" u="sng" dirty="0"/>
            </a:br>
            <a:br>
              <a:rPr lang="en-GB" sz="2000" b="1" u="sng" dirty="0"/>
            </a:br>
            <a:br>
              <a:rPr lang="en-GB" sz="2000" b="1" u="sng" dirty="0"/>
            </a:br>
            <a:br>
              <a:rPr lang="en-GB" sz="2000" b="1" u="sng" dirty="0"/>
            </a:br>
            <a:r>
              <a:rPr lang="en-GB" sz="2000" b="1" u="sng" dirty="0"/>
              <a:t>Example 5. </a:t>
            </a:r>
            <a:r>
              <a:rPr lang="en-GB" sz="2000" b="1" dirty="0"/>
              <a:t>Implement the Simplified Logic Circuit </a:t>
            </a:r>
            <a:br>
              <a:rPr lang="en-GB" sz="2000" b="1" dirty="0"/>
            </a:br>
            <a:r>
              <a:rPr lang="en-GB" sz="2000" b="1" dirty="0"/>
              <a:t>                     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r>
              <a:rPr lang="en-GB" sz="2000" b="1" dirty="0"/>
              <a:t>using only </a:t>
            </a:r>
            <a:r>
              <a:rPr lang="en-GB" sz="2000" b="1" u="sng" dirty="0"/>
              <a:t>NAND</a:t>
            </a:r>
            <a:r>
              <a:rPr lang="en-GB" sz="2000" b="1" dirty="0"/>
              <a:t> gates </a:t>
            </a:r>
            <a:br>
              <a:rPr lang="en-US" sz="2000" b="1" dirty="0"/>
            </a:b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5A534A-2000-B6B8-F37B-1DEF1733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8229600" cy="3962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7CFCB5-E446-6F26-0B4E-5413C7E87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C99E021F-E3D2-54B9-B872-3563C0BFD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52400" y="5410200"/>
            <a:ext cx="15462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2297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2F3E-99ED-5D70-A493-2C435EAF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19C1-721E-3A41-1D36-48FB0E35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5934"/>
            <a:ext cx="7467600" cy="334962"/>
          </a:xfrm>
        </p:spPr>
        <p:txBody>
          <a:bodyPr>
            <a:noAutofit/>
          </a:bodyPr>
          <a:lstStyle/>
          <a:p>
            <a:r>
              <a:rPr lang="en-GB" sz="2400" b="1" u="sng" dirty="0"/>
              <a:t>Example 5(contd.)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4DE6F0-031F-CB38-A887-E41B4AFFC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685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259B99E-06D9-76E8-2C6B-F14007E510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3664" y="4191001"/>
          <a:ext cx="1330566" cy="30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8975" imgH="203112" progId="Equation.3">
                  <p:embed/>
                </p:oleObj>
              </mc:Choice>
              <mc:Fallback>
                <p:oleObj name="Equation" r:id="rId2" imgW="748975" imgH="203112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664" y="4191001"/>
                        <a:ext cx="1330566" cy="3047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0C9A70F-11A8-10CD-224B-28D6BAC94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066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81FCB11-1E49-9643-A79B-7D6A324CE2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3379" y="4648200"/>
          <a:ext cx="146304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170" imgH="203112" progId="Equation.3">
                  <p:embed/>
                </p:oleObj>
              </mc:Choice>
              <mc:Fallback>
                <p:oleObj name="Equation" r:id="rId4" imgW="990170" imgH="203112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379" y="4648200"/>
                        <a:ext cx="1463040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347545C4-B86E-4EBA-0CBD-6DF09A6DD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4172311"/>
            <a:ext cx="4553132" cy="25301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CFB730-44C6-AC19-4EEA-0B3EF27974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36" y="607154"/>
            <a:ext cx="7304328" cy="3429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61A2E3-B68A-E463-1E8E-0F68ABA9DB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2">
            <a:extLst>
              <a:ext uri="{FF2B5EF4-FFF2-40B4-BE49-F238E27FC236}">
                <a16:creationId xmlns:a16="http://schemas.microsoft.com/office/drawing/2014/main" id="{B9B13381-001D-CB31-E165-FE63814BB9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7304087" y="5372536"/>
            <a:ext cx="15462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999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CC844-D025-B002-DBAD-69BCB19F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9E25-E6A2-52C8-F2B4-49F46E86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751"/>
            <a:ext cx="7467600" cy="808038"/>
          </a:xfrm>
        </p:spPr>
        <p:txBody>
          <a:bodyPr>
            <a:normAutofit/>
          </a:bodyPr>
          <a:lstStyle/>
          <a:p>
            <a:r>
              <a:rPr lang="en-GB" sz="2000" b="1" u="sng" dirty="0"/>
              <a:t>Example 5. </a:t>
            </a:r>
            <a:r>
              <a:rPr lang="en-GB" sz="2000" b="1" dirty="0"/>
              <a:t>Implement the Logic Circuit for </a:t>
            </a:r>
            <a:r>
              <a:rPr lang="en-GB" sz="2000" b="1" i="1" dirty="0"/>
              <a:t>S</a:t>
            </a:r>
            <a:r>
              <a:rPr lang="en-GB" sz="2000" b="1" i="1" baseline="-25000" dirty="0"/>
              <a:t>3</a:t>
            </a:r>
            <a:r>
              <a:rPr lang="en-GB" sz="2000" b="1" i="1" dirty="0"/>
              <a:t> </a:t>
            </a:r>
            <a:br>
              <a:rPr lang="en-GB" sz="2000" b="1" i="1" dirty="0"/>
            </a:br>
            <a:r>
              <a:rPr lang="en-GB" sz="2000" b="1" i="1" dirty="0"/>
              <a:t>				</a:t>
            </a:r>
            <a:r>
              <a:rPr lang="en-GB" sz="2000" b="1" dirty="0"/>
              <a:t>using only </a:t>
            </a:r>
            <a:r>
              <a:rPr lang="en-GB" sz="2000" b="1" u="heavy" dirty="0"/>
              <a:t>NOR</a:t>
            </a:r>
            <a:r>
              <a:rPr lang="en-GB" sz="2000" b="1" dirty="0"/>
              <a:t> gates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647A2-1F8F-30C7-03FC-E8648ECA6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5C67B4-0725-F74B-2125-97EF5DDA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066798"/>
            <a:ext cx="3581400" cy="4657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D9F98A-41EC-4F2C-096C-7E3B6AF57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545" y="1223960"/>
            <a:ext cx="509111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44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5546-F410-F920-2C49-3FC02D45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433B-BFEE-0395-5AC4-377B138E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GB" sz="2400" b="1" u="sng" dirty="0"/>
              <a:t>Example 5(contd.)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EB918A-E831-F457-0987-588377EAD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52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984C97C-6CDC-F244-C057-D4692FFEE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7148" y="4733925"/>
          <a:ext cx="1169151" cy="304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215806" progId="Equation.3">
                  <p:embed/>
                </p:oleObj>
              </mc:Choice>
              <mc:Fallback>
                <p:oleObj name="Equation" r:id="rId2" imgW="812447" imgH="215806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7148" y="4733925"/>
                        <a:ext cx="1169151" cy="304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BBC6330-2BE2-4C83-5166-820D9CDD1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6491" y="1828799"/>
            <a:ext cx="97534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1CCF890-A481-B1F6-AFD7-A530461545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0525" y="5150899"/>
          <a:ext cx="1528549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337" imgH="215806" progId="Equation.3">
                  <p:embed/>
                </p:oleObj>
              </mc:Choice>
              <mc:Fallback>
                <p:oleObj name="Equation" r:id="rId4" imgW="1066337" imgH="215806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0525" y="5150899"/>
                        <a:ext cx="1528549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F44E19C4-9B55-3557-C49C-07AE7B8DF8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453" y="10064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E6D45-1935-E1E8-ABAF-BDD38B8E94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685" y="685800"/>
            <a:ext cx="7172325" cy="4048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06CD67-E461-B39A-34CB-88F2DB09E9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705350"/>
            <a:ext cx="5210175" cy="2152650"/>
          </a:xfrm>
          <a:prstGeom prst="rect">
            <a:avLst/>
          </a:prstGeom>
        </p:spPr>
      </p:pic>
      <p:pic>
        <p:nvPicPr>
          <p:cNvPr id="10" name="Content Placeholder 2">
            <a:extLst>
              <a:ext uri="{FF2B5EF4-FFF2-40B4-BE49-F238E27FC236}">
                <a16:creationId xmlns:a16="http://schemas.microsoft.com/office/drawing/2014/main" id="{A4733DE3-9C6D-3507-3D90-8EC45741BA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7597775" y="23919"/>
            <a:ext cx="154622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6239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0"/>
            <a:ext cx="6120679" cy="654367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4035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76400"/>
            <a:ext cx="6324758" cy="4599633"/>
          </a:xfrm>
          <a:prstGeom prst="rect">
            <a:avLst/>
          </a:prstGeom>
        </p:spPr>
      </p:pic>
      <p:pic>
        <p:nvPicPr>
          <p:cNvPr id="8" name="Picture 7" descr="A close up of leaves&#10;&#10;AI-generated content may be incorrect.">
            <a:extLst>
              <a:ext uri="{FF2B5EF4-FFF2-40B4-BE49-F238E27FC236}">
                <a16:creationId xmlns:a16="http://schemas.microsoft.com/office/drawing/2014/main" id="{3FA834B9-D397-661D-7173-2C6FA178C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28600"/>
            <a:ext cx="520065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68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1222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6</a:t>
            </a:r>
            <a:r>
              <a:rPr lang="en-US" sz="2600" b="1" dirty="0"/>
              <a:t>. Full Adder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343400" y="2438399"/>
            <a:ext cx="2124075" cy="98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34" y="928687"/>
            <a:ext cx="7562850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25" y="2438399"/>
            <a:ext cx="2600325" cy="3838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975" y="4048699"/>
            <a:ext cx="4848225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6</a:t>
            </a:r>
            <a:r>
              <a:rPr lang="en-US" sz="2600" b="1" dirty="0"/>
              <a:t>. Full Adder (contd.)</a:t>
            </a:r>
            <a:endParaRPr lang="en-US" sz="2600" dirty="0"/>
          </a:p>
        </p:txBody>
      </p:sp>
      <p:sp>
        <p:nvSpPr>
          <p:cNvPr id="2048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1057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6</a:t>
            </a:r>
            <a:r>
              <a:rPr lang="en-US" sz="2600" b="1" dirty="0"/>
              <a:t>. Full Adder (contd.)</a:t>
            </a:r>
            <a:endParaRPr lang="en-US" sz="2600" dirty="0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7391400" cy="3751263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/>
              <a:t>Example 7</a:t>
            </a:r>
            <a:r>
              <a:rPr lang="en-US" sz="3200" b="1" dirty="0"/>
              <a:t>. </a:t>
            </a:r>
            <a:r>
              <a:rPr lang="ro-RO" sz="3200" b="1" i="1" dirty="0"/>
              <a:t>n</a:t>
            </a:r>
            <a:r>
              <a:rPr lang="ro-RO" sz="3200" b="1" dirty="0"/>
              <a:t> - bit</a:t>
            </a:r>
            <a:r>
              <a:rPr lang="en-US" sz="3200" b="1" dirty="0"/>
              <a:t>s</a:t>
            </a:r>
            <a:r>
              <a:rPr lang="ro-RO" sz="3200" b="1" dirty="0"/>
              <a:t> adder </a:t>
            </a:r>
            <a:br>
              <a:rPr lang="en-US" sz="2400" b="1" dirty="0"/>
            </a:br>
            <a:endParaRPr lang="en-US" dirty="0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6800"/>
            <a:ext cx="7696200" cy="49990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>
            <a:normAutofit/>
          </a:bodyPr>
          <a:lstStyle/>
          <a:p>
            <a:pPr marL="0" lvl="6" eaLnBrk="0" hangingPunct="0">
              <a:defRPr/>
            </a:pPr>
            <a:r>
              <a:rPr lang="en-US" sz="3200" b="1" u="sng" dirty="0"/>
              <a:t>Example 7</a:t>
            </a:r>
            <a:r>
              <a:rPr lang="en-US" sz="3200" b="1" dirty="0"/>
              <a:t>. </a:t>
            </a:r>
            <a:r>
              <a:rPr lang="ro-RO" sz="3200" b="1" i="1" dirty="0"/>
              <a:t>n</a:t>
            </a:r>
            <a:r>
              <a:rPr lang="ro-RO" sz="3200" b="1" dirty="0"/>
              <a:t> – bit</a:t>
            </a:r>
            <a:r>
              <a:rPr lang="en-US" sz="3200" b="1" dirty="0"/>
              <a:t>s adder (contd.)</a:t>
            </a:r>
            <a:r>
              <a:rPr lang="ro-RO" sz="3200" b="1" dirty="0"/>
              <a:t> </a:t>
            </a:r>
            <a:br>
              <a:rPr lang="en-US" sz="2400" b="1" dirty="0"/>
            </a:br>
            <a:endParaRPr lang="en-US" dirty="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7924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21566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219200"/>
            <a:ext cx="7772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Fun with logic circuits</a:t>
            </a:r>
          </a:p>
          <a:p>
            <a:endParaRPr lang="en-US" dirty="0"/>
          </a:p>
          <a:p>
            <a:r>
              <a:rPr lang="en-US" b="1" dirty="0"/>
              <a:t>Domino computer:</a:t>
            </a:r>
          </a:p>
          <a:p>
            <a:r>
              <a:rPr lang="en-US" dirty="0">
                <a:hlinkClick r:id="rId2"/>
              </a:rPr>
              <a:t>https://www.youtube.com/watch?v=w6E7aQnA4Ws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Marble adding machine</a:t>
            </a:r>
          </a:p>
          <a:p>
            <a:r>
              <a:rPr lang="en-US" b="1" dirty="0">
                <a:hlinkClick r:id="rId3"/>
              </a:rPr>
              <a:t>https://www.youtube.com/watch?v=GcDshWmhF4A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Water computer:</a:t>
            </a:r>
          </a:p>
          <a:p>
            <a:r>
              <a:rPr lang="en-US" dirty="0"/>
              <a:t> </a:t>
            </a:r>
            <a:r>
              <a:rPr lang="en-US" dirty="0">
                <a:hlinkClick r:id="rId4"/>
              </a:rPr>
              <a:t>https://www.youtube.com/watch?v=IxXaizglscw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Logic gates using Gears, Marbles &amp; Dominoes:</a:t>
            </a:r>
          </a:p>
          <a:p>
            <a:r>
              <a:rPr lang="en-US" dirty="0">
                <a:hlinkClick r:id="rId5"/>
              </a:rPr>
              <a:t>https://www.youtube.com/watch?v=kQeDnFUNW-Q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A Computer That Runs on Marbles:</a:t>
            </a:r>
          </a:p>
          <a:p>
            <a:r>
              <a:rPr lang="en-US" dirty="0">
                <a:hlinkClick r:id="rId6"/>
              </a:rPr>
              <a:t>https://www.youtube.com/watch?v=8BOvLL8ok8I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283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61" y="0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Example 8</a:t>
            </a:r>
            <a:r>
              <a:rPr lang="en-US" sz="3200" b="1" dirty="0"/>
              <a:t>. Full </a:t>
            </a:r>
            <a:r>
              <a:rPr lang="en-US" sz="3200" b="1" dirty="0" err="1"/>
              <a:t>Subtractor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5181600" y="2589357"/>
            <a:ext cx="2733675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61" y="842818"/>
            <a:ext cx="7705725" cy="1781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048" y="3886200"/>
            <a:ext cx="3771900" cy="1666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334" y="2819400"/>
            <a:ext cx="4124739" cy="3390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u="sng" dirty="0"/>
              <a:t>Example 8</a:t>
            </a:r>
            <a:r>
              <a:rPr lang="en-US" sz="2800" b="1" dirty="0"/>
              <a:t>. Full </a:t>
            </a:r>
            <a:r>
              <a:rPr lang="en-US" sz="2800" b="1" dirty="0" err="1"/>
              <a:t>Subtractor</a:t>
            </a:r>
            <a:r>
              <a:rPr lang="en-US" sz="2800" b="1" dirty="0"/>
              <a:t> (contd.)</a:t>
            </a:r>
            <a:endParaRPr lang="en-US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371600"/>
            <a:ext cx="75438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/>
              <a:t>Example 8</a:t>
            </a:r>
            <a:r>
              <a:rPr lang="en-US" sz="3200" b="1" dirty="0"/>
              <a:t>. Full </a:t>
            </a:r>
            <a:r>
              <a:rPr lang="en-US" sz="3200" b="1" dirty="0" err="1"/>
              <a:t>Subtractor</a:t>
            </a:r>
            <a:r>
              <a:rPr lang="en-US" sz="3200" b="1" dirty="0"/>
              <a:t> (contd.)</a:t>
            </a:r>
            <a:endParaRPr lang="en-US" dirty="0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7696200" cy="44275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pPr marL="0" lvl="6" eaLnBrk="0" hangingPunct="0">
              <a:defRPr/>
            </a:pPr>
            <a:r>
              <a:rPr lang="en-US" sz="3200" b="1" u="sng" dirty="0"/>
              <a:t>Example 9</a:t>
            </a:r>
            <a:r>
              <a:rPr lang="en-US" sz="3200" b="1" dirty="0"/>
              <a:t>. </a:t>
            </a:r>
            <a:r>
              <a:rPr lang="ro-RO" sz="3200" b="1" i="1" dirty="0"/>
              <a:t>n</a:t>
            </a:r>
            <a:r>
              <a:rPr lang="ro-RO" sz="3200" b="1" dirty="0"/>
              <a:t> - bi</a:t>
            </a:r>
            <a:r>
              <a:rPr lang="en-US" sz="3200" b="1" dirty="0" err="1"/>
              <a:t>ts</a:t>
            </a:r>
            <a:r>
              <a:rPr lang="en-US" sz="3200" b="1" dirty="0"/>
              <a:t> </a:t>
            </a:r>
            <a:r>
              <a:rPr lang="en-US" sz="3200" b="1" dirty="0" err="1"/>
              <a:t>subtractor</a:t>
            </a:r>
            <a:br>
              <a:rPr lang="en-US" sz="2400" b="1" dirty="0"/>
            </a:br>
            <a:endParaRPr lang="en-US" dirty="0"/>
          </a:p>
        </p:txBody>
      </p:sp>
      <p:sp>
        <p:nvSpPr>
          <p:cNvPr id="27651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7696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382000" cy="1066800"/>
          </a:xfrm>
        </p:spPr>
        <p:txBody>
          <a:bodyPr/>
          <a:lstStyle/>
          <a:p>
            <a:pPr marL="0" lvl="6" eaLnBrk="0" hangingPunct="0">
              <a:defRPr/>
            </a:pPr>
            <a:r>
              <a:rPr lang="en-US" sz="2600" b="1" u="sng" dirty="0"/>
              <a:t>Example 9</a:t>
            </a:r>
            <a:r>
              <a:rPr lang="en-US" sz="2600" b="1" dirty="0"/>
              <a:t>. </a:t>
            </a:r>
            <a:r>
              <a:rPr lang="ro-RO" sz="2600" b="1" i="1" dirty="0"/>
              <a:t>n</a:t>
            </a:r>
            <a:r>
              <a:rPr lang="ro-RO" sz="2600" b="1" dirty="0"/>
              <a:t> – bi</a:t>
            </a:r>
            <a:r>
              <a:rPr lang="en-US" sz="2600" b="1" dirty="0" err="1"/>
              <a:t>ts</a:t>
            </a:r>
            <a:r>
              <a:rPr lang="en-US" sz="2600" b="1" dirty="0"/>
              <a:t> </a:t>
            </a:r>
            <a:r>
              <a:rPr lang="en-US" sz="2600" b="1" dirty="0" err="1"/>
              <a:t>subtractor</a:t>
            </a:r>
            <a:r>
              <a:rPr lang="en-US" sz="2600" b="1" dirty="0"/>
              <a:t> (contd.)</a:t>
            </a:r>
            <a:r>
              <a:rPr lang="ro-RO" sz="2600" b="1" dirty="0"/>
              <a:t> </a:t>
            </a:r>
            <a:br>
              <a:rPr lang="en-US" sz="2600" b="1" dirty="0"/>
            </a:br>
            <a:endParaRPr lang="en-US" sz="2600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153400" cy="375602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87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10</a:t>
            </a:r>
            <a:r>
              <a:rPr lang="en-US" sz="2600" b="1" dirty="0"/>
              <a:t>. Encoder</a:t>
            </a:r>
          </a:p>
        </p:txBody>
      </p:sp>
      <p:pic>
        <p:nvPicPr>
          <p:cNvPr id="2969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5181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10</a:t>
            </a:r>
            <a:r>
              <a:rPr lang="en-US" sz="2600" b="1" dirty="0"/>
              <a:t>. Encoder (contd.)</a:t>
            </a:r>
            <a:endParaRPr lang="en-US" sz="2600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00200"/>
            <a:ext cx="8001000" cy="3686175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62000"/>
          </a:xfrm>
        </p:spPr>
        <p:txBody>
          <a:bodyPr/>
          <a:lstStyle/>
          <a:p>
            <a:pPr>
              <a:defRPr/>
            </a:pPr>
            <a:r>
              <a:rPr lang="en-US" sz="2600" b="1" u="sng" dirty="0"/>
              <a:t>Example 11</a:t>
            </a:r>
            <a:r>
              <a:rPr lang="en-US" sz="2600" b="1" dirty="0"/>
              <a:t>. Decoder</a:t>
            </a:r>
            <a:endParaRPr lang="en-US" sz="2600" dirty="0"/>
          </a:p>
        </p:txBody>
      </p:sp>
      <p:pic>
        <p:nvPicPr>
          <p:cNvPr id="3174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7772400" cy="515143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/>
              <a:t>Example 11</a:t>
            </a:r>
            <a:r>
              <a:rPr lang="en-US" sz="3200" b="1" dirty="0"/>
              <a:t>. Decoder (contd.)</a:t>
            </a:r>
            <a:endParaRPr lang="en-US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19200"/>
            <a:ext cx="7467600" cy="4648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/>
              <a:t>Binary codes </a:t>
            </a:r>
          </a:p>
        </p:txBody>
      </p:sp>
      <p:sp>
        <p:nvSpPr>
          <p:cNvPr id="3686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984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Gray Codes on n bits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34" y="996626"/>
            <a:ext cx="3400425" cy="3238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8600" y="1054732"/>
            <a:ext cx="47244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02122"/>
                </a:solidFill>
              </a:rPr>
              <a:t>The binary-reflected </a:t>
            </a:r>
            <a:r>
              <a:rPr lang="en-US" u="sng" dirty="0">
                <a:solidFill>
                  <a:srgbClr val="202122"/>
                </a:solidFill>
              </a:rPr>
              <a:t>Gray code </a:t>
            </a:r>
            <a:r>
              <a:rPr lang="en-US" dirty="0">
                <a:solidFill>
                  <a:srgbClr val="202122"/>
                </a:solidFill>
              </a:rPr>
              <a:t>list for </a:t>
            </a:r>
            <a:r>
              <a:rPr lang="en-US" i="1" dirty="0">
                <a:solidFill>
                  <a:srgbClr val="202122"/>
                </a:solidFill>
              </a:rPr>
              <a:t>n</a:t>
            </a:r>
            <a:r>
              <a:rPr lang="en-US" dirty="0">
                <a:solidFill>
                  <a:srgbClr val="202122"/>
                </a:solidFill>
              </a:rPr>
              <a:t> bits can be generated  </a:t>
            </a:r>
            <a:r>
              <a:rPr lang="en-US" dirty="0">
                <a:solidFill>
                  <a:srgbClr val="0645AD"/>
                </a:solidFill>
                <a:hlinkClick r:id="rId3" tooltip="Recursion"/>
              </a:rPr>
              <a:t>recursively</a:t>
            </a:r>
            <a:r>
              <a:rPr lang="en-US" dirty="0">
                <a:solidFill>
                  <a:srgbClr val="202122"/>
                </a:solidFill>
              </a:rPr>
              <a:t> from the list for </a:t>
            </a:r>
            <a:r>
              <a:rPr lang="en-US" i="1" dirty="0">
                <a:solidFill>
                  <a:srgbClr val="202122"/>
                </a:solidFill>
              </a:rPr>
              <a:t>n</a:t>
            </a:r>
            <a:r>
              <a:rPr lang="en-US" dirty="0">
                <a:solidFill>
                  <a:srgbClr val="202122"/>
                </a:solidFill>
              </a:rPr>
              <a:t> − 1 bits by reflecting the list (i.e. listing the entries in reverse order), prefixing the entries in the original list with a binary </a:t>
            </a:r>
            <a:r>
              <a:rPr lang="en-US" b="1" dirty="0">
                <a:solidFill>
                  <a:srgbClr val="202122"/>
                </a:solidFill>
                <a:latin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202122"/>
                </a:solidFill>
              </a:rPr>
              <a:t>, prefixing the entries in the reflected list with a binary </a:t>
            </a:r>
            <a:r>
              <a:rPr lang="en-US" b="1" dirty="0">
                <a:solidFill>
                  <a:srgbClr val="202122"/>
                </a:solidFill>
                <a:latin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202122"/>
                </a:solidFill>
              </a:rPr>
              <a:t>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4424485"/>
            <a:ext cx="751123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3C4852"/>
              </a:solidFill>
              <a:latin typeface="AvertaStd"/>
            </a:endParaRPr>
          </a:p>
          <a:p>
            <a:pPr>
              <a:lnSpc>
                <a:spcPct val="150000"/>
              </a:lnSpc>
            </a:pPr>
            <a:r>
              <a:rPr lang="en-US" u="sng" dirty="0">
                <a:solidFill>
                  <a:srgbClr val="3C4852"/>
                </a:solidFill>
                <a:latin typeface="AvertaStd"/>
              </a:rPr>
              <a:t>Gray Codes </a:t>
            </a:r>
            <a:r>
              <a:rPr lang="en-US" dirty="0">
                <a:solidFill>
                  <a:srgbClr val="3C4852"/>
                </a:solidFill>
                <a:latin typeface="AvertaStd"/>
              </a:rPr>
              <a:t>are now widely used in digital communications, such as digital terrestrial television and some cable television systems, to aid in error correction and improve the signal’s overall quality.</a:t>
            </a:r>
            <a:endParaRPr lang="en-US" dirty="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8761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7467600" cy="639762"/>
          </a:xfrm>
        </p:spPr>
        <p:txBody>
          <a:bodyPr/>
          <a:lstStyle/>
          <a:p>
            <a:r>
              <a:rPr lang="en-US" b="1" u="sng" dirty="0"/>
              <a:t>Binary codes</a:t>
            </a:r>
            <a:r>
              <a:rPr lang="en-US" b="1" dirty="0"/>
              <a:t> (contd.)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3415092" cy="5286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92" y="1008993"/>
            <a:ext cx="2180875" cy="522631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2668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3200" b="1" u="sng" dirty="0"/>
              <a:t>Example 12</a:t>
            </a:r>
            <a:r>
              <a:rPr lang="en-US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8800"/>
            <a:ext cx="4457700" cy="186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62484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" y="4017962"/>
            <a:ext cx="4505325" cy="17526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04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97a2385d722cea148fbecd8373c0197d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5c71c8b861efdf17f4fa8dee3c817f76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876A0D-FCD8-4EB5-8D4D-59780CC2D5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350D6D-E7CC-4903-BC9A-51061DC6762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AC2468C-C47B-4B94-96EB-EA8A4ADD49C1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11934</TotalTime>
  <Words>427</Words>
  <Application>Microsoft Office PowerPoint</Application>
  <PresentationFormat>On-screen Show (4:3)</PresentationFormat>
  <Paragraphs>54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Algerian</vt:lpstr>
      <vt:lpstr>Arial</vt:lpstr>
      <vt:lpstr>AvertaStd</vt:lpstr>
      <vt:lpstr>Century Schoolbook</vt:lpstr>
      <vt:lpstr>Courier New</vt:lpstr>
      <vt:lpstr>Wingdings</vt:lpstr>
      <vt:lpstr>Wingdings 2</vt:lpstr>
      <vt:lpstr>Oriel</vt:lpstr>
      <vt:lpstr>Equation</vt:lpstr>
      <vt:lpstr>LOGIC Circuits</vt:lpstr>
      <vt:lpstr>Logic Circuits</vt:lpstr>
      <vt:lpstr>    Basic gates – IEEE standards</vt:lpstr>
      <vt:lpstr>PowerPoint Presentation</vt:lpstr>
      <vt:lpstr>Derived gates:  XOR, NAND, NOR, NXOR</vt:lpstr>
      <vt:lpstr>Example 1</vt:lpstr>
      <vt:lpstr>Example 2</vt:lpstr>
      <vt:lpstr>Example 3. NAND is a universal gate       - it can be used to produce  all the other gates</vt:lpstr>
      <vt:lpstr>Combinational circuits</vt:lpstr>
      <vt:lpstr>Examples of useful combinational circuits </vt:lpstr>
      <vt:lpstr>Example 4</vt:lpstr>
      <vt:lpstr>Example 5.     7 segments Circuit</vt:lpstr>
      <vt:lpstr>Example 5. 7 segments Circuit</vt:lpstr>
      <vt:lpstr>     Example 5. Implement the Simplified Logic Circuit                       for S3 using only NAND gates  </vt:lpstr>
      <vt:lpstr>Example 5(contd.)</vt:lpstr>
      <vt:lpstr>Example 5. Implement the Logic Circuit for S3      using only NOR gates</vt:lpstr>
      <vt:lpstr>Example 5(contd.)</vt:lpstr>
      <vt:lpstr>PowerPoint Presentation</vt:lpstr>
      <vt:lpstr>PowerPoint Presentation</vt:lpstr>
      <vt:lpstr>Example 6. Full Adder</vt:lpstr>
      <vt:lpstr>Example 6. Full Adder (contd.)</vt:lpstr>
      <vt:lpstr>Example 6. Full Adder (contd.)</vt:lpstr>
      <vt:lpstr>Example 7. n - bits adder  </vt:lpstr>
      <vt:lpstr>Example 7. n – bits adder (contd.)  </vt:lpstr>
      <vt:lpstr>PowerPoint Presentation</vt:lpstr>
      <vt:lpstr>Example 8. Full Subtractor</vt:lpstr>
      <vt:lpstr>Example 8. Full Subtractor (contd.)</vt:lpstr>
      <vt:lpstr>Example 8. Full Subtractor (contd.)</vt:lpstr>
      <vt:lpstr>Example 9. n - bits subtractor </vt:lpstr>
      <vt:lpstr>Example 9. n – bits subtractor (contd.)  </vt:lpstr>
      <vt:lpstr>Example 10. Encoder</vt:lpstr>
      <vt:lpstr>Example 10. Encoder (contd.)</vt:lpstr>
      <vt:lpstr>Example 11. Decoder</vt:lpstr>
      <vt:lpstr>Example 11. Decoder (contd.)</vt:lpstr>
      <vt:lpstr>Binary codes </vt:lpstr>
      <vt:lpstr>Gray Codes on n bits</vt:lpstr>
      <vt:lpstr>Binary codes (contd.) </vt:lpstr>
      <vt:lpstr>Example 12.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Mihaela-Ana Lupea</cp:lastModifiedBy>
  <cp:revision>230</cp:revision>
  <dcterms:created xsi:type="dcterms:W3CDTF">2017-10-24T14:24:02Z</dcterms:created>
  <dcterms:modified xsi:type="dcterms:W3CDTF">2025-12-16T20:02:48Z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
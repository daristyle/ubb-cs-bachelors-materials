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notesMasterIdLst>
    <p:notesMasterId r:id="rId13"/>
  </p:notesMasterIdLst>
  <p:sldIdLst>
    <p:sldId id="298" r:id="rId5"/>
    <p:sldId id="295" r:id="rId6"/>
    <p:sldId id="300" r:id="rId7"/>
    <p:sldId id="303" r:id="rId8"/>
    <p:sldId id="296" r:id="rId9"/>
    <p:sldId id="297" r:id="rId10"/>
    <p:sldId id="302" r:id="rId11"/>
    <p:sldId id="304" r:id="rId12"/>
  </p:sldIdLst>
  <p:sldSz cx="9144000" cy="6858000" type="screen4x3"/>
  <p:notesSz cx="6858000" cy="9144000"/>
  <p:defaultTextStyle>
    <a:defPPr>
      <a:defRPr lang="ro-R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67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C9F0CB3-22F1-40E7-A23F-C8F947F73484}" type="datetimeFigureOut">
              <a:rPr lang="en-US"/>
              <a:pPr>
                <a:defRPr/>
              </a:pPr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8E1F71-045E-4180-8B23-FF7A86A083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34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8E1F71-045E-4180-8B23-FF7A86A0831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19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60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460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73937BC-A29A-407C-9E66-C8341A6F532B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4777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494A5-780B-43B2-9538-1D2F4AC5BDD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553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5775D8-9FAE-4FC6-940E-C2804726AE5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426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1CA7C1-140E-4CD6-8969-42D2AA6DC00F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547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8E6A0A-8685-456C-AF04-6F8CA419AAD9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0943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64DDB2-6DAC-4560-A24D-ADCB6B3C23F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3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30A2CE-8BC2-4168-9C8E-BABD00A28A56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695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C4B6B-9CA8-46C5-9676-0A32F1EAB06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092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BA9069-B461-4E48-B33F-5DEB9BB89C27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7799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274C9E-0621-48F5-818B-EDF77F4A8E3E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8288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AB65C8-A24F-48CD-9206-790917AB3BC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6644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ACD82A-3934-4C56-9B81-04A60EF2FD07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2797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4506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0F78F9-193B-4853-90FD-646D8ADBE044}" type="slidenum">
              <a:rPr lang="ro-RO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Reasoning modelling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9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00087"/>
          </a:xfrm>
        </p:spPr>
        <p:txBody>
          <a:bodyPr/>
          <a:lstStyle/>
          <a:p>
            <a:r>
              <a:rPr lang="en-US" sz="3600" b="1" dirty="0"/>
              <a:t>Example 1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38200"/>
            <a:ext cx="3886200" cy="4876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798443"/>
            <a:ext cx="4514850" cy="2114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971800"/>
            <a:ext cx="4514850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718990"/>
            <a:ext cx="2514600" cy="199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02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09600"/>
            <a:ext cx="43434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1981200"/>
            <a:ext cx="3810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74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resolution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44958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40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/>
              <a:t>Example 1 (contd.)</a:t>
            </a:r>
            <a:endParaRPr lang="en-US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16461"/>
            <a:ext cx="5410200" cy="403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55" y="24442"/>
            <a:ext cx="2546250" cy="19920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" y="12132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1210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138" y="884981"/>
            <a:ext cx="7793037" cy="562819"/>
          </a:xfrm>
        </p:spPr>
        <p:txBody>
          <a:bodyPr/>
          <a:lstStyle/>
          <a:p>
            <a:r>
              <a:rPr lang="en-US" sz="3200" b="1" dirty="0"/>
              <a:t>Example 1 (contd.)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425" y="0"/>
            <a:ext cx="2194184" cy="17165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8800"/>
            <a:ext cx="7772400" cy="4667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420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-164686" y="154179"/>
            <a:ext cx="8686800" cy="395287"/>
          </a:xfrm>
        </p:spPr>
        <p:txBody>
          <a:bodyPr/>
          <a:lstStyle/>
          <a:p>
            <a:pPr eaLnBrk="1" hangingPunct="1"/>
            <a:r>
              <a:rPr lang="en-US" sz="2800" b="1" dirty="0"/>
              <a:t>    </a:t>
            </a:r>
            <a:r>
              <a:rPr lang="en-US" sz="2400" b="1" u="sng" dirty="0"/>
              <a:t>Decomposition rules for </a:t>
            </a:r>
            <a:r>
              <a:rPr lang="en-US" sz="2400" b="1" i="1" u="sng" dirty="0"/>
              <a:t>predicate formulas</a:t>
            </a:r>
            <a:endParaRPr lang="ro-RO" sz="2400" b="1" i="1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993" y="647586"/>
            <a:ext cx="5867607" cy="13044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99" y="2186979"/>
            <a:ext cx="1049339" cy="371475"/>
          </a:xfrm>
          <a:prstGeom prst="rect">
            <a:avLst/>
          </a:prstGeom>
        </p:spPr>
      </p:pic>
      <p:pic>
        <p:nvPicPr>
          <p:cNvPr id="614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114" y="15874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981097"/>
            <a:ext cx="7315200" cy="35816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799" y="1032243"/>
            <a:ext cx="1103613" cy="3828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0412" y="2019186"/>
            <a:ext cx="64770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91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1"/>
            <a:ext cx="7793037" cy="685800"/>
          </a:xfrm>
        </p:spPr>
        <p:txBody>
          <a:bodyPr/>
          <a:lstStyle/>
          <a:p>
            <a:r>
              <a:rPr lang="en-US" sz="3200" dirty="0"/>
              <a:t>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6800"/>
            <a:ext cx="8382000" cy="4876800"/>
          </a:xfrm>
        </p:spPr>
        <p:txBody>
          <a:bodyPr/>
          <a:lstStyle/>
          <a:p>
            <a:r>
              <a:rPr lang="en-US" sz="2200" dirty="0"/>
              <a:t>A formula is </a:t>
            </a:r>
            <a:r>
              <a:rPr lang="en-US" sz="2200" dirty="0">
                <a:solidFill>
                  <a:srgbClr val="C00000"/>
                </a:solidFill>
              </a:rPr>
              <a:t>inconsistent </a:t>
            </a:r>
            <a:r>
              <a:rPr lang="en-US" sz="2200" dirty="0"/>
              <a:t>if it is evaluated as </a:t>
            </a:r>
            <a:r>
              <a:rPr lang="en-US" sz="2200" dirty="0">
                <a:solidFill>
                  <a:srgbClr val="C00000"/>
                </a:solidFill>
              </a:rPr>
              <a:t>false</a:t>
            </a:r>
            <a:r>
              <a:rPr lang="en-US" sz="2200" dirty="0"/>
              <a:t> in all its interpretations. It is </a:t>
            </a:r>
            <a:r>
              <a:rPr lang="en-US" sz="2200" u="sng" dirty="0"/>
              <a:t>necessary</a:t>
            </a:r>
            <a:r>
              <a:rPr lang="en-US" sz="2200" dirty="0"/>
              <a:t> to show that the formula does not have models, all its interpretations are anti-models.</a:t>
            </a:r>
          </a:p>
          <a:p>
            <a:r>
              <a:rPr lang="en-US" sz="2200" dirty="0"/>
              <a:t>To prove that a formula is </a:t>
            </a:r>
            <a:r>
              <a:rPr lang="en-US" sz="2200" u="sng" dirty="0">
                <a:solidFill>
                  <a:srgbClr val="C00000"/>
                </a:solidFill>
              </a:rPr>
              <a:t>not</a:t>
            </a:r>
            <a:r>
              <a:rPr lang="en-US" sz="2200" dirty="0">
                <a:solidFill>
                  <a:srgbClr val="C00000"/>
                </a:solidFill>
              </a:rPr>
              <a:t> inconsistent </a:t>
            </a:r>
            <a:r>
              <a:rPr lang="en-US" sz="2200" dirty="0"/>
              <a:t>it is </a:t>
            </a:r>
            <a:r>
              <a:rPr lang="en-US" sz="2200" u="sng" dirty="0"/>
              <a:t>sufficient</a:t>
            </a:r>
            <a:r>
              <a:rPr lang="en-US" sz="2200" dirty="0"/>
              <a:t> to find a </a:t>
            </a:r>
            <a:r>
              <a:rPr lang="en-US" sz="2200" dirty="0">
                <a:solidFill>
                  <a:srgbClr val="FF0000"/>
                </a:solidFill>
              </a:rPr>
              <a:t>model</a:t>
            </a:r>
            <a:r>
              <a:rPr lang="en-US" sz="2200" dirty="0"/>
              <a:t> for it.</a:t>
            </a:r>
          </a:p>
          <a:p>
            <a:endParaRPr lang="en-US" sz="1200" dirty="0"/>
          </a:p>
          <a:p>
            <a:r>
              <a:rPr lang="en-US" sz="2200" dirty="0"/>
              <a:t>A formula is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valid (tautology)</a:t>
            </a:r>
            <a:r>
              <a:rPr lang="en-US" sz="2200" dirty="0"/>
              <a:t> if it is evaluated as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true</a:t>
            </a:r>
            <a:r>
              <a:rPr lang="en-US" sz="2200" dirty="0"/>
              <a:t> in all its interpretations. It is </a:t>
            </a:r>
            <a:r>
              <a:rPr lang="en-US" sz="2200" u="sng" dirty="0"/>
              <a:t>necessary </a:t>
            </a:r>
            <a:r>
              <a:rPr lang="en-US" sz="2200" dirty="0"/>
              <a:t>to show that the formula has only models. Its negation is inconsistent.</a:t>
            </a:r>
          </a:p>
          <a:p>
            <a:r>
              <a:rPr lang="en-US" sz="2200" dirty="0"/>
              <a:t>To prove that a formula is </a:t>
            </a:r>
            <a:r>
              <a:rPr lang="en-US" sz="2200" u="sng" dirty="0">
                <a:solidFill>
                  <a:schemeClr val="accent1">
                    <a:lumMod val="75000"/>
                  </a:schemeClr>
                </a:solidFill>
              </a:rPr>
              <a:t>not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 valid </a:t>
            </a:r>
            <a:r>
              <a:rPr lang="en-US" sz="2200" dirty="0"/>
              <a:t>it is </a:t>
            </a:r>
            <a:r>
              <a:rPr lang="en-US" sz="2200" u="sng" dirty="0"/>
              <a:t>sufficient</a:t>
            </a:r>
            <a:r>
              <a:rPr lang="en-US" sz="2200" dirty="0"/>
              <a:t> to find an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    anti-model</a:t>
            </a:r>
            <a:r>
              <a:rPr lang="en-US" sz="2200" dirty="0"/>
              <a:t> for it.</a:t>
            </a:r>
          </a:p>
          <a:p>
            <a:endParaRPr lang="en-US" sz="1200" dirty="0"/>
          </a:p>
          <a:p>
            <a:r>
              <a:rPr lang="en-US" sz="2200" dirty="0"/>
              <a:t>To prove that a formula is 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contingent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dirty="0"/>
              <a:t>it is </a:t>
            </a:r>
            <a:r>
              <a:rPr lang="en-US" sz="2200" u="sng" dirty="0"/>
              <a:t>sufficient</a:t>
            </a:r>
            <a:r>
              <a:rPr lang="en-US" sz="2200" dirty="0"/>
              <a:t> to find a 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model </a:t>
            </a:r>
            <a:r>
              <a:rPr lang="en-US" sz="2200" dirty="0"/>
              <a:t>and an 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anti-model</a:t>
            </a:r>
            <a:r>
              <a:rPr lang="en-US" sz="2200" dirty="0"/>
              <a:t> for it.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2607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97a2385d722cea148fbecd8373c0197d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5c71c8b861efdf17f4fa8dee3c817f76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1A840D-6470-4272-9039-0A8D3CE762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96AB6F-A708-40BC-A198-EEAACB3C2761}"/>
</file>

<file path=customXml/itemProps3.xml><?xml version="1.0" encoding="utf-8"?>
<ds:datastoreItem xmlns:ds="http://schemas.openxmlformats.org/officeDocument/2006/customXml" ds:itemID="{C7212F8F-5494-4874-A08D-CB179812EA5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16932</TotalTime>
  <Words>150</Words>
  <Application>Microsoft Office PowerPoint</Application>
  <PresentationFormat>On-screen Show (4:3)</PresentationFormat>
  <Paragraphs>16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Tahoma</vt:lpstr>
      <vt:lpstr>Wingdings</vt:lpstr>
      <vt:lpstr>Blends</vt:lpstr>
      <vt:lpstr>Reasoning modelling</vt:lpstr>
      <vt:lpstr>Example 1</vt:lpstr>
      <vt:lpstr>PowerPoint Presentation</vt:lpstr>
      <vt:lpstr>Linear resolution</vt:lpstr>
      <vt:lpstr>Example 1 (contd.)</vt:lpstr>
      <vt:lpstr>Example 1 (contd.)</vt:lpstr>
      <vt:lpstr>    Decomposition rules for predicate formulas</vt:lpstr>
      <vt:lpstr>Remarks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Tableaux Method</dc:title>
  <dc:creator>Iulian Lupea</dc:creator>
  <cp:lastModifiedBy>Mihaela-Ana Lupea</cp:lastModifiedBy>
  <cp:revision>139</cp:revision>
  <dcterms:created xsi:type="dcterms:W3CDTF">2017-11-03T20:27:27Z</dcterms:created>
  <dcterms:modified xsi:type="dcterms:W3CDTF">2025-11-25T17:19:11Z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
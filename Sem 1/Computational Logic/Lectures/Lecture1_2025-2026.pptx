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80" r:id="rId12"/>
    <p:sldId id="278" r:id="rId13"/>
    <p:sldId id="279" r:id="rId14"/>
    <p:sldId id="265" r:id="rId15"/>
    <p:sldId id="266" r:id="rId16"/>
    <p:sldId id="267" r:id="rId17"/>
    <p:sldId id="268" r:id="rId18"/>
    <p:sldId id="269" r:id="rId19"/>
    <p:sldId id="270" r:id="rId20"/>
    <p:sldId id="272" r:id="rId21"/>
    <p:sldId id="274" r:id="rId22"/>
    <p:sldId id="275" r:id="rId23"/>
    <p:sldId id="264" r:id="rId24"/>
    <p:sldId id="276" r:id="rId25"/>
  </p:sldIdLst>
  <p:sldSz cx="9144000" cy="6858000" type="screen4x3"/>
  <p:notesSz cx="6858000" cy="9144000"/>
  <p:defaultTextStyle>
    <a:defPPr>
      <a:defRPr lang="ro-RO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033" autoAdjust="0"/>
    <p:restoredTop sz="94660"/>
  </p:normalViewPr>
  <p:slideViewPr>
    <p:cSldViewPr>
      <p:cViewPr varScale="1">
        <p:scale>
          <a:sx n="72" d="100"/>
          <a:sy n="72" d="100"/>
        </p:scale>
        <p:origin x="1930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6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/>
            </a:p>
          </p:txBody>
        </p:sp>
        <p:sp>
          <p:nvSpPr>
            <p:cNvPr id="7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/>
            </a:p>
          </p:txBody>
        </p:sp>
        <p:sp>
          <p:nvSpPr>
            <p:cNvPr id="8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/>
            </a:p>
          </p:txBody>
        </p:sp>
        <p:sp>
          <p:nvSpPr>
            <p:cNvPr id="9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/>
            </a:p>
          </p:txBody>
        </p:sp>
        <p:sp>
          <p:nvSpPr>
            <p:cNvPr id="10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/>
            </a:p>
          </p:txBody>
        </p:sp>
        <p:sp>
          <p:nvSpPr>
            <p:cNvPr id="11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/>
            </a:p>
          </p:txBody>
        </p:sp>
        <p:sp>
          <p:nvSpPr>
            <p:cNvPr id="12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/>
            </a:p>
          </p:txBody>
        </p:sp>
        <p:sp>
          <p:nvSpPr>
            <p:cNvPr id="13" name="Oval 16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/>
            </a:p>
          </p:txBody>
        </p:sp>
        <p:sp>
          <p:nvSpPr>
            <p:cNvPr id="14" name="Oval 17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/>
            </a:p>
          </p:txBody>
        </p:sp>
        <p:sp>
          <p:nvSpPr>
            <p:cNvPr id="15" name="Oval 18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/>
            </a:p>
          </p:txBody>
        </p:sp>
        <p:sp>
          <p:nvSpPr>
            <p:cNvPr id="16" name="Oval 19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/>
            </a:p>
          </p:txBody>
        </p:sp>
        <p:sp>
          <p:nvSpPr>
            <p:cNvPr id="17" name="Oval 20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/>
            </a:p>
          </p:txBody>
        </p:sp>
        <p:sp>
          <p:nvSpPr>
            <p:cNvPr id="18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/>
            </a:p>
          </p:txBody>
        </p:sp>
        <p:sp>
          <p:nvSpPr>
            <p:cNvPr id="19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/>
            </a:p>
          </p:txBody>
        </p:sp>
        <p:sp>
          <p:nvSpPr>
            <p:cNvPr id="20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/>
            </a:p>
          </p:txBody>
        </p:sp>
        <p:sp>
          <p:nvSpPr>
            <p:cNvPr id="21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/>
            </a:p>
          </p:txBody>
        </p:sp>
        <p:sp>
          <p:nvSpPr>
            <p:cNvPr id="22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/>
            </a:p>
          </p:txBody>
        </p:sp>
        <p:sp>
          <p:nvSpPr>
            <p:cNvPr id="23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/>
            </a:p>
          </p:txBody>
        </p:sp>
        <p:sp>
          <p:nvSpPr>
            <p:cNvPr id="24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/>
            </a:p>
          </p:txBody>
        </p:sp>
        <p:sp>
          <p:nvSpPr>
            <p:cNvPr id="25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/>
            </a:p>
          </p:txBody>
        </p:sp>
        <p:sp>
          <p:nvSpPr>
            <p:cNvPr id="26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/>
            </a:p>
          </p:txBody>
        </p:sp>
        <p:sp>
          <p:nvSpPr>
            <p:cNvPr id="27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/>
            </a:p>
          </p:txBody>
        </p:sp>
        <p:sp>
          <p:nvSpPr>
            <p:cNvPr id="28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/>
            </a:p>
          </p:txBody>
        </p:sp>
        <p:sp>
          <p:nvSpPr>
            <p:cNvPr id="29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/>
            </a:p>
          </p:txBody>
        </p:sp>
        <p:sp>
          <p:nvSpPr>
            <p:cNvPr id="30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/>
            </a:p>
          </p:txBody>
        </p:sp>
        <p:sp>
          <p:nvSpPr>
            <p:cNvPr id="31" name="Oval 34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/>
            </a:p>
          </p:txBody>
        </p:sp>
        <p:sp>
          <p:nvSpPr>
            <p:cNvPr id="32" name="Oval 35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/>
            </a:p>
          </p:txBody>
        </p:sp>
        <p:sp>
          <p:nvSpPr>
            <p:cNvPr id="33" name="Oval 36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/>
            </a:p>
          </p:txBody>
        </p:sp>
        <p:sp>
          <p:nvSpPr>
            <p:cNvPr id="34" name="Oval 37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/>
            </a:p>
          </p:txBody>
        </p:sp>
        <p:sp>
          <p:nvSpPr>
            <p:cNvPr id="35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/>
            </a:p>
          </p:txBody>
        </p:sp>
        <p:sp>
          <p:nvSpPr>
            <p:cNvPr id="36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/>
            </a:p>
          </p:txBody>
        </p:sp>
      </p:grpSp>
      <p:sp>
        <p:nvSpPr>
          <p:cNvPr id="37" name="Line 40"/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r>
              <a:rPr lang="ro-RO" altLang="en-US"/>
              <a:t>Click to edit Master title style</a:t>
            </a:r>
          </a:p>
        </p:txBody>
      </p:sp>
      <p:sp>
        <p:nvSpPr>
          <p:cNvPr id="1946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200"/>
            </a:lvl1pPr>
          </a:lstStyle>
          <a:p>
            <a:r>
              <a:rPr lang="ro-RO" altLang="en-US"/>
              <a:t>Click to edit Master subtitle style</a:t>
            </a:r>
          </a:p>
        </p:txBody>
      </p:sp>
      <p:sp>
        <p:nvSpPr>
          <p:cNvPr id="38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 altLang="en-US"/>
          </a:p>
        </p:txBody>
      </p:sp>
      <p:sp>
        <p:nvSpPr>
          <p:cNvPr id="39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 altLang="en-US"/>
          </a:p>
        </p:txBody>
      </p:sp>
      <p:sp>
        <p:nvSpPr>
          <p:cNvPr id="40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802693-07B8-4C07-8800-1C4E5A1D120A}" type="slidenum">
              <a:rPr lang="ro-RO" altLang="en-US"/>
              <a:pPr>
                <a:defRPr/>
              </a:pPr>
              <a:t>‹#›</a:t>
            </a:fld>
            <a:endParaRPr lang="ro-RO" altLang="en-US"/>
          </a:p>
        </p:txBody>
      </p:sp>
    </p:spTree>
    <p:extLst>
      <p:ext uri="{BB962C8B-B14F-4D97-AF65-F5344CB8AC3E}">
        <p14:creationId xmlns:p14="http://schemas.microsoft.com/office/powerpoint/2010/main" val="2745776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885CF4-8220-4954-B075-B870B9908845}" type="slidenum">
              <a:rPr lang="ro-RO" altLang="en-US"/>
              <a:pPr>
                <a:defRPr/>
              </a:pPr>
              <a:t>‹#›</a:t>
            </a:fld>
            <a:endParaRPr lang="ro-RO" altLang="en-US"/>
          </a:p>
        </p:txBody>
      </p:sp>
    </p:spTree>
    <p:extLst>
      <p:ext uri="{BB962C8B-B14F-4D97-AF65-F5344CB8AC3E}">
        <p14:creationId xmlns:p14="http://schemas.microsoft.com/office/powerpoint/2010/main" val="2717962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9153A0-E259-40C7-8D71-CFC5C4A93DD9}" type="slidenum">
              <a:rPr lang="ro-RO" altLang="en-US"/>
              <a:pPr>
                <a:defRPr/>
              </a:pPr>
              <a:t>‹#›</a:t>
            </a:fld>
            <a:endParaRPr lang="ro-RO" altLang="en-US"/>
          </a:p>
        </p:txBody>
      </p:sp>
    </p:spTree>
    <p:extLst>
      <p:ext uri="{BB962C8B-B14F-4D97-AF65-F5344CB8AC3E}">
        <p14:creationId xmlns:p14="http://schemas.microsoft.com/office/powerpoint/2010/main" val="2053227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ED81CD-A8F1-4E86-A1C5-88710B2360A8}" type="slidenum">
              <a:rPr lang="ro-RO" altLang="en-US"/>
              <a:pPr>
                <a:defRPr/>
              </a:pPr>
              <a:t>‹#›</a:t>
            </a:fld>
            <a:endParaRPr lang="ro-RO" altLang="en-US"/>
          </a:p>
        </p:txBody>
      </p:sp>
    </p:spTree>
    <p:extLst>
      <p:ext uri="{BB962C8B-B14F-4D97-AF65-F5344CB8AC3E}">
        <p14:creationId xmlns:p14="http://schemas.microsoft.com/office/powerpoint/2010/main" val="78681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 alt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 altLang="en-US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173499-7A86-4EFA-880B-DD5C1F31A1F0}" type="slidenum">
              <a:rPr lang="ro-RO" altLang="en-US"/>
              <a:pPr>
                <a:defRPr/>
              </a:pPr>
              <a:t>‹#›</a:t>
            </a:fld>
            <a:endParaRPr lang="ro-RO" altLang="en-US"/>
          </a:p>
        </p:txBody>
      </p:sp>
    </p:spTree>
    <p:extLst>
      <p:ext uri="{BB962C8B-B14F-4D97-AF65-F5344CB8AC3E}">
        <p14:creationId xmlns:p14="http://schemas.microsoft.com/office/powerpoint/2010/main" val="382640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 alt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B17DAA-85FD-444A-833D-B01002FC4441}" type="slidenum">
              <a:rPr lang="ro-RO" altLang="en-US"/>
              <a:pPr>
                <a:defRPr/>
              </a:pPr>
              <a:t>‹#›</a:t>
            </a:fld>
            <a:endParaRPr lang="ro-RO" altLang="en-US"/>
          </a:p>
        </p:txBody>
      </p:sp>
    </p:spTree>
    <p:extLst>
      <p:ext uri="{BB962C8B-B14F-4D97-AF65-F5344CB8AC3E}">
        <p14:creationId xmlns:p14="http://schemas.microsoft.com/office/powerpoint/2010/main" val="1738800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 alt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 alt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302C4A-E78A-49D4-B8EB-BE52BF3F7B93}" type="slidenum">
              <a:rPr lang="ro-RO" altLang="en-US"/>
              <a:pPr>
                <a:defRPr/>
              </a:pPr>
              <a:t>‹#›</a:t>
            </a:fld>
            <a:endParaRPr lang="ro-RO" altLang="en-US"/>
          </a:p>
        </p:txBody>
      </p:sp>
    </p:spTree>
    <p:extLst>
      <p:ext uri="{BB962C8B-B14F-4D97-AF65-F5344CB8AC3E}">
        <p14:creationId xmlns:p14="http://schemas.microsoft.com/office/powerpoint/2010/main" val="3969546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B203D2-D394-4B23-95A5-0842D0CB1CE4}" type="slidenum">
              <a:rPr lang="ro-RO" altLang="en-US"/>
              <a:pPr>
                <a:defRPr/>
              </a:pPr>
              <a:t>‹#›</a:t>
            </a:fld>
            <a:endParaRPr lang="ro-RO" altLang="en-US"/>
          </a:p>
        </p:txBody>
      </p:sp>
    </p:spTree>
    <p:extLst>
      <p:ext uri="{BB962C8B-B14F-4D97-AF65-F5344CB8AC3E}">
        <p14:creationId xmlns:p14="http://schemas.microsoft.com/office/powerpoint/2010/main" val="2946405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D65605-30A1-461D-9C6B-CE1C6047DB88}" type="slidenum">
              <a:rPr lang="ro-RO" altLang="en-US"/>
              <a:pPr>
                <a:defRPr/>
              </a:pPr>
              <a:t>‹#›</a:t>
            </a:fld>
            <a:endParaRPr lang="ro-RO" altLang="en-US"/>
          </a:p>
        </p:txBody>
      </p:sp>
    </p:spTree>
    <p:extLst>
      <p:ext uri="{BB962C8B-B14F-4D97-AF65-F5344CB8AC3E}">
        <p14:creationId xmlns:p14="http://schemas.microsoft.com/office/powerpoint/2010/main" val="27231536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F9B037-27C5-42D1-95B2-1F5E9E58CD5D}" type="slidenum">
              <a:rPr lang="ro-RO" altLang="en-US"/>
              <a:pPr>
                <a:defRPr/>
              </a:pPr>
              <a:t>‹#›</a:t>
            </a:fld>
            <a:endParaRPr lang="ro-RO" altLang="en-US"/>
          </a:p>
        </p:txBody>
      </p:sp>
    </p:spTree>
    <p:extLst>
      <p:ext uri="{BB962C8B-B14F-4D97-AF65-F5344CB8AC3E}">
        <p14:creationId xmlns:p14="http://schemas.microsoft.com/office/powerpoint/2010/main" val="3952934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507309-DFDB-43FF-93DB-9080A3AD39C0}" type="slidenum">
              <a:rPr lang="ro-RO" altLang="en-US"/>
              <a:pPr>
                <a:defRPr/>
              </a:pPr>
              <a:t>‹#›</a:t>
            </a:fld>
            <a:endParaRPr lang="ro-RO" altLang="en-US"/>
          </a:p>
        </p:txBody>
      </p:sp>
    </p:spTree>
    <p:extLst>
      <p:ext uri="{BB962C8B-B14F-4D97-AF65-F5344CB8AC3E}">
        <p14:creationId xmlns:p14="http://schemas.microsoft.com/office/powerpoint/2010/main" val="4651135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719263"/>
            <a:ext cx="8229600" cy="4411662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272FB9-EFE2-4FCA-855B-224CE9D42BDC}" type="slidenum">
              <a:rPr lang="ro-RO" altLang="en-US"/>
              <a:pPr>
                <a:defRPr/>
              </a:pPr>
              <a:t>‹#›</a:t>
            </a:fld>
            <a:endParaRPr lang="ro-RO" altLang="en-US"/>
          </a:p>
        </p:txBody>
      </p:sp>
    </p:spTree>
    <p:extLst>
      <p:ext uri="{BB962C8B-B14F-4D97-AF65-F5344CB8AC3E}">
        <p14:creationId xmlns:p14="http://schemas.microsoft.com/office/powerpoint/2010/main" val="58541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2"/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ro-RO" altLang="en-US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o-RO" altLang="en-US"/>
              <a:t>Click to edit Master text styles</a:t>
            </a:r>
          </a:p>
          <a:p>
            <a:pPr lvl="1"/>
            <a:r>
              <a:rPr lang="ro-RO" altLang="en-US"/>
              <a:t>Second level</a:t>
            </a:r>
          </a:p>
          <a:p>
            <a:pPr lvl="2"/>
            <a:r>
              <a:rPr lang="ro-RO" altLang="en-US"/>
              <a:t>Third level</a:t>
            </a:r>
          </a:p>
          <a:p>
            <a:pPr lvl="3"/>
            <a:r>
              <a:rPr lang="ro-RO" altLang="en-US"/>
              <a:t>Fourth level</a:t>
            </a:r>
          </a:p>
          <a:p>
            <a:pPr lvl="4"/>
            <a:r>
              <a:rPr lang="ro-RO" altLang="en-US"/>
              <a:t>Fifth level</a:t>
            </a:r>
          </a:p>
        </p:txBody>
      </p:sp>
      <p:sp>
        <p:nvSpPr>
          <p:cNvPr id="18437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latin typeface="Arial" charset="0"/>
              </a:defRPr>
            </a:lvl1pPr>
          </a:lstStyle>
          <a:p>
            <a:pPr>
              <a:defRPr/>
            </a:pPr>
            <a:endParaRPr lang="ro-RO" altLang="en-US"/>
          </a:p>
        </p:txBody>
      </p:sp>
      <p:sp>
        <p:nvSpPr>
          <p:cNvPr id="18438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latin typeface="Arial" charset="0"/>
              </a:defRPr>
            </a:lvl1pPr>
          </a:lstStyle>
          <a:p>
            <a:pPr>
              <a:defRPr/>
            </a:pPr>
            <a:endParaRPr lang="ro-RO" altLang="en-US"/>
          </a:p>
        </p:txBody>
      </p:sp>
      <p:sp>
        <p:nvSpPr>
          <p:cNvPr id="18439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pPr>
              <a:defRPr/>
            </a:pPr>
            <a:fld id="{098CDEFC-3780-4A19-9044-93BF379D6C57}" type="slidenum">
              <a:rPr lang="ro-RO" altLang="en-US"/>
              <a:pPr>
                <a:defRPr/>
              </a:pPr>
              <a:t>‹#›</a:t>
            </a:fld>
            <a:endParaRPr lang="ro-RO" altLang="en-US"/>
          </a:p>
        </p:txBody>
      </p:sp>
      <p:grpSp>
        <p:nvGrpSpPr>
          <p:cNvPr id="1032" name="Group 8"/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1033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/>
            </a:p>
          </p:txBody>
        </p:sp>
        <p:sp>
          <p:nvSpPr>
            <p:cNvPr id="1034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79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/>
            </a:p>
          </p:txBody>
        </p:sp>
        <p:sp>
          <p:nvSpPr>
            <p:cNvPr id="1035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77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/>
            </a:p>
          </p:txBody>
        </p:sp>
        <p:sp>
          <p:nvSpPr>
            <p:cNvPr id="1036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/>
            </a:p>
          </p:txBody>
        </p:sp>
        <p:sp>
          <p:nvSpPr>
            <p:cNvPr id="1037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79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/>
            </a:p>
          </p:txBody>
        </p:sp>
        <p:sp>
          <p:nvSpPr>
            <p:cNvPr id="1038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77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/>
            </a:p>
          </p:txBody>
        </p:sp>
        <p:sp>
          <p:nvSpPr>
            <p:cNvPr id="1039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77" cy="7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/>
            </a:p>
          </p:txBody>
        </p:sp>
        <p:sp>
          <p:nvSpPr>
            <p:cNvPr id="1040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/>
            </a:p>
          </p:txBody>
        </p:sp>
        <p:sp>
          <p:nvSpPr>
            <p:cNvPr id="1041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79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/>
            </a:p>
          </p:txBody>
        </p:sp>
        <p:sp>
          <p:nvSpPr>
            <p:cNvPr id="1042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77" cy="7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/>
            </a:p>
          </p:txBody>
        </p:sp>
        <p:sp>
          <p:nvSpPr>
            <p:cNvPr id="1043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77" cy="7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/>
            </a:p>
          </p:txBody>
        </p:sp>
        <p:sp>
          <p:nvSpPr>
            <p:cNvPr id="1044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7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/>
            </a:p>
          </p:txBody>
        </p:sp>
        <p:sp>
          <p:nvSpPr>
            <p:cNvPr id="1045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/>
            </a:p>
          </p:txBody>
        </p:sp>
        <p:sp>
          <p:nvSpPr>
            <p:cNvPr id="1046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/>
            </a:p>
          </p:txBody>
        </p:sp>
        <p:sp>
          <p:nvSpPr>
            <p:cNvPr id="1047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77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/>
            </a:p>
          </p:txBody>
        </p:sp>
        <p:sp>
          <p:nvSpPr>
            <p:cNvPr id="1048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77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/>
            </a:p>
          </p:txBody>
        </p:sp>
        <p:sp>
          <p:nvSpPr>
            <p:cNvPr id="1049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/>
            </a:p>
          </p:txBody>
        </p:sp>
        <p:sp>
          <p:nvSpPr>
            <p:cNvPr id="1050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/>
            </a:p>
          </p:txBody>
        </p:sp>
        <p:sp>
          <p:nvSpPr>
            <p:cNvPr id="1051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77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/>
            </a:p>
          </p:txBody>
        </p:sp>
        <p:sp>
          <p:nvSpPr>
            <p:cNvPr id="1052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77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/>
            </a:p>
          </p:txBody>
        </p:sp>
        <p:sp>
          <p:nvSpPr>
            <p:cNvPr id="1053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/>
            </a:p>
          </p:txBody>
        </p:sp>
        <p:sp>
          <p:nvSpPr>
            <p:cNvPr id="1054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/>
            </a:p>
          </p:txBody>
        </p:sp>
        <p:sp>
          <p:nvSpPr>
            <p:cNvPr id="1055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/>
            </a:p>
          </p:txBody>
        </p:sp>
        <p:sp>
          <p:nvSpPr>
            <p:cNvPr id="1056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77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/>
            </a:p>
          </p:txBody>
        </p:sp>
        <p:sp>
          <p:nvSpPr>
            <p:cNvPr id="1057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77" cy="79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/>
            </a:p>
          </p:txBody>
        </p:sp>
        <p:sp>
          <p:nvSpPr>
            <p:cNvPr id="1058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7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/>
            </a:p>
          </p:txBody>
        </p:sp>
        <p:sp>
          <p:nvSpPr>
            <p:cNvPr id="1059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79" cy="7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/>
            </a:p>
          </p:txBody>
        </p:sp>
        <p:sp>
          <p:nvSpPr>
            <p:cNvPr id="1060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77" cy="7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/>
            </a:p>
          </p:txBody>
        </p:sp>
        <p:sp>
          <p:nvSpPr>
            <p:cNvPr id="1061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77" cy="7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/>
            </a:p>
          </p:txBody>
        </p:sp>
        <p:sp>
          <p:nvSpPr>
            <p:cNvPr id="1062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/>
            </a:p>
          </p:txBody>
        </p:sp>
        <p:sp>
          <p:nvSpPr>
            <p:cNvPr id="1063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77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600">
          <a:solidFill>
            <a:schemeClr val="tx1"/>
          </a:solidFill>
          <a:latin typeface="+mn-lt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300">
          <a:solidFill>
            <a:schemeClr val="tx1"/>
          </a:solidFill>
          <a:latin typeface="+mn-lt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-381000"/>
            <a:ext cx="8229600" cy="1143000"/>
          </a:xfrm>
        </p:spPr>
        <p:txBody>
          <a:bodyPr/>
          <a:lstStyle/>
          <a:p>
            <a:pPr eaLnBrk="1" hangingPunct="1"/>
            <a:r>
              <a:rPr lang="en-US" sz="3200" u="sng" dirty="0"/>
              <a:t>Numeration systems</a:t>
            </a:r>
            <a:endParaRPr lang="ro-RO" sz="3200" u="sng" dirty="0"/>
          </a:p>
        </p:txBody>
      </p:sp>
      <p:sp>
        <p:nvSpPr>
          <p:cNvPr id="307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14300" y="1311744"/>
            <a:ext cx="8915400" cy="5334000"/>
          </a:xfrm>
        </p:spPr>
        <p:txBody>
          <a:bodyPr/>
          <a:lstStyle/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sz="2200" b="1" dirty="0"/>
              <a:t>Numeration systems</a:t>
            </a:r>
            <a:r>
              <a:rPr lang="en-US" sz="2200" dirty="0"/>
              <a:t> are used to represent and manipulate numeric values.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sz="2200" dirty="0"/>
              <a:t>We have to distinguish between a </a:t>
            </a:r>
            <a:r>
              <a:rPr lang="en-US" sz="2200" b="1" dirty="0"/>
              <a:t>numeric value</a:t>
            </a:r>
            <a:r>
              <a:rPr lang="en-US" sz="2200" dirty="0"/>
              <a:t> and a </a:t>
            </a:r>
            <a:r>
              <a:rPr lang="en-US" sz="2200" b="1" dirty="0"/>
              <a:t>numeric representation</a:t>
            </a:r>
            <a:r>
              <a:rPr lang="en-US" sz="2200" dirty="0"/>
              <a:t>: </a:t>
            </a:r>
            <a:endParaRPr lang="en-US" sz="2200" i="1" dirty="0"/>
          </a:p>
          <a:p>
            <a:pPr lvl="1" eaLnBrk="1" hangingPunct="1">
              <a:lnSpc>
                <a:spcPct val="110000"/>
              </a:lnSpc>
              <a:buClr>
                <a:schemeClr val="tx1"/>
              </a:buClr>
              <a:buSzPct val="75000"/>
            </a:pPr>
            <a:r>
              <a:rPr lang="en-US" sz="2200" i="1" dirty="0"/>
              <a:t>a </a:t>
            </a:r>
            <a:r>
              <a:rPr lang="en-US" sz="2200" b="1" i="1" dirty="0"/>
              <a:t>value</a:t>
            </a:r>
            <a:r>
              <a:rPr lang="en-US" sz="2200" b="1" dirty="0"/>
              <a:t> </a:t>
            </a:r>
            <a:r>
              <a:rPr lang="en-US" sz="2200" dirty="0"/>
              <a:t>(abstract concept) is a measure of an attribute of a collection of objects;</a:t>
            </a:r>
          </a:p>
          <a:p>
            <a:pPr lvl="1" eaLnBrk="1" hangingPunct="1">
              <a:lnSpc>
                <a:spcPct val="110000"/>
              </a:lnSpc>
              <a:buClr>
                <a:schemeClr val="tx1"/>
              </a:buClr>
              <a:buSzPct val="75000"/>
            </a:pPr>
            <a:r>
              <a:rPr lang="en-US" sz="2200" dirty="0"/>
              <a:t>a</a:t>
            </a:r>
            <a:r>
              <a:rPr lang="en-US" sz="2200" i="1" dirty="0"/>
              <a:t> </a:t>
            </a:r>
            <a:r>
              <a:rPr lang="en-US" sz="2200" b="1" i="1" dirty="0"/>
              <a:t>representation</a:t>
            </a:r>
            <a:r>
              <a:rPr lang="en-US" sz="2200" b="1" dirty="0"/>
              <a:t> </a:t>
            </a:r>
            <a:r>
              <a:rPr lang="en-US" sz="2200" dirty="0"/>
              <a:t>is the means by which we display a value and manipulate it. </a:t>
            </a:r>
          </a:p>
          <a:p>
            <a:pPr lvl="1" eaLnBrk="1" hangingPunct="1">
              <a:lnSpc>
                <a:spcPct val="110000"/>
              </a:lnSpc>
              <a:buClr>
                <a:schemeClr val="tx1"/>
              </a:buClr>
              <a:buSzPct val="75000"/>
            </a:pPr>
            <a:endParaRPr lang="en-US" sz="200" dirty="0"/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sz="2200" dirty="0"/>
              <a:t>A value has different representations.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sz="2200" b="1" dirty="0"/>
              <a:t>Example</a:t>
            </a:r>
            <a:r>
              <a:rPr lang="en-US" sz="2200" dirty="0"/>
              <a:t>: the numeric value “5” has more representations:</a:t>
            </a:r>
          </a:p>
          <a:p>
            <a:pPr lvl="1" eaLnBrk="1" hangingPunct="1">
              <a:lnSpc>
                <a:spcPct val="110000"/>
              </a:lnSpc>
              <a:buClr>
                <a:schemeClr val="tx1"/>
              </a:buClr>
            </a:pPr>
            <a:r>
              <a:rPr lang="en-US" sz="2200" dirty="0"/>
              <a:t> </a:t>
            </a:r>
            <a:r>
              <a:rPr lang="en-US" sz="2200" b="1" dirty="0"/>
              <a:t>5</a:t>
            </a:r>
            <a:r>
              <a:rPr lang="en-US" sz="2200" dirty="0"/>
              <a:t> (decimal system) ,  </a:t>
            </a:r>
            <a:r>
              <a:rPr lang="en-US" sz="2200" b="1" dirty="0"/>
              <a:t>V</a:t>
            </a:r>
            <a:r>
              <a:rPr lang="en-US" sz="2200" dirty="0"/>
              <a:t> (Roman system),  </a:t>
            </a:r>
            <a:r>
              <a:rPr lang="en-US" sz="2200" b="1" dirty="0"/>
              <a:t> 101</a:t>
            </a:r>
            <a:r>
              <a:rPr lang="en-US" sz="2200" dirty="0"/>
              <a:t>( binary system)</a:t>
            </a:r>
          </a:p>
          <a:p>
            <a:pPr lvl="1" eaLnBrk="1" hangingPunct="1">
              <a:lnSpc>
                <a:spcPct val="110000"/>
              </a:lnSpc>
              <a:buClr>
                <a:schemeClr val="tx1"/>
              </a:buClr>
            </a:pPr>
            <a:r>
              <a:rPr lang="en-US" sz="2200" b="1" dirty="0" err="1"/>
              <a:t>cinci</a:t>
            </a:r>
            <a:r>
              <a:rPr lang="en-US" sz="2200" b="1" dirty="0"/>
              <a:t> </a:t>
            </a:r>
            <a:r>
              <a:rPr lang="en-US" sz="2200" dirty="0"/>
              <a:t>(Romanian language),   </a:t>
            </a:r>
            <a:r>
              <a:rPr lang="en-US" sz="2200" b="1" dirty="0"/>
              <a:t>five </a:t>
            </a:r>
            <a:r>
              <a:rPr lang="en-US" sz="2200" dirty="0"/>
              <a:t>(English language)       </a:t>
            </a:r>
            <a:endParaRPr lang="ro-RO" sz="22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40067"/>
            <a:ext cx="1600200" cy="83623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33400" y="876300"/>
            <a:ext cx="6477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https://www.youtube.com/watch?v=cZH0YnFpjwU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446088" y="152400"/>
            <a:ext cx="7543800" cy="762000"/>
          </a:xfrm>
        </p:spPr>
        <p:txBody>
          <a:bodyPr/>
          <a:lstStyle/>
          <a:p>
            <a:pPr eaLnBrk="1" hangingPunct="1"/>
            <a:r>
              <a:rPr lang="en-US" sz="3600" u="sng"/>
              <a:t>Numeration systems</a:t>
            </a:r>
            <a:r>
              <a:rPr lang="en-US" sz="3600"/>
              <a:t> (contd.)</a:t>
            </a:r>
            <a:endParaRPr lang="ro-RO" sz="360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66800"/>
            <a:ext cx="8686800" cy="5638800"/>
          </a:xfrm>
        </p:spPr>
        <p:txBody>
          <a:bodyPr/>
          <a:lstStyle/>
          <a:p>
            <a:pPr lvl="1" eaLnBrk="1" hangingPunct="1">
              <a:lnSpc>
                <a:spcPct val="115000"/>
              </a:lnSpc>
              <a:buFont typeface="Wingdings" panose="05000000000000000000" pitchFamily="2" charset="2"/>
              <a:buNone/>
            </a:pPr>
            <a:r>
              <a:rPr lang="en-US" sz="2400" dirty="0"/>
              <a:t>At the mental level </a:t>
            </a:r>
            <a:r>
              <a:rPr lang="en-US" sz="2400" b="1" dirty="0"/>
              <a:t>people work</a:t>
            </a:r>
            <a:r>
              <a:rPr lang="en-US" sz="2400" dirty="0"/>
              <a:t> with </a:t>
            </a:r>
            <a:r>
              <a:rPr lang="en-US" sz="2400" b="1" dirty="0"/>
              <a:t>values</a:t>
            </a:r>
            <a:r>
              <a:rPr lang="en-US" sz="2400" dirty="0"/>
              <a:t>, but for displaying and manipulating them, different numeration systems are used (now the decimal system). </a:t>
            </a:r>
          </a:p>
          <a:p>
            <a:pPr lvl="1" eaLnBrk="1" hangingPunct="1">
              <a:lnSpc>
                <a:spcPct val="115000"/>
              </a:lnSpc>
              <a:buFont typeface="Wingdings" panose="05000000000000000000" pitchFamily="2" charset="2"/>
              <a:buNone/>
            </a:pPr>
            <a:r>
              <a:rPr lang="en-US" sz="2400" b="1" dirty="0"/>
              <a:t>Computers work</a:t>
            </a:r>
            <a:r>
              <a:rPr lang="en-US" sz="2400" dirty="0"/>
              <a:t> with </a:t>
            </a:r>
            <a:r>
              <a:rPr lang="en-US" sz="2400" b="1" dirty="0"/>
              <a:t>number representations</a:t>
            </a:r>
            <a:r>
              <a:rPr lang="en-US" sz="2400" dirty="0"/>
              <a:t> using the binary system.</a:t>
            </a:r>
          </a:p>
          <a:p>
            <a:pPr lvl="1" eaLnBrk="1" hangingPunct="1">
              <a:lnSpc>
                <a:spcPct val="115000"/>
              </a:lnSpc>
              <a:buFont typeface="Wingdings" panose="05000000000000000000" pitchFamily="2" charset="2"/>
              <a:buNone/>
            </a:pPr>
            <a:endParaRPr lang="en-US" sz="300" b="1" dirty="0"/>
          </a:p>
          <a:p>
            <a:pPr eaLnBrk="1" hangingPunct="1">
              <a:lnSpc>
                <a:spcPct val="115000"/>
              </a:lnSpc>
            </a:pPr>
            <a:r>
              <a:rPr lang="en-US" sz="2400" b="1" dirty="0"/>
              <a:t>Numeration system </a:t>
            </a:r>
            <a:r>
              <a:rPr lang="en-US" sz="2400" dirty="0"/>
              <a:t>-  </a:t>
            </a:r>
            <a:r>
              <a:rPr lang="en-US" sz="2200" dirty="0"/>
              <a:t>a set of rules for the representation and manipulation (operations) of numerical values using symbols called </a:t>
            </a:r>
            <a:r>
              <a:rPr lang="en-US" sz="2200" b="1" dirty="0"/>
              <a:t>digits</a:t>
            </a:r>
            <a:r>
              <a:rPr lang="en-US" sz="2200" dirty="0"/>
              <a:t>.</a:t>
            </a:r>
          </a:p>
          <a:p>
            <a:pPr eaLnBrk="1" hangingPunct="1"/>
            <a:r>
              <a:rPr lang="en-US" sz="2400" dirty="0"/>
              <a:t>The total number of digits is called </a:t>
            </a:r>
            <a:r>
              <a:rPr lang="en-US" sz="2400" b="1" dirty="0"/>
              <a:t>numeration base</a:t>
            </a:r>
            <a:r>
              <a:rPr lang="en-US" sz="2400" dirty="0"/>
              <a:t>(radix)</a:t>
            </a:r>
            <a:r>
              <a:rPr lang="en-US" sz="2400" b="1" dirty="0"/>
              <a:t>.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sz="10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sz="8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it-IT" sz="2400" b="1" dirty="0"/>
              <a:t>    Classification of numeration systems:</a:t>
            </a:r>
            <a:endParaRPr lang="en-US" sz="2400" dirty="0"/>
          </a:p>
          <a:p>
            <a:pPr lvl="1" eaLnBrk="1" hangingPunct="1">
              <a:buClr>
                <a:schemeClr val="tx1"/>
              </a:buClr>
              <a:buFont typeface="Wingdings" panose="05000000000000000000" pitchFamily="2" charset="2"/>
              <a:buChar char="t"/>
            </a:pPr>
            <a:r>
              <a:rPr lang="en-US" sz="2200" dirty="0"/>
              <a:t> </a:t>
            </a:r>
            <a:r>
              <a:rPr lang="en-US" sz="2200" b="1" dirty="0"/>
              <a:t>	positional systems</a:t>
            </a:r>
            <a:r>
              <a:rPr lang="en-US" sz="2200" dirty="0"/>
              <a:t> and </a:t>
            </a:r>
            <a:r>
              <a:rPr lang="en-US" sz="2200" b="1" dirty="0"/>
              <a:t>non-positional systems</a:t>
            </a:r>
            <a:endParaRPr lang="ro-RO" sz="22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40067"/>
            <a:ext cx="1600200" cy="83623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0"/>
            <a:ext cx="8229600" cy="762000"/>
          </a:xfrm>
        </p:spPr>
        <p:txBody>
          <a:bodyPr/>
          <a:lstStyle/>
          <a:p>
            <a:pPr eaLnBrk="1" hangingPunct="1"/>
            <a:r>
              <a:rPr lang="en-US" sz="2600" u="sng"/>
              <a:t>Non-positional systems</a:t>
            </a:r>
            <a:r>
              <a:rPr lang="en-US" sz="2600"/>
              <a:t>: </a:t>
            </a:r>
            <a:r>
              <a:rPr lang="en-US" sz="2600" i="1"/>
              <a:t>Roman system</a:t>
            </a:r>
            <a:r>
              <a:rPr lang="en-US" sz="2800"/>
              <a:t> </a:t>
            </a:r>
            <a:r>
              <a:rPr lang="en-US" sz="2400"/>
              <a:t>(500BC)</a:t>
            </a:r>
            <a:endParaRPr lang="ro-RO" sz="240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990600"/>
            <a:ext cx="8839200" cy="5105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200" b="1" dirty="0"/>
              <a:t>digits</a:t>
            </a:r>
            <a:r>
              <a:rPr lang="en-US" sz="2200" dirty="0"/>
              <a:t>:               I ,    V ,   X ,   L ,   C ,       D ,      M</a:t>
            </a:r>
            <a:endParaRPr lang="en-US" sz="2200" b="1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z="2200" b="1" dirty="0"/>
              <a:t>            values: </a:t>
            </a:r>
            <a:r>
              <a:rPr lang="en-US" sz="2200" dirty="0"/>
              <a:t>    1      5    10   50    100    500    1000</a:t>
            </a:r>
          </a:p>
          <a:p>
            <a:pPr eaLnBrk="1" hangingPunct="1">
              <a:lnSpc>
                <a:spcPct val="90000"/>
              </a:lnSpc>
            </a:pPr>
            <a:endParaRPr lang="en-US" sz="500" dirty="0"/>
          </a:p>
          <a:p>
            <a:pPr eaLnBrk="1" hangingPunct="1">
              <a:lnSpc>
                <a:spcPct val="90000"/>
              </a:lnSpc>
            </a:pPr>
            <a:r>
              <a:rPr lang="en-US" sz="2200" dirty="0"/>
              <a:t>each symbol (digit) represents a value </a:t>
            </a:r>
          </a:p>
          <a:p>
            <a:pPr eaLnBrk="1" hangingPunct="1">
              <a:lnSpc>
                <a:spcPct val="90000"/>
              </a:lnSpc>
            </a:pPr>
            <a:r>
              <a:rPr lang="en-US" sz="2200" dirty="0"/>
              <a:t>it is an </a:t>
            </a:r>
            <a:r>
              <a:rPr lang="en-US" sz="2200" b="1" dirty="0"/>
              <a:t>additive system</a:t>
            </a:r>
            <a:r>
              <a:rPr lang="en-US" sz="2200" dirty="0"/>
              <a:t>: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z="2200" dirty="0"/>
              <a:t>    - the value of a number representation is obtained as the 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z="2200" dirty="0"/>
              <a:t>      sum (difference) of the values of its digits according to some rules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sz="8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z="2200" b="1" dirty="0"/>
              <a:t>Disadvantages:</a:t>
            </a:r>
          </a:p>
          <a:p>
            <a:pPr eaLnBrk="1" hangingPunct="1">
              <a:lnSpc>
                <a:spcPct val="115000"/>
              </a:lnSpc>
            </a:pPr>
            <a:r>
              <a:rPr lang="en-US" sz="2200" dirty="0"/>
              <a:t>the value 0 cannot be represented</a:t>
            </a:r>
          </a:p>
          <a:p>
            <a:pPr eaLnBrk="1" hangingPunct="1">
              <a:lnSpc>
                <a:spcPct val="115000"/>
              </a:lnSpc>
            </a:pPr>
            <a:r>
              <a:rPr lang="en-US" sz="2200" dirty="0"/>
              <a:t>there are different representations of the same value </a:t>
            </a:r>
          </a:p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None/>
            </a:pPr>
            <a:r>
              <a:rPr lang="en-US" sz="2200" dirty="0"/>
              <a:t>     </a:t>
            </a:r>
            <a:r>
              <a:rPr lang="en-US" sz="2200" i="1" u="sng" dirty="0"/>
              <a:t>example</a:t>
            </a:r>
            <a:r>
              <a:rPr lang="en-US" sz="2200" u="sng" dirty="0"/>
              <a:t>:</a:t>
            </a:r>
            <a:r>
              <a:rPr lang="en-US" sz="2200" dirty="0"/>
              <a:t> </a:t>
            </a:r>
            <a:r>
              <a:rPr lang="en-US" sz="2200" b="1" dirty="0"/>
              <a:t>CDXC</a:t>
            </a:r>
            <a:r>
              <a:rPr lang="en-US" sz="2200" dirty="0"/>
              <a:t> and </a:t>
            </a:r>
            <a:r>
              <a:rPr lang="en-US" sz="2200" b="1" dirty="0"/>
              <a:t>XD</a:t>
            </a:r>
            <a:r>
              <a:rPr lang="en-US" sz="2200" dirty="0"/>
              <a:t> have the same value </a:t>
            </a:r>
            <a:r>
              <a:rPr lang="en-US" sz="2200" b="1" dirty="0"/>
              <a:t>490</a:t>
            </a:r>
          </a:p>
          <a:p>
            <a:pPr eaLnBrk="1" hangingPunct="1">
              <a:lnSpc>
                <a:spcPct val="115000"/>
              </a:lnSpc>
            </a:pPr>
            <a:r>
              <a:rPr lang="en-US" sz="2200" dirty="0"/>
              <a:t>the much greater difficulty of performing mathematical operations, such as addition, subtraction, multiplication, and division</a:t>
            </a:r>
            <a:r>
              <a:rPr lang="ro-RO" sz="2200" dirty="0"/>
              <a:t>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447800"/>
            <a:ext cx="632515" cy="79254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7543800" cy="563563"/>
          </a:xfrm>
        </p:spPr>
        <p:txBody>
          <a:bodyPr/>
          <a:lstStyle/>
          <a:p>
            <a:pPr eaLnBrk="1" hangingPunct="1"/>
            <a:r>
              <a:rPr lang="en-US" sz="2800" i="1" u="sng"/>
              <a:t>Roman system</a:t>
            </a:r>
            <a:r>
              <a:rPr lang="en-US" sz="2800" u="sng"/>
              <a:t> - rules</a:t>
            </a:r>
            <a:endParaRPr lang="ro-RO" sz="2800" u="sng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914400"/>
            <a:ext cx="8610600" cy="5867400"/>
          </a:xfrm>
        </p:spPr>
        <p:txBody>
          <a:bodyPr/>
          <a:lstStyle/>
          <a:p>
            <a:pPr eaLnBrk="1" hangingPunct="1">
              <a:buClr>
                <a:schemeClr val="tx1"/>
              </a:buClr>
              <a:buSzTx/>
              <a:buFont typeface="Wingdings" panose="05000000000000000000" pitchFamily="2" charset="2"/>
              <a:buAutoNum type="alphaLcParenR"/>
            </a:pPr>
            <a:r>
              <a:rPr lang="en-US" sz="2000" b="1" dirty="0"/>
              <a:t>the value of two or more identical consecutive digits is the sum of the values of these digits.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2000" dirty="0"/>
              <a:t>     </a:t>
            </a:r>
            <a:r>
              <a:rPr lang="en-US" sz="2000" b="1" dirty="0"/>
              <a:t>ex:    </a:t>
            </a:r>
            <a:r>
              <a:rPr lang="en-US" sz="2000" b="1" i="1" dirty="0"/>
              <a:t>numeric representations</a:t>
            </a:r>
            <a:r>
              <a:rPr lang="en-US" sz="2000" b="1" dirty="0"/>
              <a:t>:        III   ,    CCC,     MM</a:t>
            </a:r>
            <a:endParaRPr lang="en-US" sz="20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2000" dirty="0"/>
              <a:t>                             </a:t>
            </a:r>
            <a:r>
              <a:rPr lang="en-US" sz="2000" b="1" i="1" dirty="0"/>
              <a:t>numeric values</a:t>
            </a:r>
            <a:r>
              <a:rPr lang="en-US" sz="2000" b="1" dirty="0"/>
              <a:t>:         3   ,     300,     2000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sz="500" b="1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2000" dirty="0"/>
              <a:t>b) the value of a pair of different digits, with the biggest one in front of the other is the sum of these two digits values: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2000" dirty="0"/>
              <a:t>    </a:t>
            </a:r>
            <a:r>
              <a:rPr lang="it-IT" sz="2000" b="1" dirty="0"/>
              <a:t>ex: </a:t>
            </a:r>
            <a:r>
              <a:rPr lang="it-IT" sz="2000" b="1" i="1" dirty="0"/>
              <a:t>numeric representations</a:t>
            </a:r>
            <a:r>
              <a:rPr lang="it-IT" sz="2000" b="1" dirty="0"/>
              <a:t>: VI  ,          CL                   MD </a:t>
            </a:r>
            <a:r>
              <a:rPr lang="it-IT" sz="2000" dirty="0"/>
              <a:t>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it-IT" sz="2000" dirty="0"/>
              <a:t>                   </a:t>
            </a:r>
            <a:r>
              <a:rPr lang="en-US" sz="2000" b="1" i="1" dirty="0"/>
              <a:t>numeric values</a:t>
            </a:r>
            <a:r>
              <a:rPr lang="en-US" sz="2000" b="1" dirty="0"/>
              <a:t>:  5+1=6 ,  100+50=150,  1000+500=1500 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sz="700" b="1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2000" dirty="0"/>
              <a:t>c)  </a:t>
            </a:r>
            <a:r>
              <a:rPr lang="en-US" sz="2000" b="1" dirty="0"/>
              <a:t>the value of a pair of different digits, with the smallest one in front of the other is the difference of these two digits values: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2000" b="1" dirty="0"/>
              <a:t>     ex: </a:t>
            </a:r>
            <a:r>
              <a:rPr lang="en-US" sz="2000" b="1" i="1" dirty="0"/>
              <a:t>numeric representations</a:t>
            </a:r>
            <a:r>
              <a:rPr lang="en-US" sz="2000" b="1" dirty="0"/>
              <a:t>:        XC   ,       IX    ,            CM   </a:t>
            </a:r>
            <a:endParaRPr lang="en-US" sz="20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2000" dirty="0"/>
              <a:t>                    </a:t>
            </a:r>
            <a:r>
              <a:rPr lang="en-US" sz="2000" b="1" i="1" dirty="0"/>
              <a:t>numeric values</a:t>
            </a:r>
            <a:r>
              <a:rPr lang="en-US" sz="2000" b="1" dirty="0"/>
              <a:t>:     100-10=90,   10-1=9 , 1000-100=900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sz="7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2000" dirty="0"/>
              <a:t>d) </a:t>
            </a:r>
            <a:r>
              <a:rPr lang="en-US" sz="2000" b="1" dirty="0"/>
              <a:t>for big numbers a horizontal line over the digit is used,  meaning the  multiplication of  the digit’s value with 1000: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2000" b="1" dirty="0"/>
              <a:t>    ex: the numeric value of        is   5000</a:t>
            </a:r>
            <a:endParaRPr lang="ro-RO" sz="2000" b="1" dirty="0"/>
          </a:p>
        </p:txBody>
      </p:sp>
      <p:sp>
        <p:nvSpPr>
          <p:cNvPr id="6148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sz="1800"/>
          </a:p>
        </p:txBody>
      </p:sp>
      <p:pic>
        <p:nvPicPr>
          <p:cNvPr id="6149" name="Picture 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6172200"/>
            <a:ext cx="219075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39084"/>
            <a:ext cx="1600200" cy="83623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838200"/>
            <a:ext cx="7696200" cy="685800"/>
          </a:xfrm>
        </p:spPr>
        <p:txBody>
          <a:bodyPr/>
          <a:lstStyle/>
          <a:p>
            <a:pPr eaLnBrk="1" hangingPunct="1"/>
            <a:r>
              <a:rPr lang="en-US" sz="2800" u="sng" dirty="0"/>
              <a:t>Positional systems</a:t>
            </a:r>
            <a:r>
              <a:rPr lang="en-US" sz="2800" dirty="0"/>
              <a:t>:  </a:t>
            </a:r>
            <a:br>
              <a:rPr lang="en-US" sz="2800" dirty="0"/>
            </a:br>
            <a:r>
              <a:rPr lang="en-US" sz="2800" dirty="0"/>
              <a:t>        </a:t>
            </a:r>
            <a:r>
              <a:rPr lang="en-US" sz="2800" i="1" dirty="0"/>
              <a:t>Hindu-Arabic numeration systems </a:t>
            </a:r>
            <a:r>
              <a:rPr lang="en-US" sz="2800" dirty="0"/>
              <a:t> </a:t>
            </a:r>
            <a:endParaRPr lang="ro-RO" sz="2800" dirty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381" y="1717295"/>
            <a:ext cx="8763000" cy="4833938"/>
          </a:xfrm>
        </p:spPr>
        <p:txBody>
          <a:bodyPr/>
          <a:lstStyle/>
          <a:p>
            <a:pPr eaLnBrk="1" hangingPunct="1">
              <a:lnSpc>
                <a:spcPct val="125000"/>
              </a:lnSpc>
            </a:pPr>
            <a:r>
              <a:rPr lang="en-US" sz="2200" dirty="0"/>
              <a:t>the position of a digit in a representation implies an association with a “positional value”</a:t>
            </a:r>
          </a:p>
          <a:p>
            <a:pPr eaLnBrk="1" hangingPunct="1">
              <a:lnSpc>
                <a:spcPct val="125000"/>
              </a:lnSpc>
            </a:pPr>
            <a:endParaRPr lang="en-US" sz="400" dirty="0"/>
          </a:p>
          <a:p>
            <a:pPr eaLnBrk="1" hangingPunct="1">
              <a:lnSpc>
                <a:spcPct val="125000"/>
              </a:lnSpc>
            </a:pPr>
            <a:r>
              <a:rPr lang="en-US" sz="2200" dirty="0"/>
              <a:t>the numeric value is the sum of the positional values of all the digits from the representation</a:t>
            </a:r>
            <a:endParaRPr lang="it-IT" sz="2200" dirty="0"/>
          </a:p>
          <a:p>
            <a:pPr lvl="1" eaLnBrk="1" hangingPunct="1">
              <a:lnSpc>
                <a:spcPct val="125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it-IT" sz="2200" u="sng" dirty="0"/>
              <a:t>binary system</a:t>
            </a:r>
            <a:r>
              <a:rPr lang="it-IT" sz="2200" dirty="0"/>
              <a:t>:             base =  2, digits : 0,1 , </a:t>
            </a:r>
            <a:r>
              <a:rPr lang="it-IT" sz="2200" b="1" dirty="0"/>
              <a:t>ex</a:t>
            </a:r>
            <a:r>
              <a:rPr lang="it-IT" sz="2200" dirty="0"/>
              <a:t>:  </a:t>
            </a:r>
            <a:r>
              <a:rPr lang="it-IT" sz="2200" b="1" dirty="0"/>
              <a:t>11001</a:t>
            </a:r>
            <a:r>
              <a:rPr lang="it-IT" sz="1200" b="1" dirty="0"/>
              <a:t>(2)</a:t>
            </a:r>
          </a:p>
          <a:p>
            <a:pPr lvl="1" eaLnBrk="1" hangingPunct="1">
              <a:lnSpc>
                <a:spcPct val="125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it-IT" sz="2200" u="sng" dirty="0"/>
              <a:t>octal system</a:t>
            </a:r>
            <a:r>
              <a:rPr lang="it-IT" sz="2200" dirty="0"/>
              <a:t>:               base =  8, digits: 0-7,  </a:t>
            </a:r>
            <a:r>
              <a:rPr lang="it-IT" sz="2200" b="1" dirty="0"/>
              <a:t>ex:</a:t>
            </a:r>
            <a:r>
              <a:rPr lang="it-IT" sz="2200" dirty="0"/>
              <a:t> </a:t>
            </a:r>
            <a:r>
              <a:rPr lang="it-IT" sz="2200" b="1" dirty="0"/>
              <a:t>7564</a:t>
            </a:r>
            <a:r>
              <a:rPr lang="it-IT" sz="1200" dirty="0"/>
              <a:t>(8)</a:t>
            </a:r>
            <a:endParaRPr lang="it-IT" sz="1200" b="1" dirty="0"/>
          </a:p>
          <a:p>
            <a:pPr lvl="1" eaLnBrk="1" hangingPunct="1">
              <a:lnSpc>
                <a:spcPct val="125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pt-BR" sz="2200" u="sng" dirty="0"/>
              <a:t>decimal system</a:t>
            </a:r>
            <a:r>
              <a:rPr lang="pt-BR" sz="2200" dirty="0"/>
              <a:t>(1800BC) base =10, digits: 0-9,  </a:t>
            </a:r>
            <a:r>
              <a:rPr lang="pt-BR" sz="2200" b="1" dirty="0"/>
              <a:t>ex</a:t>
            </a:r>
            <a:r>
              <a:rPr lang="pt-BR" sz="2200" dirty="0"/>
              <a:t>: </a:t>
            </a:r>
            <a:r>
              <a:rPr lang="pt-BR" sz="2200" b="1" dirty="0"/>
              <a:t>2343</a:t>
            </a:r>
          </a:p>
          <a:p>
            <a:pPr lvl="1" eaLnBrk="1" hangingPunct="1">
              <a:lnSpc>
                <a:spcPct val="125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pt-BR" sz="2200" u="sng" dirty="0"/>
              <a:t>hexadecimal system</a:t>
            </a:r>
            <a:r>
              <a:rPr lang="pt-BR" sz="2200" dirty="0"/>
              <a:t>:  base =16, digits: 0-9,A,B,C,D,E,F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sz="2200" dirty="0"/>
              <a:t>         where:  A</a:t>
            </a:r>
            <a:r>
              <a:rPr lang="en-US" sz="1200" dirty="0"/>
              <a:t>(16)</a:t>
            </a:r>
            <a:r>
              <a:rPr lang="en-US" sz="2200" dirty="0"/>
              <a:t>=10, B</a:t>
            </a:r>
            <a:r>
              <a:rPr lang="en-US" sz="1200" dirty="0"/>
              <a:t>(16)</a:t>
            </a:r>
            <a:r>
              <a:rPr lang="en-US" sz="2200" dirty="0"/>
              <a:t> =11, C</a:t>
            </a:r>
            <a:r>
              <a:rPr lang="en-US" sz="1200" dirty="0"/>
              <a:t>(16)</a:t>
            </a:r>
            <a:r>
              <a:rPr lang="en-US" sz="2200" dirty="0"/>
              <a:t>=12, D</a:t>
            </a:r>
            <a:r>
              <a:rPr lang="en-US" sz="1200" dirty="0"/>
              <a:t>(16)</a:t>
            </a:r>
            <a:r>
              <a:rPr lang="en-US" sz="2200" dirty="0"/>
              <a:t>=13, E</a:t>
            </a:r>
            <a:r>
              <a:rPr lang="en-US" sz="1200" dirty="0"/>
              <a:t>(16)</a:t>
            </a:r>
            <a:r>
              <a:rPr lang="en-US" sz="2200" dirty="0"/>
              <a:t>=14, F</a:t>
            </a:r>
            <a:r>
              <a:rPr lang="en-US" sz="1200" dirty="0"/>
              <a:t>(16)</a:t>
            </a:r>
            <a:r>
              <a:rPr lang="en-US" sz="2200" dirty="0"/>
              <a:t>=15,   </a:t>
            </a:r>
            <a:r>
              <a:rPr lang="en-US" sz="2200" b="1" dirty="0"/>
              <a:t>                   	example: 2AF</a:t>
            </a:r>
            <a:r>
              <a:rPr lang="en-US" sz="1200" b="1" dirty="0"/>
              <a:t>(16)</a:t>
            </a:r>
            <a:r>
              <a:rPr lang="en-US" sz="2200" dirty="0"/>
              <a:t> </a:t>
            </a:r>
            <a:endParaRPr lang="ro-RO" sz="22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0" y="0"/>
            <a:ext cx="1600200" cy="83623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30"/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1020762"/>
          </a:xfrm>
        </p:spPr>
        <p:txBody>
          <a:bodyPr/>
          <a:lstStyle/>
          <a:p>
            <a:pPr eaLnBrk="1" hangingPunct="1"/>
            <a:r>
              <a:rPr lang="en-US" sz="3200"/>
              <a:t>Examples</a:t>
            </a:r>
            <a:endParaRPr lang="ro-RO" sz="3200"/>
          </a:p>
        </p:txBody>
      </p:sp>
      <p:graphicFrame>
        <p:nvGraphicFramePr>
          <p:cNvPr id="25638" name="Group 38"/>
          <p:cNvGraphicFramePr>
            <a:graphicFrameLocks noGrp="1"/>
          </p:cNvGraphicFramePr>
          <p:nvPr>
            <p:ph idx="1"/>
          </p:nvPr>
        </p:nvGraphicFramePr>
        <p:xfrm>
          <a:off x="304800" y="1447800"/>
          <a:ext cx="8686800" cy="4953000"/>
        </p:xfrm>
        <a:graphic>
          <a:graphicData uri="http://schemas.openxmlformats.org/drawingml/2006/table">
            <a:tbl>
              <a:tblPr/>
              <a:tblGrid>
                <a:gridCol w="868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780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49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227" name="Text Box 40"/>
          <p:cNvSpPr txBox="1">
            <a:spLocks noChangeArrowheads="1"/>
          </p:cNvSpPr>
          <p:nvPr/>
        </p:nvSpPr>
        <p:spPr bwMode="auto">
          <a:xfrm>
            <a:off x="381000" y="4114800"/>
            <a:ext cx="6172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en-US" sz="1800"/>
          </a:p>
        </p:txBody>
      </p:sp>
      <p:pic>
        <p:nvPicPr>
          <p:cNvPr id="9228" name="Picture 4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4114800"/>
            <a:ext cx="7772400" cy="2106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9" name="Picture 4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600200"/>
            <a:ext cx="7848600" cy="206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2800" y="350451"/>
            <a:ext cx="632515" cy="79254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944562"/>
          </a:xfrm>
        </p:spPr>
        <p:txBody>
          <a:bodyPr/>
          <a:lstStyle/>
          <a:p>
            <a:pPr eaLnBrk="1" hangingPunct="1"/>
            <a:r>
              <a:rPr lang="en-US" sz="3200"/>
              <a:t>Examples</a:t>
            </a:r>
            <a:endParaRPr lang="ro-RO" sz="3200"/>
          </a:p>
        </p:txBody>
      </p:sp>
      <p:graphicFrame>
        <p:nvGraphicFramePr>
          <p:cNvPr id="28694" name="Group 22"/>
          <p:cNvGraphicFramePr>
            <a:graphicFrameLocks noGrp="1"/>
          </p:cNvGraphicFramePr>
          <p:nvPr>
            <p:ph idx="1"/>
          </p:nvPr>
        </p:nvGraphicFramePr>
        <p:xfrm>
          <a:off x="0" y="1447800"/>
          <a:ext cx="9144000" cy="4683126"/>
        </p:xfrm>
        <a:graphic>
          <a:graphicData uri="http://schemas.openxmlformats.org/drawingml/2006/table">
            <a:tbl>
              <a:tblPr/>
              <a:tblGrid>
                <a:gridCol w="914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415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15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0251" name="Picture 2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524000"/>
            <a:ext cx="6934200" cy="210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52" name="Picture 2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788" y="3962400"/>
            <a:ext cx="8812212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394901"/>
            <a:ext cx="632515" cy="79254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201" y="838200"/>
            <a:ext cx="8785225" cy="582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1800" y="45651"/>
            <a:ext cx="632515" cy="792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1291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914400"/>
            <a:ext cx="8153400" cy="43910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21851"/>
            <a:ext cx="632515" cy="792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8413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75" y="276225"/>
            <a:ext cx="8782050" cy="627697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381000"/>
            <a:ext cx="632515" cy="792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9714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1750"/>
            <a:ext cx="7543800" cy="639763"/>
          </a:xfrm>
        </p:spPr>
        <p:txBody>
          <a:bodyPr/>
          <a:lstStyle/>
          <a:p>
            <a:pPr eaLnBrk="1" hangingPunct="1"/>
            <a:r>
              <a:rPr lang="en-US" sz="2800" u="sng"/>
              <a:t>Correspondence table</a:t>
            </a:r>
            <a:r>
              <a:rPr lang="en-US" sz="2800"/>
              <a:t> – bases: 10,2,4,8,16 </a:t>
            </a:r>
            <a:endParaRPr lang="ro-RO" sz="2800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42204"/>
            <a:ext cx="7772400" cy="4672821"/>
          </a:xfrm>
        </p:spPr>
        <p:txBody>
          <a:bodyPr/>
          <a:lstStyle/>
          <a:p>
            <a:pPr eaLnBrk="1" hangingPunct="1"/>
            <a:endParaRPr lang="en-US" dirty="0"/>
          </a:p>
        </p:txBody>
      </p:sp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121" y="1143000"/>
            <a:ext cx="7924800" cy="477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8642" y="1600200"/>
            <a:ext cx="632515" cy="79254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3813"/>
            <a:ext cx="7543800" cy="1036637"/>
          </a:xfrm>
        </p:spPr>
        <p:txBody>
          <a:bodyPr/>
          <a:lstStyle/>
          <a:p>
            <a:pPr eaLnBrk="1" hangingPunct="1"/>
            <a:r>
              <a:rPr lang="en-US" sz="2800" u="sng"/>
              <a:t>Rapid conversions</a:t>
            </a:r>
            <a:r>
              <a:rPr lang="en-US" sz="2800"/>
              <a:t>:</a:t>
            </a:r>
            <a:br>
              <a:rPr lang="en-US" sz="2800"/>
            </a:br>
            <a:r>
              <a:rPr lang="en-US" sz="2800"/>
              <a:t>         conversions between bases: 2,4,8,16</a:t>
            </a:r>
            <a:endParaRPr lang="ro-RO" sz="2800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447800"/>
            <a:ext cx="8458200" cy="4419600"/>
          </a:xfrm>
        </p:spPr>
        <p:txBody>
          <a:bodyPr/>
          <a:lstStyle/>
          <a:p>
            <a:pPr eaLnBrk="1" hangingPunct="1"/>
            <a:endParaRPr lang="en-US" dirty="0"/>
          </a:p>
        </p:txBody>
      </p:sp>
      <p:pic>
        <p:nvPicPr>
          <p:cNvPr id="13316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604" y="1306902"/>
            <a:ext cx="8628062" cy="4783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3270" y="1295400"/>
            <a:ext cx="632515" cy="79254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2438" y="-274638"/>
            <a:ext cx="7543800" cy="1019176"/>
          </a:xfrm>
        </p:spPr>
        <p:txBody>
          <a:bodyPr/>
          <a:lstStyle/>
          <a:p>
            <a:pPr eaLnBrk="1" hangingPunct="1"/>
            <a:r>
              <a:rPr lang="en-US" sz="2800" u="sng"/>
              <a:t>Rapid conversions</a:t>
            </a:r>
            <a:r>
              <a:rPr lang="en-US" sz="2800"/>
              <a:t> (contd.)</a:t>
            </a:r>
            <a:endParaRPr lang="ro-RO" sz="2800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  <p:pic>
        <p:nvPicPr>
          <p:cNvPr id="1434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069975"/>
            <a:ext cx="8077200" cy="5060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0" y="71023"/>
            <a:ext cx="1600200" cy="83623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1096962"/>
          </a:xfrm>
        </p:spPr>
        <p:txBody>
          <a:bodyPr/>
          <a:lstStyle/>
          <a:p>
            <a:pPr eaLnBrk="1" hangingPunct="1"/>
            <a:r>
              <a:rPr lang="en-US" sz="3200" u="sng"/>
              <a:t>Conversion methods</a:t>
            </a:r>
            <a:endParaRPr lang="ro-RO" sz="3200" u="sng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19263"/>
            <a:ext cx="8686800" cy="4757737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sz="2400" b="1"/>
              <a:t>Conversions between arbitrary numeration bases for real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2400" b="1"/>
              <a:t>numbers: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2400" b="1"/>
              <a:t>          </a:t>
            </a:r>
            <a:r>
              <a:rPr lang="en-US" sz="2400" b="1" i="1"/>
              <a:t>N</a:t>
            </a:r>
            <a:r>
              <a:rPr lang="en-US" sz="1600" b="1"/>
              <a:t>(</a:t>
            </a:r>
            <a:r>
              <a:rPr lang="en-US" sz="1600" b="1" i="1"/>
              <a:t>b</a:t>
            </a:r>
            <a:r>
              <a:rPr lang="en-US" sz="1600" b="1"/>
              <a:t>)</a:t>
            </a:r>
            <a:r>
              <a:rPr lang="en-US" sz="2400" b="1"/>
              <a:t> = </a:t>
            </a:r>
            <a:r>
              <a:rPr lang="en-US" sz="2400" b="1" i="1"/>
              <a:t>N’</a:t>
            </a:r>
            <a:r>
              <a:rPr lang="en-US" sz="1600" b="1"/>
              <a:t>(</a:t>
            </a:r>
            <a:r>
              <a:rPr lang="en-US" sz="1600" b="1" i="1"/>
              <a:t>h</a:t>
            </a:r>
            <a:r>
              <a:rPr lang="en-US" sz="1600" b="1"/>
              <a:t>)</a:t>
            </a:r>
            <a:r>
              <a:rPr lang="en-US" sz="2400" b="1"/>
              <a:t>,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2400" b="1"/>
              <a:t>   </a:t>
            </a:r>
            <a:r>
              <a:rPr lang="en-US" sz="2400" b="1" i="1"/>
              <a:t>b</a:t>
            </a:r>
            <a:r>
              <a:rPr lang="en-US" sz="2400" b="1"/>
              <a:t>- source base,  </a:t>
            </a:r>
            <a:r>
              <a:rPr lang="en-US" sz="2400" b="1" i="1"/>
              <a:t>h</a:t>
            </a:r>
            <a:r>
              <a:rPr lang="en-US" sz="2400" b="1"/>
              <a:t>- destination base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sz="1000" b="1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it-IT" sz="2400" b="1"/>
              <a:t>1. the </a:t>
            </a:r>
            <a:r>
              <a:rPr lang="it-IT" sz="2400" b="1" i="1"/>
              <a:t>substitution method</a:t>
            </a:r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sz="1000" b="1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2400" b="1"/>
              <a:t>2. the </a:t>
            </a:r>
            <a:r>
              <a:rPr lang="en-US" sz="2400" b="1" i="1"/>
              <a:t>method of successive divisions/multiplications</a:t>
            </a:r>
          </a:p>
          <a:p>
            <a:pPr eaLnBrk="1" hangingPunct="1">
              <a:buFont typeface="Wingdings" panose="05000000000000000000" pitchFamily="2" charset="2"/>
              <a:buChar char="Ø"/>
            </a:pPr>
            <a:endParaRPr lang="en-US" sz="1000" b="1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2400" b="1"/>
              <a:t>3. the </a:t>
            </a:r>
            <a:r>
              <a:rPr lang="en-US" sz="2400" b="1" i="1"/>
              <a:t>method</a:t>
            </a:r>
            <a:r>
              <a:rPr lang="en-US" sz="2400" b="1"/>
              <a:t> that </a:t>
            </a:r>
            <a:r>
              <a:rPr lang="en-US" sz="2400" b="1" i="1"/>
              <a:t>uses an intermediate base</a:t>
            </a:r>
            <a:endParaRPr lang="ro-RO" sz="2400" b="1" i="1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344056"/>
            <a:ext cx="1600200" cy="83623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366713" y="228600"/>
            <a:ext cx="7543800" cy="1295400"/>
          </a:xfrm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  <p:pic>
        <p:nvPicPr>
          <p:cNvPr id="1638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713" y="304800"/>
            <a:ext cx="8629650" cy="590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7180" y="25940"/>
            <a:ext cx="632515" cy="79254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715962"/>
          </a:xfrm>
        </p:spPr>
        <p:txBody>
          <a:bodyPr/>
          <a:lstStyle/>
          <a:p>
            <a:pPr eaLnBrk="1" hangingPunct="1"/>
            <a:r>
              <a:rPr lang="en-US" sz="3200" i="1" u="sng"/>
              <a:t>Substitution method</a:t>
            </a:r>
            <a:r>
              <a:rPr lang="en-US" sz="3200"/>
              <a:t> - examples</a:t>
            </a:r>
            <a:endParaRPr lang="ro-RO" sz="3200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229600" cy="53340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800" y="179001"/>
            <a:ext cx="632515" cy="792549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272" y="1219200"/>
            <a:ext cx="8515728" cy="50673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600" u="sng" dirty="0"/>
              <a:t>2. The method of </a:t>
            </a:r>
            <a:br>
              <a:rPr lang="en-US" sz="2600" u="sng" dirty="0"/>
            </a:br>
            <a:r>
              <a:rPr lang="en-US" sz="2600" dirty="0"/>
              <a:t>    </a:t>
            </a:r>
            <a:r>
              <a:rPr lang="en-US" sz="2600" i="1" u="sng" dirty="0"/>
              <a:t>successive divisions and multiplications</a:t>
            </a:r>
            <a:endParaRPr lang="ro-RO" sz="2600" i="1" u="sng" dirty="0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3048000"/>
            <a:ext cx="8763000" cy="3082925"/>
          </a:xfrm>
        </p:spPr>
        <p:txBody>
          <a:bodyPr/>
          <a:lstStyle/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sz="2200" dirty="0"/>
              <a:t>it is recommended for </a:t>
            </a:r>
            <a:r>
              <a:rPr lang="en-US" sz="2200" b="1" i="1" dirty="0"/>
              <a:t>b </a:t>
            </a:r>
            <a:r>
              <a:rPr lang="en-US" sz="2200" dirty="0"/>
              <a:t>&gt; </a:t>
            </a:r>
            <a:r>
              <a:rPr lang="en-US" sz="2200" b="1" i="1" dirty="0"/>
              <a:t>h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sz="2200" dirty="0"/>
              <a:t>calculations are performed in the source base (</a:t>
            </a:r>
            <a:r>
              <a:rPr lang="en-US" sz="2200" b="1" i="1" dirty="0"/>
              <a:t>b</a:t>
            </a:r>
            <a:r>
              <a:rPr lang="en-US" sz="2200" dirty="0"/>
              <a:t>)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sz="2200" dirty="0"/>
              <a:t>for the integer part the method of </a:t>
            </a:r>
            <a:r>
              <a:rPr lang="en-US" sz="2200" b="1" i="1" dirty="0"/>
              <a:t>successive divisions</a:t>
            </a:r>
            <a:r>
              <a:rPr lang="en-US" sz="2200" dirty="0"/>
              <a:t> by the destination base (</a:t>
            </a:r>
            <a:r>
              <a:rPr lang="en-US" sz="2200" b="1" i="1" dirty="0"/>
              <a:t>h</a:t>
            </a:r>
            <a:r>
              <a:rPr lang="en-US" sz="2200" dirty="0"/>
              <a:t>) is applied</a:t>
            </a:r>
          </a:p>
          <a:p>
            <a:pPr eaLnBrk="1" hangingPunct="1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sz="2200" dirty="0"/>
              <a:t>for the fractional part we apply a complementary method: </a:t>
            </a:r>
            <a:r>
              <a:rPr lang="en-US" sz="2200" b="1" i="1" dirty="0"/>
              <a:t>successive multiplications </a:t>
            </a:r>
            <a:r>
              <a:rPr lang="en-US" sz="2200" dirty="0"/>
              <a:t>by the destination base (</a:t>
            </a:r>
            <a:r>
              <a:rPr lang="en-US" sz="2200" b="1" i="1" dirty="0"/>
              <a:t>h</a:t>
            </a:r>
            <a:r>
              <a:rPr lang="en-US" sz="2200" dirty="0"/>
              <a:t>)</a:t>
            </a:r>
            <a:endParaRPr lang="ro-RO" sz="2200" dirty="0"/>
          </a:p>
        </p:txBody>
      </p:sp>
      <p:pic>
        <p:nvPicPr>
          <p:cNvPr id="1843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752600"/>
            <a:ext cx="8610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0"/>
            <a:ext cx="1600200" cy="83623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3"/>
          <p:cNvSpPr>
            <a:spLocks noGrp="1" noChangeArrowheads="1"/>
          </p:cNvSpPr>
          <p:nvPr>
            <p:ph type="title"/>
          </p:nvPr>
        </p:nvSpPr>
        <p:spPr>
          <a:xfrm>
            <a:off x="381000" y="-304800"/>
            <a:ext cx="7543800" cy="1020763"/>
          </a:xfrm>
        </p:spPr>
        <p:txBody>
          <a:bodyPr/>
          <a:lstStyle/>
          <a:p>
            <a:pPr eaLnBrk="1" hangingPunct="1"/>
            <a:r>
              <a:rPr lang="en-US" sz="2800" u="sng"/>
              <a:t>The method of s</a:t>
            </a:r>
            <a:r>
              <a:rPr lang="en-US" sz="2800" i="1" u="sng"/>
              <a:t>uccessive divisions</a:t>
            </a:r>
            <a:endParaRPr lang="ro-RO" sz="2800" i="1" u="sng"/>
          </a:p>
        </p:txBody>
      </p:sp>
      <p:graphicFrame>
        <p:nvGraphicFramePr>
          <p:cNvPr id="44071" name="Group 39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27685630"/>
              </p:ext>
            </p:extLst>
          </p:nvPr>
        </p:nvGraphicFramePr>
        <p:xfrm>
          <a:off x="228600" y="1143000"/>
          <a:ext cx="8458200" cy="4743450"/>
        </p:xfrm>
        <a:graphic>
          <a:graphicData uri="http://schemas.openxmlformats.org/drawingml/2006/table">
            <a:tbl>
              <a:tblPr/>
              <a:tblGrid>
                <a:gridCol w="533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24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43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Char char="Ø"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the integer part is divided by </a:t>
                      </a:r>
                      <a:r>
                        <a:rPr kumimoji="0" lang="en-US" sz="22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</a:t>
                      </a: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(destination base) obtaining a quotient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and a remainder.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Char char="Ø"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the quotient is divided by </a:t>
                      </a:r>
                      <a:r>
                        <a:rPr kumimoji="0" lang="en-US" sz="22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</a:t>
                      </a: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obtaining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 a new quotient and </a:t>
                      </a: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 new remainder…</a:t>
                      </a:r>
                      <a:endParaRPr kumimoji="0" lang="en-US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Char char="Ø"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the process of successive divisions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 ends when 0 is obtained as quotient.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Char char="Ø"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the remainders, in the reverse order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  of obtaining them, are the digits of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  the new representation in base </a:t>
                      </a:r>
                      <a:r>
                        <a:rPr kumimoji="0" lang="en-US" sz="22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</a:t>
                      </a:r>
                      <a:r>
                        <a:rPr kumimoji="0" lang="en-US" sz="2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.</a:t>
                      </a: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ro-RO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9467" name="Picture 1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2209800"/>
            <a:ext cx="2728913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3"/>
          <p:cNvSpPr>
            <a:spLocks noGrp="1" noChangeArrowheads="1"/>
          </p:cNvSpPr>
          <p:nvPr>
            <p:ph type="title"/>
          </p:nvPr>
        </p:nvSpPr>
        <p:spPr>
          <a:xfrm>
            <a:off x="228600" y="122238"/>
            <a:ext cx="7772400" cy="411162"/>
          </a:xfrm>
        </p:spPr>
        <p:txBody>
          <a:bodyPr/>
          <a:lstStyle/>
          <a:p>
            <a:pPr eaLnBrk="1" hangingPunct="1"/>
            <a:r>
              <a:rPr lang="en-US" sz="2800"/>
              <a:t>The method of </a:t>
            </a:r>
            <a:r>
              <a:rPr lang="en-US" sz="2800" i="1"/>
              <a:t>successive multiplications</a:t>
            </a:r>
            <a:endParaRPr lang="ro-RO" sz="2800" i="1"/>
          </a:p>
        </p:txBody>
      </p:sp>
      <p:graphicFrame>
        <p:nvGraphicFramePr>
          <p:cNvPr id="46124" name="Group 44"/>
          <p:cNvGraphicFramePr>
            <a:graphicFrameLocks noGrp="1"/>
          </p:cNvGraphicFramePr>
          <p:nvPr>
            <p:ph idx="1"/>
          </p:nvPr>
        </p:nvGraphicFramePr>
        <p:xfrm>
          <a:off x="0" y="685800"/>
          <a:ext cx="8915400" cy="6400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0">
                <a:tc>
                  <a:txBody>
                    <a:bodyPr/>
                    <a:lstStyle/>
                    <a:p>
                      <a:pPr marL="344488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0000"/>
                        <a:buFont typeface="Wingdings" pitchFamily="2" charset="2"/>
                        <a:buChar char="Ø"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the fractional part is multiplied by </a:t>
                      </a:r>
                      <a:r>
                        <a:rPr kumimoji="0" lang="en-US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  <a:p>
                      <a:pPr marL="344488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 obtaining a number with an integer part</a:t>
                      </a:r>
                    </a:p>
                    <a:p>
                      <a:pPr marL="344488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 and a fractional one;</a:t>
                      </a:r>
                    </a:p>
                    <a:p>
                      <a:pPr marL="344488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0000"/>
                        <a:buFont typeface="Wingdings" pitchFamily="2" charset="2"/>
                        <a:buChar char="Ø"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we continue with the multiplication of</a:t>
                      </a:r>
                    </a:p>
                    <a:p>
                      <a:pPr marL="344488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 this new fractional part,...</a:t>
                      </a:r>
                    </a:p>
                    <a:p>
                      <a:pPr marL="344488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0000"/>
                        <a:buFont typeface="Wingdings" pitchFamily="2" charset="2"/>
                        <a:buChar char="Ø"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the process of the successive</a:t>
                      </a:r>
                    </a:p>
                    <a:p>
                      <a:pPr marL="344488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 multiplications continues until one of</a:t>
                      </a:r>
                    </a:p>
                    <a:p>
                      <a:pPr marL="344488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 the following conditions is satisfied: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        a)  the fractional part becomes 0;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        b)  an established number of digits of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             the fractional part were calculated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        </a:t>
                      </a:r>
                      <a:r>
                        <a:rPr kumimoji="0" 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c)  periodicity is obtained.</a:t>
                      </a:r>
                      <a:endParaRPr kumimoji="0" lang="ro-RO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344488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0000"/>
                        <a:buFont typeface="Wingdings" pitchFamily="2" charset="2"/>
                        <a:buChar char="Ø"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the integer parts, in the order of </a:t>
                      </a:r>
                    </a:p>
                    <a:p>
                      <a:pPr marL="344488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 obtaining them are the digits of the</a:t>
                      </a:r>
                    </a:p>
                    <a:p>
                      <a:pPr marL="344488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 fractional part in the destination</a:t>
                      </a:r>
                    </a:p>
                    <a:p>
                      <a:pPr marL="344488" marR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 representation.  </a:t>
                      </a:r>
                      <a:endParaRPr kumimoji="0" lang="ro-RO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ro-RO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Example</a:t>
                      </a: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: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0,17 =?</a:t>
                      </a: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(5)</a:t>
                      </a: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0,17*5 = </a:t>
                      </a: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Arial" charset="0"/>
                        </a:rPr>
                        <a:t>,</a:t>
                      </a: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85</a:t>
                      </a:r>
                      <a:endParaRPr kumimoji="0" lang="it-IT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0,85*5 = </a:t>
                      </a:r>
                      <a:r>
                        <a:rPr kumimoji="0" lang="it-IT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Arial" charset="0"/>
                        </a:rPr>
                        <a:t>4</a:t>
                      </a:r>
                      <a:r>
                        <a:rPr kumimoji="0" lang="it-IT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,25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0,25*5 = </a:t>
                      </a:r>
                      <a:r>
                        <a:rPr kumimoji="0" lang="it-IT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it-IT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,25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0,25*5 = </a:t>
                      </a:r>
                      <a:r>
                        <a:rPr kumimoji="0" lang="it-IT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Arial" charset="0"/>
                        </a:rPr>
                        <a:t>1</a:t>
                      </a:r>
                      <a:r>
                        <a:rPr kumimoji="0" lang="it-IT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,</a:t>
                      </a:r>
                      <a:r>
                        <a:rPr kumimoji="0" lang="it-IT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25   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!!! periodicity.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0,17=0,</a:t>
                      </a:r>
                      <a:r>
                        <a:rPr kumimoji="0" lang="it-IT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Arial" charset="0"/>
                        </a:rPr>
                        <a:t>04(1)</a:t>
                      </a:r>
                      <a:r>
                        <a:rPr kumimoji="0" lang="it-IT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(5)</a:t>
                      </a:r>
                      <a:r>
                        <a:rPr kumimoji="0" lang="it-IT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,</a:t>
                      </a:r>
                      <a:r>
                        <a:rPr kumimoji="0" lang="en-US" sz="5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endParaRPr kumimoji="0" lang="ro-RO" sz="5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it-IT" sz="5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ro-RO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46038"/>
            <a:ext cx="8382000" cy="1020762"/>
          </a:xfrm>
        </p:spPr>
        <p:txBody>
          <a:bodyPr/>
          <a:lstStyle/>
          <a:p>
            <a:pPr eaLnBrk="1" hangingPunct="1"/>
            <a:r>
              <a:rPr lang="en-US" sz="2800"/>
              <a:t>The method of </a:t>
            </a:r>
            <a:br>
              <a:rPr lang="en-US" sz="2800"/>
            </a:br>
            <a:r>
              <a:rPr lang="en-US" sz="2800" i="1"/>
              <a:t>successive divisions and multiplications</a:t>
            </a:r>
            <a:endParaRPr lang="ro-RO" sz="2800" i="1"/>
          </a:p>
        </p:txBody>
      </p:sp>
      <p:sp>
        <p:nvSpPr>
          <p:cNvPr id="21507" name="Rectangle 3"/>
          <p:cNvSpPr>
            <a:spLocks noGrp="1" noChangeAspec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  <p:pic>
        <p:nvPicPr>
          <p:cNvPr id="2150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447800"/>
            <a:ext cx="87630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-184150"/>
            <a:ext cx="7391400" cy="1295400"/>
          </a:xfrm>
        </p:spPr>
        <p:txBody>
          <a:bodyPr/>
          <a:lstStyle/>
          <a:p>
            <a:pPr eaLnBrk="1" hangingPunct="1"/>
            <a:r>
              <a:rPr lang="en-US" sz="2800"/>
              <a:t>3.The method that uses </a:t>
            </a:r>
            <a:br>
              <a:rPr lang="en-US" sz="2800"/>
            </a:br>
            <a:r>
              <a:rPr lang="en-US" sz="2800"/>
              <a:t>			an intermediate base</a:t>
            </a:r>
            <a:endParaRPr lang="ro-RO" sz="2800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2133600"/>
            <a:ext cx="8839200" cy="43434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000"/>
              <a:t> </a:t>
            </a:r>
            <a:r>
              <a:rPr lang="en-US" sz="2000" b="1" i="1"/>
              <a:t>b </a:t>
            </a:r>
            <a:r>
              <a:rPr lang="en-US" sz="2000" b="1"/>
              <a:t>-  </a:t>
            </a:r>
            <a:r>
              <a:rPr lang="en-US" sz="2000" b="1" i="1"/>
              <a:t>source</a:t>
            </a:r>
            <a:r>
              <a:rPr lang="en-US" sz="2000" b="1"/>
              <a:t> base,  </a:t>
            </a:r>
            <a:r>
              <a:rPr lang="en-US" sz="2000" b="1" i="1"/>
              <a:t>g </a:t>
            </a:r>
            <a:r>
              <a:rPr lang="en-US" sz="2000" b="1"/>
              <a:t>– </a:t>
            </a:r>
            <a:r>
              <a:rPr lang="en-US" sz="2000" b="1" i="1"/>
              <a:t>intermediate</a:t>
            </a:r>
            <a:r>
              <a:rPr lang="en-US" sz="2000" b="1"/>
              <a:t> base,  </a:t>
            </a:r>
            <a:r>
              <a:rPr lang="en-US" sz="2000" b="1" i="1"/>
              <a:t>h </a:t>
            </a:r>
            <a:r>
              <a:rPr lang="en-US" sz="2000" b="1"/>
              <a:t>- </a:t>
            </a:r>
            <a:r>
              <a:rPr lang="en-US" sz="2000" b="1" i="1"/>
              <a:t>destination</a:t>
            </a:r>
            <a:r>
              <a:rPr lang="en-US" sz="2000" b="1"/>
              <a:t> base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sz="1000" b="1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1700" b="1"/>
              <a:t>a)</a:t>
            </a:r>
            <a:r>
              <a:rPr lang="en-US" sz="1000" b="1"/>
              <a:t> </a:t>
            </a:r>
            <a:r>
              <a:rPr lang="en-US" sz="2000" b="1"/>
              <a:t>usually  </a:t>
            </a:r>
            <a:r>
              <a:rPr lang="en-US" sz="2000" b="1" i="1"/>
              <a:t>g </a:t>
            </a:r>
            <a:r>
              <a:rPr lang="en-US" sz="2000" b="1"/>
              <a:t>= 10 –  calculation in base 10</a:t>
            </a:r>
          </a:p>
          <a:p>
            <a:pPr lvl="1" eaLnBrk="1" hangingPunct="1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1800" b="1"/>
              <a:t>conversion from base </a:t>
            </a:r>
            <a:r>
              <a:rPr lang="en-US" sz="1800" b="1" i="1"/>
              <a:t>b</a:t>
            </a:r>
            <a:r>
              <a:rPr lang="en-US" sz="1800" b="1"/>
              <a:t> into base 10 – using the substitution method, </a:t>
            </a:r>
          </a:p>
          <a:p>
            <a:pPr lvl="1" eaLnBrk="1" hangingPunct="1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1800" b="1"/>
              <a:t>conversion from base 10 into base </a:t>
            </a:r>
            <a:r>
              <a:rPr lang="en-US" sz="1800" b="1" i="1"/>
              <a:t>h</a:t>
            </a:r>
            <a:r>
              <a:rPr lang="en-US" sz="1800" b="1"/>
              <a:t> – using the method of successive  divisions/multiplications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sz="1000" b="1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1800" b="1"/>
              <a:t>b) </a:t>
            </a:r>
            <a:r>
              <a:rPr lang="en-US" sz="2000" b="1"/>
              <a:t>if</a:t>
            </a:r>
            <a:r>
              <a:rPr lang="en-US" sz="2000" b="1" i="1"/>
              <a:t> b</a:t>
            </a:r>
            <a:r>
              <a:rPr lang="en-US" sz="2000" b="1"/>
              <a:t> and </a:t>
            </a:r>
            <a:r>
              <a:rPr lang="en-US" sz="2000" b="1" i="1"/>
              <a:t>h </a:t>
            </a:r>
            <a:r>
              <a:rPr lang="en-US" sz="2000" b="1"/>
              <a:t>are powers of 2, then</a:t>
            </a:r>
            <a:r>
              <a:rPr lang="en-US" sz="2000" b="1" i="1"/>
              <a:t> g </a:t>
            </a:r>
            <a:r>
              <a:rPr lang="en-US" sz="2000" b="1"/>
              <a:t>= 2 and rapid conversions are applied</a:t>
            </a:r>
            <a:r>
              <a:rPr lang="en-US" sz="1800" b="1"/>
              <a:t>  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sz="1000" b="1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1800" b="1"/>
              <a:t> c)</a:t>
            </a:r>
            <a:r>
              <a:rPr lang="en-US" sz="1800"/>
              <a:t> </a:t>
            </a:r>
            <a:r>
              <a:rPr lang="en-US" sz="2000" b="1"/>
              <a:t>if </a:t>
            </a:r>
            <a:r>
              <a:rPr lang="en-US" sz="2000" b="1" i="1"/>
              <a:t>b </a:t>
            </a:r>
            <a:r>
              <a:rPr lang="en-US" sz="2000" b="1"/>
              <a:t>= 10 and </a:t>
            </a:r>
            <a:r>
              <a:rPr lang="en-US" sz="2000" b="1" i="1"/>
              <a:t>h </a:t>
            </a:r>
            <a:r>
              <a:rPr lang="en-US" sz="2000" b="1"/>
              <a:t>= 2 then for efficiency we use </a:t>
            </a:r>
            <a:r>
              <a:rPr lang="en-US" sz="2000" b="1" i="1"/>
              <a:t>g </a:t>
            </a:r>
            <a:r>
              <a:rPr lang="en-US" sz="2000" b="1"/>
              <a:t>= 8 or </a:t>
            </a:r>
            <a:r>
              <a:rPr lang="en-US" sz="2000" b="1" i="1"/>
              <a:t>g </a:t>
            </a:r>
            <a:r>
              <a:rPr lang="en-US" sz="2000" b="1"/>
              <a:t>= 16</a:t>
            </a:r>
          </a:p>
          <a:p>
            <a:pPr lvl="1" eaLnBrk="1" hangingPunct="1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1800" b="1"/>
              <a:t>conversion from base 10 into base </a:t>
            </a:r>
            <a:r>
              <a:rPr lang="en-US" sz="1800" b="1" i="1"/>
              <a:t>g</a:t>
            </a:r>
            <a:r>
              <a:rPr lang="en-US" sz="1800" b="1"/>
              <a:t> - the method of successive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1800" b="1"/>
              <a:t>           divisions/multiplications is applied</a:t>
            </a:r>
          </a:p>
          <a:p>
            <a:pPr lvl="1" eaLnBrk="1" hangingPunct="1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1800" b="1"/>
              <a:t>conversion from base </a:t>
            </a:r>
            <a:r>
              <a:rPr lang="en-US" sz="1800" b="1" i="1"/>
              <a:t>g</a:t>
            </a:r>
            <a:r>
              <a:rPr lang="en-US" sz="1800" b="1"/>
              <a:t> into base 2 – rapid conversions are applied </a:t>
            </a:r>
            <a:endParaRPr lang="ro-RO" sz="1800" b="1"/>
          </a:p>
        </p:txBody>
      </p:sp>
      <p:pic>
        <p:nvPicPr>
          <p:cNvPr id="2253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371600"/>
            <a:ext cx="2895600" cy="50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Network">
  <a:themeElements>
    <a:clrScheme name="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Net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26AA527AC66B043A6ABC545F551704A" ma:contentTypeVersion="3" ma:contentTypeDescription="Create a new document." ma:contentTypeScope="" ma:versionID="f5ad70e1441f73df0185f183c75be569">
  <xsd:schema xmlns:xsd="http://www.w3.org/2001/XMLSchema" xmlns:xs="http://www.w3.org/2001/XMLSchema" xmlns:p="http://schemas.microsoft.com/office/2006/metadata/properties" xmlns:ns2="83b6afff-f0de-42d1-ac40-a6c349a96d7c" targetNamespace="http://schemas.microsoft.com/office/2006/metadata/properties" ma:root="true" ma:fieldsID="32285c881151771460a5bf1e05eb1adf" ns2:_="">
    <xsd:import namespace="83b6afff-f0de-42d1-ac40-a6c349a96d7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b6afff-f0de-42d1-ac40-a6c349a96d7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B6668A1-F252-4E11-A8C5-0B27912A77A9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FCC91FD-1A58-4FFF-967A-07E0A95FE61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AA66A01-EE04-4E55-97BA-CAAA86D63136}"/>
</file>

<file path=docProps/app.xml><?xml version="1.0" encoding="utf-8"?>
<Properties xmlns="http://schemas.openxmlformats.org/officeDocument/2006/extended-properties" xmlns:vt="http://schemas.openxmlformats.org/officeDocument/2006/docPropsVTypes">
  <Template>Network</Template>
  <TotalTime>3032</TotalTime>
  <Words>1180</Words>
  <Application>Microsoft Office PowerPoint</Application>
  <PresentationFormat>On-screen Show (4:3)</PresentationFormat>
  <Paragraphs>135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Wingdings</vt:lpstr>
      <vt:lpstr>Network</vt:lpstr>
      <vt:lpstr>Numeration systems</vt:lpstr>
      <vt:lpstr>Numeration systems (contd.)</vt:lpstr>
      <vt:lpstr>Non-positional systems: Roman system (500BC)</vt:lpstr>
      <vt:lpstr>Roman system - rules</vt:lpstr>
      <vt:lpstr>Positional systems:           Hindu-Arabic numeration systems  </vt:lpstr>
      <vt:lpstr>Examples</vt:lpstr>
      <vt:lpstr>Examples</vt:lpstr>
      <vt:lpstr>PowerPoint Presentation</vt:lpstr>
      <vt:lpstr>PowerPoint Presentation</vt:lpstr>
      <vt:lpstr>PowerPoint Presentation</vt:lpstr>
      <vt:lpstr>Correspondence table – bases: 10,2,4,8,16 </vt:lpstr>
      <vt:lpstr>Rapid conversions:          conversions between bases: 2,4,8,16</vt:lpstr>
      <vt:lpstr>Rapid conversions (contd.)</vt:lpstr>
      <vt:lpstr>Conversion methods</vt:lpstr>
      <vt:lpstr>PowerPoint Presentation</vt:lpstr>
      <vt:lpstr>Substitution method - examples</vt:lpstr>
      <vt:lpstr>2. The method of      successive divisions and multiplications</vt:lpstr>
      <vt:lpstr>The method of successive divisions</vt:lpstr>
      <vt:lpstr>The method of successive multiplications</vt:lpstr>
      <vt:lpstr>The method of  successive divisions and multiplications</vt:lpstr>
      <vt:lpstr>3.The method that uses     an intermediate base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Iulian Lupea</dc:creator>
  <cp:lastModifiedBy>Mihaela-Ana Lupea</cp:lastModifiedBy>
  <cp:revision>81</cp:revision>
  <dcterms:created xsi:type="dcterms:W3CDTF">2017-10-04T15:14:35Z</dcterms:created>
  <dcterms:modified xsi:type="dcterms:W3CDTF">2025-10-01T14:04:37Z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0x010100C26AA527AC66B043A6ABC545F551704A</vt:lpwstr>
  </property>
</Properties>
</file>
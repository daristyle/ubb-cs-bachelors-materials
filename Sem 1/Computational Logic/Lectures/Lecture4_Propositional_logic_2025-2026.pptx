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4"/>
  </p:sldMasterIdLst>
  <p:sldIdLst>
    <p:sldId id="256" r:id="rId5"/>
    <p:sldId id="257" r:id="rId6"/>
    <p:sldId id="259" r:id="rId7"/>
    <p:sldId id="265" r:id="rId8"/>
    <p:sldId id="258" r:id="rId9"/>
    <p:sldId id="278" r:id="rId10"/>
    <p:sldId id="277" r:id="rId11"/>
    <p:sldId id="268" r:id="rId12"/>
    <p:sldId id="261" r:id="rId13"/>
    <p:sldId id="286" r:id="rId14"/>
    <p:sldId id="279" r:id="rId15"/>
    <p:sldId id="285" r:id="rId16"/>
    <p:sldId id="284" r:id="rId17"/>
    <p:sldId id="263" r:id="rId18"/>
    <p:sldId id="280" r:id="rId19"/>
    <p:sldId id="264" r:id="rId20"/>
    <p:sldId id="269" r:id="rId21"/>
    <p:sldId id="281" r:id="rId22"/>
    <p:sldId id="282" r:id="rId23"/>
    <p:sldId id="283" r:id="rId24"/>
    <p:sldId id="272" r:id="rId25"/>
    <p:sldId id="266" r:id="rId26"/>
    <p:sldId id="267" r:id="rId2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1675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911383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Oval 16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Oval 17"/>
          <p:cNvSpPr/>
          <p:nvPr/>
        </p:nvSpPr>
        <p:spPr bwMode="auto">
          <a:xfrm>
            <a:off x="1309688" y="4867275"/>
            <a:ext cx="641350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663700" y="5788025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1905000" y="4495800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463" y="1174750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C88511-F8C1-4501-BAE3-E47A8F56BF21}" type="datetimeFigureOut">
              <a:rPr lang="en-US"/>
              <a:pPr>
                <a:defRPr/>
              </a:pPr>
              <a:t>10/22/2025</a:t>
            </a:fld>
            <a:endParaRPr lang="en-US"/>
          </a:p>
        </p:txBody>
      </p:sp>
      <p:sp>
        <p:nvSpPr>
          <p:cNvPr id="23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81475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63" y="4929188"/>
            <a:ext cx="609600" cy="517525"/>
          </a:xfrm>
        </p:spPr>
        <p:txBody>
          <a:bodyPr/>
          <a:lstStyle>
            <a:lvl1pPr>
              <a:defRPr/>
            </a:lvl1pPr>
          </a:lstStyle>
          <a:p>
            <a:fld id="{2E60E660-5F57-450B-B3B3-12C7CDCB230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503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645A8FA1-3DE6-477F-90A9-6950711104D4}" type="datetimeFigureOut">
              <a:rPr lang="en-US"/>
              <a:pPr>
                <a:defRPr/>
              </a:pPr>
              <a:t>10/22/2025</a:t>
            </a:fld>
            <a:endParaRPr lang="en-US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2BE1CFF-1F7F-4EBC-A29E-3A272B9225D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300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4" name="Oval 13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5" name="Oval 14"/>
          <p:cNvSpPr/>
          <p:nvPr/>
        </p:nvSpPr>
        <p:spPr bwMode="auto">
          <a:xfrm>
            <a:off x="1323975" y="4867275"/>
            <a:ext cx="642938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Oval 15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Oval 16"/>
          <p:cNvSpPr/>
          <p:nvPr/>
        </p:nvSpPr>
        <p:spPr bwMode="auto">
          <a:xfrm>
            <a:off x="1663700" y="5791200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Oval 17"/>
          <p:cNvSpPr/>
          <p:nvPr/>
        </p:nvSpPr>
        <p:spPr bwMode="auto">
          <a:xfrm>
            <a:off x="1879600" y="4479925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9097963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2875" y="1169988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98177B-F6D0-4BEA-B172-A18E1208319E}" type="datetimeFigureOut">
              <a:rPr lang="en-US"/>
              <a:pPr>
                <a:defRPr/>
              </a:pPr>
              <a:t>10/22/2025</a:t>
            </a:fld>
            <a:endParaRPr lang="en-US"/>
          </a:p>
        </p:txBody>
      </p:sp>
      <p:sp>
        <p:nvSpPr>
          <p:cNvPr id="21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78300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39850" y="4929188"/>
            <a:ext cx="609600" cy="517525"/>
          </a:xfrm>
        </p:spPr>
        <p:txBody>
          <a:bodyPr/>
          <a:lstStyle>
            <a:lvl1pPr>
              <a:defRPr/>
            </a:lvl1pPr>
          </a:lstStyle>
          <a:p>
            <a:fld id="{27298BA1-011E-4273-9959-6BD737776BE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4935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C1C806-54BF-434A-8D64-5BC005035DD3}" type="datetimeFigureOut">
              <a:rPr lang="en-US"/>
              <a:pPr>
                <a:defRPr/>
              </a:pPr>
              <a:t>10/22/2025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FF2E80-E127-4886-A497-02612D688C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757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4BB5FF-2B48-4937-8879-C9E606981607}" type="datetimeFigureOut">
              <a:rPr lang="en-US"/>
              <a:pPr>
                <a:defRPr/>
              </a:pPr>
              <a:t>10/22/2025</a:t>
            </a:fld>
            <a:endParaRPr lang="en-US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423C2D-69BC-4839-B8C6-E46276E9F49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325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0FB97A55-5891-41B9-92C5-5A0BC8A85915}" type="datetimeFigureOut">
              <a:rPr lang="en-US"/>
              <a:pPr>
                <a:defRPr/>
              </a:pPr>
              <a:t>10/22/2025</a:t>
            </a:fld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8672590-86E1-44FE-A533-6B41CCE21B29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988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BCED46-CDBA-4DF4-B60C-A1FD734F0C44}" type="datetimeFigureOut">
              <a:rPr lang="en-US"/>
              <a:pPr>
                <a:defRPr/>
              </a:pPr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6714B0-A285-4EBF-A3BD-98CE78BBFA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8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6" name="Straight Connector 5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/>
          <a:lstStyle>
            <a:lvl1pPr algn="l">
              <a:buNone/>
              <a:defRPr sz="2000" b="1" cap="sm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20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40498EAF-F47B-46D4-9B60-6C5752A3E5D7}" type="datetimeFigureOut">
              <a:rPr lang="en-US"/>
              <a:pPr>
                <a:defRPr/>
              </a:pPr>
              <a:t>10/22/2025</a:t>
            </a:fld>
            <a:endParaRPr lang="en-US"/>
          </a:p>
        </p:txBody>
      </p:sp>
      <p:sp>
        <p:nvSpPr>
          <p:cNvPr id="13" name="Slide Number Placeholder 2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C25BEBF-E006-4A75-9338-B3BC463D0A6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4" name="Footer Placeholder 22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11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/>
          <a:lstStyle>
            <a:lvl1pPr algn="l">
              <a:buNone/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spcCol="274320" rtlCol="0" fromWordArt="0" forceAA="0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2A726724-9D4B-484D-80A9-55FFB1381CEE}" type="datetimeFigureOut">
              <a:rPr lang="en-US"/>
              <a:pPr>
                <a:defRPr/>
              </a:pPr>
              <a:t>10/22/2025</a:t>
            </a:fld>
            <a:endParaRPr lang="en-US"/>
          </a:p>
        </p:txBody>
      </p:sp>
      <p:sp>
        <p:nvSpPr>
          <p:cNvPr id="13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A519341-401A-48AB-BD98-56757208AC39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4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56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BEC421-EAB6-4B56-A265-5C24553DD571}" type="datetimeFigureOut">
              <a:rPr lang="en-US"/>
              <a:pPr>
                <a:defRPr/>
              </a:pPr>
              <a:t>10/22/2025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0323D7-3D88-47F9-BF53-6F74EE3B3A6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93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B42F9D-FF3C-496C-9653-8CBA42AAA6AE}" type="datetimeFigureOut">
              <a:rPr lang="en-US"/>
              <a:pPr>
                <a:defRPr/>
              </a:pPr>
              <a:t>10/22/2025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9E184D-3960-475A-BDCD-A692F38C24B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786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28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7467600" cy="487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045" y="1081881"/>
            <a:ext cx="2011362" cy="384175"/>
          </a:xfrm>
          <a:prstGeom prst="rect">
            <a:avLst/>
          </a:prstGeom>
        </p:spPr>
        <p:txBody>
          <a:bodyPr vert="horz" anchor="ctr" anchorCtr="0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3716E71-3A5E-4EA2-A165-27D7A31B1F7B}" type="datetimeFigureOut">
              <a:rPr lang="en-US"/>
              <a:pPr>
                <a:defRPr/>
              </a:pPr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89763" y="3736975"/>
            <a:ext cx="32004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400" b="1">
                <a:solidFill>
                  <a:srgbClr val="FFFFFF"/>
                </a:solidFill>
                <a:latin typeface="Century Schoolbook" panose="02040604050505020304" pitchFamily="18" charset="0"/>
              </a:defRPr>
            </a:lvl1pPr>
          </a:lstStyle>
          <a:p>
            <a:fld id="{B75F09A5-61FD-4C0F-A282-A73F6C0B8CAE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69" r:id="rId4"/>
    <p:sldLayoutId id="2147483768" r:id="rId5"/>
    <p:sldLayoutId id="2147483773" r:id="rId6"/>
    <p:sldLayoutId id="2147483767" r:id="rId7"/>
    <p:sldLayoutId id="2147483774" r:id="rId8"/>
    <p:sldLayoutId id="2147483775" r:id="rId9"/>
    <p:sldLayoutId id="2147483766" r:id="rId10"/>
    <p:sldLayoutId id="2147483765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kern="1200" cap="small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563" algn="l" rtl="0" eaLnBrk="0" fontAlgn="base" hangingPunct="0">
        <a:spcBef>
          <a:spcPct val="20000"/>
        </a:spcBef>
        <a:spcAft>
          <a:spcPct val="0"/>
        </a:spcAft>
        <a:buClr>
          <a:srgbClr val="E0752F"/>
        </a:buClr>
        <a:buSzPct val="60000"/>
        <a:buFont typeface="Wingdings" panose="05000000000000000000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182563" algn="l" rtl="0" eaLnBrk="0" fontAlgn="base" hangingPunct="0">
        <a:spcBef>
          <a:spcPct val="20000"/>
        </a:spcBef>
        <a:spcAft>
          <a:spcPct val="0"/>
        </a:spcAft>
        <a:buClr>
          <a:srgbClr val="FEC3AE"/>
        </a:buClr>
        <a:buSzPct val="60000"/>
        <a:buFont typeface="Wingdings" panose="05000000000000000000" pitchFamily="2" charset="2"/>
        <a:buChar char="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182563" algn="l" rtl="0" eaLnBrk="0" fontAlgn="base" hangingPunct="0">
        <a:spcBef>
          <a:spcPct val="20000"/>
        </a:spcBef>
        <a:spcAft>
          <a:spcPct val="0"/>
        </a:spcAft>
        <a:buClr>
          <a:srgbClr val="BDCAE9"/>
        </a:buClr>
        <a:buSzPct val="68000"/>
        <a:buFont typeface="Wingdings 2" panose="05020102010507070707" pitchFamily="18" charset="2"/>
        <a:buChar char="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0" Type="http://schemas.openxmlformats.org/officeDocument/2006/relationships/image" Target="../media/image2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1.png"/><Relationship Id="rId7" Type="http://schemas.openxmlformats.org/officeDocument/2006/relationships/image" Target="../media/image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oleObject" Target="../embeddings/oleObject4.bin"/><Relationship Id="rId18" Type="http://schemas.openxmlformats.org/officeDocument/2006/relationships/image" Target="../media/image42.png"/><Relationship Id="rId3" Type="http://schemas.openxmlformats.org/officeDocument/2006/relationships/image" Target="../media/image32.png"/><Relationship Id="rId7" Type="http://schemas.openxmlformats.org/officeDocument/2006/relationships/oleObject" Target="../embeddings/oleObject2.bin"/><Relationship Id="rId12" Type="http://schemas.openxmlformats.org/officeDocument/2006/relationships/image" Target="../media/image38.png"/><Relationship Id="rId17" Type="http://schemas.openxmlformats.org/officeDocument/2006/relationships/image" Target="../media/image41.wmf"/><Relationship Id="rId2" Type="http://schemas.openxmlformats.org/officeDocument/2006/relationships/image" Target="../media/image2.png"/><Relationship Id="rId16" Type="http://schemas.openxmlformats.org/officeDocument/2006/relationships/oleObject" Target="../embeddings/oleObject5.bin"/><Relationship Id="rId20" Type="http://schemas.openxmlformats.org/officeDocument/2006/relationships/image" Target="../media/image43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4.png"/><Relationship Id="rId11" Type="http://schemas.openxmlformats.org/officeDocument/2006/relationships/image" Target="../media/image37.wmf"/><Relationship Id="rId5" Type="http://schemas.openxmlformats.org/officeDocument/2006/relationships/image" Target="../media/image33.wmf"/><Relationship Id="rId15" Type="http://schemas.openxmlformats.org/officeDocument/2006/relationships/image" Target="../media/image40.png"/><Relationship Id="rId10" Type="http://schemas.openxmlformats.org/officeDocument/2006/relationships/oleObject" Target="../embeddings/oleObject3.bin"/><Relationship Id="rId19" Type="http://schemas.openxmlformats.org/officeDocument/2006/relationships/oleObject" Target="../embeddings/oleObject6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36.png"/><Relationship Id="rId14" Type="http://schemas.openxmlformats.org/officeDocument/2006/relationships/image" Target="../media/image39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371600"/>
            <a:ext cx="7772400" cy="1470025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3600" cap="none"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PROPOSITIONAL LOGIC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7526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sz="4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Syntactic Approach </a:t>
            </a:r>
          </a:p>
          <a:p>
            <a:pPr eaLnBrk="1" fontAlgn="auto" hangingPunct="1">
              <a:spcAft>
                <a:spcPts val="0"/>
              </a:spcAft>
              <a:buFont typeface="Wingdings"/>
              <a:buNone/>
              <a:defRPr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0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517525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sz="2000" b="1" u="sng" cap="none" dirty="0"/>
              <a:t>AXIOMATIC (FORMAL) SYSTEM</a:t>
            </a:r>
            <a:r>
              <a:rPr lang="en-US" sz="2000" cap="none" dirty="0"/>
              <a:t>:</a:t>
            </a:r>
          </a:p>
        </p:txBody>
      </p:sp>
      <p:pic>
        <p:nvPicPr>
          <p:cNvPr id="921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0749" y="274638"/>
            <a:ext cx="2667000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5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2470" y="990600"/>
            <a:ext cx="8215313" cy="5029200"/>
          </a:xfrm>
          <a:noFill/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3979" y="-35913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467600" cy="762000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2400" b="1" u="sng" cap="none"/>
              <a:t>DEDUCTION</a:t>
            </a:r>
          </a:p>
        </p:txBody>
      </p:sp>
      <p:pic>
        <p:nvPicPr>
          <p:cNvPr id="1024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813" y="2905125"/>
            <a:ext cx="6810375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5181600"/>
            <a:ext cx="76962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5" name="Content Placeholder 7"/>
          <p:cNvSpPr>
            <a:spLocks noGrp="1"/>
          </p:cNvSpPr>
          <p:nvPr>
            <p:ph sz="quarter" idx="1"/>
          </p:nvPr>
        </p:nvSpPr>
        <p:spPr>
          <a:xfrm>
            <a:off x="304800" y="1600200"/>
            <a:ext cx="7467600" cy="4873625"/>
          </a:xfrm>
        </p:spPr>
        <p:txBody>
          <a:bodyPr/>
          <a:lstStyle/>
          <a:p>
            <a:pPr eaLnBrk="1" hangingPunct="1"/>
            <a:endParaRPr lang="ro-RO"/>
          </a:p>
        </p:txBody>
      </p:sp>
      <p:pic>
        <p:nvPicPr>
          <p:cNvPr id="10246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90600"/>
            <a:ext cx="81534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8574" y="114988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87362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 sz="2400" b="1" u="sng" cap="none"/>
              <a:t>PROPERTIES OF DERIVABILITY RELATION</a:t>
            </a:r>
          </a:p>
        </p:txBody>
      </p:sp>
      <p:pic>
        <p:nvPicPr>
          <p:cNvPr id="11267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990600"/>
            <a:ext cx="7924800" cy="51054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217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001000" cy="715963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sz="2200" b="1" u="sng" cap="none" dirty="0"/>
              <a:t>EXAMPLE</a:t>
            </a:r>
            <a:r>
              <a:rPr lang="en-US" sz="2200" u="sng" cap="none" dirty="0"/>
              <a:t> </a:t>
            </a:r>
            <a:r>
              <a:rPr lang="en-US" sz="2200" b="1" u="sng" cap="none" dirty="0"/>
              <a:t>1</a:t>
            </a:r>
            <a:r>
              <a:rPr lang="en-US" sz="2200" u="sng" cap="none" dirty="0"/>
              <a:t> OF REASONING MODELING: </a:t>
            </a:r>
            <a:r>
              <a:rPr lang="en-US" sz="2200" i="1" u="sng" cap="none" dirty="0"/>
              <a:t>PARTY</a:t>
            </a:r>
          </a:p>
        </p:txBody>
      </p:sp>
      <p:pic>
        <p:nvPicPr>
          <p:cNvPr id="12291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1668" y="1600200"/>
            <a:ext cx="5562600" cy="3657600"/>
          </a:xfrm>
          <a:noFill/>
        </p:spPr>
      </p:pic>
      <p:pic>
        <p:nvPicPr>
          <p:cNvPr id="12292" name="Picture 3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57800" y="914400"/>
            <a:ext cx="3581400" cy="2362200"/>
          </a:xfrm>
          <a:noFill/>
        </p:spPr>
      </p:pic>
      <p:pic>
        <p:nvPicPr>
          <p:cNvPr id="12293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3581400"/>
            <a:ext cx="2590800" cy="246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287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6200"/>
            <a:ext cx="6248400" cy="4572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685800"/>
            <a:ext cx="7010400" cy="189121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585" y="2724795"/>
            <a:ext cx="4206815" cy="42665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020" y="3175892"/>
            <a:ext cx="5105400" cy="39011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325" y="3753082"/>
            <a:ext cx="4982653" cy="32769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325" y="4251394"/>
            <a:ext cx="5471988" cy="35223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6325" y="4817563"/>
            <a:ext cx="5629275" cy="35288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5273835"/>
            <a:ext cx="7543800" cy="766037"/>
          </a:xfrm>
          <a:prstGeom prst="rect">
            <a:avLst/>
          </a:prstGeom>
        </p:spPr>
      </p:pic>
      <p:pic>
        <p:nvPicPr>
          <p:cNvPr id="10" name="Picture 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8883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34559" y="1090143"/>
            <a:ext cx="1714500" cy="421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659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87362"/>
          </a:xfrm>
        </p:spPr>
        <p:txBody>
          <a:bodyPr>
            <a:normAutofit/>
          </a:bodyPr>
          <a:lstStyle/>
          <a:p>
            <a:r>
              <a:rPr lang="en-US" sz="2400" b="1" u="sng" cap="none" dirty="0"/>
              <a:t>EXAMPLE 2</a:t>
            </a: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066800"/>
            <a:ext cx="7429500" cy="2762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462357"/>
            <a:ext cx="7124700" cy="14859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7775" y="2948257"/>
            <a:ext cx="5886450" cy="11525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7775" y="4191000"/>
            <a:ext cx="2581275" cy="14573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5722728"/>
            <a:ext cx="7953375" cy="523875"/>
          </a:xfrm>
          <a:prstGeom prst="rect">
            <a:avLst/>
          </a:prstGeom>
        </p:spPr>
      </p:pic>
      <p:pic>
        <p:nvPicPr>
          <p:cNvPr id="8" name="Picture 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104984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4320" y="1882983"/>
            <a:ext cx="1714500" cy="42110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34295" y="2306244"/>
            <a:ext cx="1914525" cy="287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062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9762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 sz="2400" b="1" u="sng" cap="none" dirty="0"/>
              <a:t>PROPERTIES OF PROPOSITIONAL LOGIC</a:t>
            </a:r>
          </a:p>
        </p:txBody>
      </p:sp>
      <p:pic>
        <p:nvPicPr>
          <p:cNvPr id="16387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219200"/>
            <a:ext cx="7848600" cy="494665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122237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2400" b="1" cap="none"/>
              <a:t>PROPOSITIONAL INFERENCE RULES</a:t>
            </a:r>
          </a:p>
        </p:txBody>
      </p:sp>
      <p:sp>
        <p:nvSpPr>
          <p:cNvPr id="19459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endParaRPr lang="ro-RO"/>
          </a:p>
        </p:txBody>
      </p:sp>
      <p:pic>
        <p:nvPicPr>
          <p:cNvPr id="1946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19200"/>
            <a:ext cx="77724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2694" y="0"/>
            <a:ext cx="63182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0083" y="3352800"/>
            <a:ext cx="2107097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2694" y="0"/>
            <a:ext cx="63182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900" y="602849"/>
            <a:ext cx="1790700" cy="7715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3219450"/>
            <a:ext cx="1962150" cy="9715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04800" y="1524000"/>
            <a:ext cx="8229600" cy="9194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200" b="1" i="1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Modus ponens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 Latin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“mode that by affirming the premise (</a:t>
            </a:r>
            <a:r>
              <a:rPr lang="en-US" sz="22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affirms the conclusion (</a:t>
            </a:r>
            <a:r>
              <a:rPr lang="en-US" sz="22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)”</a:t>
            </a:r>
            <a:endParaRPr lang="en-US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3400" y="4343400"/>
            <a:ext cx="7696200" cy="9194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200" b="1" i="1" dirty="0"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Modus </a:t>
            </a:r>
            <a:r>
              <a:rPr lang="en-US" sz="2200" b="1" i="1" dirty="0" err="1"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tollens</a:t>
            </a:r>
            <a:r>
              <a:rPr lang="en-US" sz="2200" dirty="0"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Latin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“mode that by denying the conclusion (</a:t>
            </a:r>
            <a:r>
              <a:rPr lang="en-US" sz="22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denies the premise (</a:t>
            </a:r>
            <a:r>
              <a:rPr lang="en-US" sz="22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)”</a:t>
            </a:r>
            <a:endParaRPr lang="en-US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2600" y="241347"/>
            <a:ext cx="2114550" cy="14668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0347BD0-2A8C-67B6-9DD8-848E39CB1489}"/>
              </a:ext>
            </a:extLst>
          </p:cNvPr>
          <p:cNvCxnSpPr/>
          <p:nvPr/>
        </p:nvCxnSpPr>
        <p:spPr>
          <a:xfrm>
            <a:off x="5219700" y="685800"/>
            <a:ext cx="304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B19ECC1-C837-495B-2277-FFC8CE711CA1}"/>
              </a:ext>
            </a:extLst>
          </p:cNvPr>
          <p:cNvCxnSpPr/>
          <p:nvPr/>
        </p:nvCxnSpPr>
        <p:spPr>
          <a:xfrm>
            <a:off x="5181600" y="1295400"/>
            <a:ext cx="381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50CB96F-0204-772B-4A78-01DA07A7F68B}"/>
              </a:ext>
            </a:extLst>
          </p:cNvPr>
          <p:cNvCxnSpPr/>
          <p:nvPr/>
        </p:nvCxnSpPr>
        <p:spPr>
          <a:xfrm>
            <a:off x="5181600" y="1524000"/>
            <a:ext cx="381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8319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077200" cy="792162"/>
          </a:xfrm>
        </p:spPr>
        <p:txBody>
          <a:bodyPr>
            <a:noAutofit/>
          </a:bodyPr>
          <a:lstStyle/>
          <a:p>
            <a:r>
              <a:rPr lang="en-US" sz="1600" b="1" cap="none" dirty="0"/>
              <a:t>WHICH RULE OF INFERENCE IS USED IN EACH ARGUMENT BELOW?</a:t>
            </a:r>
            <a:br>
              <a:rPr lang="en-US" sz="1600" b="1" cap="none" dirty="0"/>
            </a:br>
            <a:endParaRPr lang="en-US" sz="1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0142" y="-10092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85800"/>
            <a:ext cx="8145517" cy="762000"/>
          </a:xfrm>
          <a:prstGeom prst="rect">
            <a:avLst/>
          </a:prstGeom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0022930"/>
              </p:ext>
            </p:extLst>
          </p:nvPr>
        </p:nvGraphicFramePr>
        <p:xfrm>
          <a:off x="6705600" y="1066800"/>
          <a:ext cx="914400" cy="301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22030" imgH="203112" progId="Equation.3">
                  <p:embed/>
                </p:oleObj>
              </mc:Choice>
              <mc:Fallback>
                <p:oleObj name="Equation" r:id="rId4" imgW="622030" imgH="203112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1066800"/>
                        <a:ext cx="914400" cy="30170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503" y="1432049"/>
            <a:ext cx="8145517" cy="717436"/>
          </a:xfrm>
          <a:prstGeom prst="rect">
            <a:avLst/>
          </a:prstGeom>
        </p:spPr>
      </p:pic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-2139" y="24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3999708"/>
              </p:ext>
            </p:extLst>
          </p:nvPr>
        </p:nvGraphicFramePr>
        <p:xfrm>
          <a:off x="6846887" y="1722438"/>
          <a:ext cx="963188" cy="314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34725" imgH="203112" progId="Equation.3">
                  <p:embed/>
                </p:oleObj>
              </mc:Choice>
              <mc:Fallback>
                <p:oleObj name="Equation" r:id="rId7" imgW="634725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6887" y="1722438"/>
                        <a:ext cx="963188" cy="31460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9974" y="2132220"/>
            <a:ext cx="8132577" cy="1086681"/>
          </a:xfrm>
          <a:prstGeom prst="rect">
            <a:avLst/>
          </a:prstGeom>
        </p:spPr>
      </p:pic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205597" y="1009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4362644"/>
              </p:ext>
            </p:extLst>
          </p:nvPr>
        </p:nvGraphicFramePr>
        <p:xfrm>
          <a:off x="6676006" y="2630420"/>
          <a:ext cx="1324994" cy="326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37836" imgH="203112" progId="Equation.3">
                  <p:embed/>
                </p:oleObj>
              </mc:Choice>
              <mc:Fallback>
                <p:oleObj name="Equation" r:id="rId10" imgW="837836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6006" y="2630420"/>
                        <a:ext cx="1324994" cy="32623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0102" y="3218901"/>
            <a:ext cx="8123951" cy="1104226"/>
          </a:xfrm>
          <a:prstGeom prst="rect">
            <a:avLst/>
          </a:prstGeom>
        </p:spPr>
      </p:pic>
      <p:sp>
        <p:nvSpPr>
          <p:cNvPr id="17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7799279"/>
              </p:ext>
            </p:extLst>
          </p:nvPr>
        </p:nvGraphicFramePr>
        <p:xfrm>
          <a:off x="6655589" y="3785485"/>
          <a:ext cx="1503872" cy="3017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028254" imgH="203112" progId="Equation.3">
                  <p:embed/>
                </p:oleObj>
              </mc:Choice>
              <mc:Fallback>
                <p:oleObj name="Equation" r:id="rId13" imgW="1028254" imgH="203112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5589" y="3785485"/>
                        <a:ext cx="1503872" cy="30170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Picture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2673" y="4305582"/>
            <a:ext cx="8130654" cy="1028418"/>
          </a:xfrm>
          <a:prstGeom prst="rect">
            <a:avLst/>
          </a:prstGeom>
        </p:spPr>
      </p:pic>
      <p:sp>
        <p:nvSpPr>
          <p:cNvPr id="20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1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8882780"/>
              </p:ext>
            </p:extLst>
          </p:nvPr>
        </p:nvGraphicFramePr>
        <p:xfrm>
          <a:off x="6676006" y="4923637"/>
          <a:ext cx="1512678" cy="221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409088" imgH="203112" progId="Equation.3">
                  <p:embed/>
                </p:oleObj>
              </mc:Choice>
              <mc:Fallback>
                <p:oleObj name="Equation" r:id="rId16" imgW="1409088" imgH="203112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6006" y="4923637"/>
                        <a:ext cx="1512678" cy="22145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Picture 2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40102" y="5332074"/>
            <a:ext cx="8123951" cy="1106613"/>
          </a:xfrm>
          <a:prstGeom prst="rect">
            <a:avLst/>
          </a:prstGeom>
        </p:spPr>
      </p:pic>
      <p:sp>
        <p:nvSpPr>
          <p:cNvPr id="25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6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9694217"/>
              </p:ext>
            </p:extLst>
          </p:nvPr>
        </p:nvGraphicFramePr>
        <p:xfrm>
          <a:off x="6696489" y="5908167"/>
          <a:ext cx="1228311" cy="294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863225" imgH="203112" progId="Equation.3">
                  <p:embed/>
                </p:oleObj>
              </mc:Choice>
              <mc:Fallback>
                <p:oleObj name="Equation" r:id="rId19" imgW="863225" imgH="203112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6489" y="5908167"/>
                        <a:ext cx="1228311" cy="2946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61875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868362"/>
          </a:xfrm>
        </p:spPr>
        <p:txBody>
          <a:bodyPr>
            <a:normAutofit/>
          </a:bodyPr>
          <a:lstStyle/>
          <a:p>
            <a:r>
              <a:rPr lang="en-US" sz="2000" b="1" u="sng" cap="none" dirty="0"/>
              <a:t>EXAMPLE 3 OF REASONING MODELING</a:t>
            </a:r>
            <a:endParaRPr lang="en-US" sz="2000" b="1" dirty="0"/>
          </a:p>
        </p:txBody>
      </p:sp>
      <p:sp>
        <p:nvSpPr>
          <p:cNvPr id="4" name="Rectangle 3"/>
          <p:cNvSpPr/>
          <p:nvPr/>
        </p:nvSpPr>
        <p:spPr>
          <a:xfrm>
            <a:off x="228600" y="1524000"/>
            <a:ext cx="85344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Build a deduction of the conclusion (C) from the hypotheses H1, H2, H3, H4.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  H1: If it is rainy Kate goes to the library or she goes shopping.</a:t>
            </a:r>
            <a:endParaRPr lang="en-US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ro-RO" sz="2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</a:t>
            </a:r>
            <a:r>
              <a:rPr lang="en-GB" sz="2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H2: Kate goes shopping </a:t>
            </a:r>
            <a:r>
              <a:rPr lang="en-GB" sz="2200" b="1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only with </a:t>
            </a:r>
            <a:r>
              <a:rPr lang="en-GB" sz="2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her friend Carla.</a:t>
            </a:r>
            <a:endParaRPr lang="en-US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  H3: John goes to the library daily.</a:t>
            </a:r>
            <a:endParaRPr lang="en-US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  H4: It is rainy today, Carla is sick and she will not go shopping.</a:t>
            </a:r>
            <a:endParaRPr lang="en-US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  C (conclusion) Kate will meet John at the library today.</a:t>
            </a:r>
            <a:endParaRPr lang="en-US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6982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ÎNŢELEPCIUNE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981200"/>
            <a:ext cx="8382000" cy="394811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0"/>
            <a:ext cx="1648167" cy="1931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4977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302550"/>
            <a:ext cx="5936530" cy="563563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 sz="2400" b="1" u="sng" cap="none" dirty="0"/>
              <a:t>FALLACIES</a:t>
            </a:r>
          </a:p>
        </p:txBody>
      </p:sp>
      <p:pic>
        <p:nvPicPr>
          <p:cNvPr id="2150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130" y="1166341"/>
            <a:ext cx="7239000" cy="4403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1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5507185"/>
            <a:ext cx="5638800" cy="422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5879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925" y="25879"/>
            <a:ext cx="2114550" cy="1466850"/>
          </a:xfrm>
          <a:prstGeom prst="rect">
            <a:avLst/>
          </a:prstGeom>
        </p:spPr>
      </p:pic>
      <p:pic>
        <p:nvPicPr>
          <p:cNvPr id="7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67" y="78663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17B0C0-8D9A-E5B0-5DB4-4CE93E428835}"/>
              </a:ext>
            </a:extLst>
          </p:cNvPr>
          <p:cNvCxnSpPr/>
          <p:nvPr/>
        </p:nvCxnSpPr>
        <p:spPr>
          <a:xfrm>
            <a:off x="6257925" y="457200"/>
            <a:ext cx="381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680D09D-724B-CFA9-7888-02E995775FE2}"/>
              </a:ext>
            </a:extLst>
          </p:cNvPr>
          <p:cNvCxnSpPr/>
          <p:nvPr/>
        </p:nvCxnSpPr>
        <p:spPr>
          <a:xfrm>
            <a:off x="6257925" y="990600"/>
            <a:ext cx="381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64F280-674D-ACA0-BF90-11168FB45802}"/>
              </a:ext>
            </a:extLst>
          </p:cNvPr>
          <p:cNvCxnSpPr/>
          <p:nvPr/>
        </p:nvCxnSpPr>
        <p:spPr>
          <a:xfrm>
            <a:off x="6257925" y="1295400"/>
            <a:ext cx="381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9762"/>
          </a:xfrm>
        </p:spPr>
        <p:txBody>
          <a:bodyPr>
            <a:normAutofit/>
          </a:bodyPr>
          <a:lstStyle/>
          <a:p>
            <a:r>
              <a:rPr lang="en-US" sz="2400" b="1" u="sng" cap="none" dirty="0"/>
              <a:t>FALLACIES (contd.)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066800"/>
            <a:ext cx="6290998" cy="4724400"/>
          </a:xfrm>
          <a:prstGeom prst="rect">
            <a:avLst/>
          </a:prstGeom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5879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199" y="913881"/>
            <a:ext cx="2536825" cy="1496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031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091" y="228600"/>
            <a:ext cx="7982309" cy="533400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 sz="2400" b="1" u="sng" cap="none" dirty="0"/>
              <a:t>THEOREM OF DEDUCTION AND ITS REVERSE</a:t>
            </a:r>
          </a:p>
        </p:txBody>
      </p:sp>
      <p:sp>
        <p:nvSpPr>
          <p:cNvPr id="22531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ro-RO"/>
          </a:p>
        </p:txBody>
      </p:sp>
      <p:pic>
        <p:nvPicPr>
          <p:cNvPr id="2253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143000"/>
            <a:ext cx="77724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8626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7391400" cy="838200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  <a:normAutofit fontScale="90000"/>
          </a:bodyPr>
          <a:lstStyle/>
          <a:p>
            <a:br>
              <a:rPr lang="en-US" sz="2700" b="1" cap="none"/>
            </a:br>
            <a:br>
              <a:rPr lang="en-US" sz="2700" b="1" cap="none"/>
            </a:br>
            <a:br>
              <a:rPr lang="en-US" sz="2700" b="1" cap="none"/>
            </a:br>
            <a:br>
              <a:rPr lang="en-US" sz="2700" b="1" cap="none"/>
            </a:br>
            <a:br>
              <a:rPr lang="en-US" sz="2700" b="1" cap="none"/>
            </a:br>
            <a:br>
              <a:rPr lang="en-US" sz="2700" b="1" cap="none"/>
            </a:br>
            <a:br>
              <a:rPr lang="en-US" sz="2700" b="1" cap="none"/>
            </a:br>
            <a:r>
              <a:rPr lang="en-US" sz="2700" b="1" u="sng" cap="none"/>
              <a:t>Theorem of deduction - consequences</a:t>
            </a:r>
            <a:endParaRPr lang="en-US" sz="2700" u="sng" cap="none"/>
          </a:p>
        </p:txBody>
      </p:sp>
      <p:pic>
        <p:nvPicPr>
          <p:cNvPr id="2355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524000"/>
            <a:ext cx="82296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46037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92162"/>
          </a:xfrm>
        </p:spPr>
        <p:txBody>
          <a:bodyPr/>
          <a:lstStyle/>
          <a:p>
            <a:r>
              <a:rPr lang="en-US" u="sng" dirty="0"/>
              <a:t>Proof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239329"/>
            <a:ext cx="6477000" cy="58947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0"/>
            <a:ext cx="7486650" cy="3562350"/>
          </a:xfrm>
          <a:prstGeom prst="rect">
            <a:avLst/>
          </a:prstGeom>
        </p:spPr>
      </p:pic>
      <p:pic>
        <p:nvPicPr>
          <p:cNvPr id="6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46037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437674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87362"/>
          </a:xfrm>
        </p:spPr>
        <p:txBody>
          <a:bodyPr>
            <a:normAutofit/>
          </a:bodyPr>
          <a:lstStyle/>
          <a:p>
            <a:r>
              <a:rPr lang="en-US" sz="2400" b="1" u="sng" cap="none" dirty="0"/>
              <a:t>EXAMPLE</a:t>
            </a:r>
            <a:r>
              <a:rPr lang="en-US" sz="2400" cap="none" dirty="0"/>
              <a:t> </a:t>
            </a:r>
            <a:r>
              <a:rPr lang="en-US" sz="2400" b="1" cap="none" dirty="0"/>
              <a:t>4 </a:t>
            </a:r>
            <a:r>
              <a:rPr lang="en-US" sz="2400" cap="none" dirty="0"/>
              <a:t>– THEOREM OF DEDUCTION</a:t>
            </a: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914400"/>
            <a:ext cx="7924800" cy="206009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849" y="3043330"/>
            <a:ext cx="7307931" cy="16668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850677"/>
            <a:ext cx="5867400" cy="50549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5562600"/>
            <a:ext cx="2943225" cy="533400"/>
          </a:xfrm>
          <a:prstGeom prst="rect">
            <a:avLst/>
          </a:prstGeom>
        </p:spPr>
      </p:pic>
      <p:pic>
        <p:nvPicPr>
          <p:cNvPr id="7" name="Picture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46037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5757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11162"/>
          </a:xfrm>
        </p:spPr>
        <p:txBody>
          <a:bodyPr>
            <a:normAutofit fontScale="90000"/>
          </a:bodyPr>
          <a:lstStyle/>
          <a:p>
            <a:r>
              <a:rPr lang="en-US" sz="2400" b="1" u="sng" cap="none" dirty="0"/>
              <a:t>EXAMPLE 4</a:t>
            </a:r>
            <a:r>
              <a:rPr lang="en-US" sz="2400" cap="none" dirty="0"/>
              <a:t> (CONTD.)</a:t>
            </a: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196" y="845389"/>
            <a:ext cx="6981825" cy="14001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7351" y="2245564"/>
            <a:ext cx="3686175" cy="8191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7351" y="3125907"/>
            <a:ext cx="2705100" cy="8096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7799" y="3996725"/>
            <a:ext cx="6619875" cy="7810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2176" y="4838968"/>
            <a:ext cx="3162300" cy="7715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9186" y="5646526"/>
            <a:ext cx="6948488" cy="854919"/>
          </a:xfrm>
          <a:prstGeom prst="rect">
            <a:avLst/>
          </a:prstGeom>
        </p:spPr>
      </p:pic>
      <p:pic>
        <p:nvPicPr>
          <p:cNvPr id="9" name="Picture 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46037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12459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87362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 sz="2400" b="1" u="sng" cap="none"/>
              <a:t>EXAMPLE 4</a:t>
            </a:r>
            <a:r>
              <a:rPr lang="en-US" sz="2400" cap="none"/>
              <a:t> (CONTD.)</a:t>
            </a:r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762000"/>
            <a:ext cx="777240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8" name="Picture 4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43000" y="4419600"/>
            <a:ext cx="4953000" cy="1981200"/>
          </a:xfrm>
          <a:noFill/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122237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7696200" cy="914400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 sz="2400" b="1" u="sng" cap="none"/>
              <a:t>DECISION PROBLEMS</a:t>
            </a:r>
            <a:r>
              <a:rPr lang="en-US" sz="2400" cap="none"/>
              <a:t> </a:t>
            </a:r>
            <a:br>
              <a:rPr lang="en-US" sz="2400" cap="none"/>
            </a:br>
            <a:r>
              <a:rPr lang="en-US" sz="2400" cap="none"/>
              <a:t>	                </a:t>
            </a:r>
            <a:r>
              <a:rPr lang="en-US" sz="2400" b="1" u="sng" cap="none"/>
              <a:t>IN PROPOSITIONAL LOGIC</a:t>
            </a:r>
          </a:p>
        </p:txBody>
      </p:sp>
      <p:sp>
        <p:nvSpPr>
          <p:cNvPr id="27651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ro-RO"/>
          </a:p>
        </p:txBody>
      </p:sp>
      <p:pic>
        <p:nvPicPr>
          <p:cNvPr id="2765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76400"/>
            <a:ext cx="76962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639762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 sz="2400" b="1" cap="none"/>
              <a:t>CLASSIFICATION OF PROOF METHODS</a:t>
            </a:r>
          </a:p>
        </p:txBody>
      </p:sp>
      <p:pic>
        <p:nvPicPr>
          <p:cNvPr id="28675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143000"/>
            <a:ext cx="8153400" cy="54102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4590" y="46038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riel">
    <a:dk1>
      <a:sysClr val="windowText" lastClr="000000"/>
    </a:dk1>
    <a:lt1>
      <a:sysClr val="window" lastClr="FFFFFF"/>
    </a:lt1>
    <a:dk2>
      <a:srgbClr val="575F6D"/>
    </a:dk2>
    <a:lt2>
      <a:srgbClr val="FFF39D"/>
    </a:lt2>
    <a:accent1>
      <a:srgbClr val="FE8637"/>
    </a:accent1>
    <a:accent2>
      <a:srgbClr val="7598D9"/>
    </a:accent2>
    <a:accent3>
      <a:srgbClr val="B32C16"/>
    </a:accent3>
    <a:accent4>
      <a:srgbClr val="F5CD2D"/>
    </a:accent4>
    <a:accent5>
      <a:srgbClr val="AEBAD5"/>
    </a:accent5>
    <a:accent6>
      <a:srgbClr val="777C84"/>
    </a:accent6>
    <a:hlink>
      <a:srgbClr val="D2611C"/>
    </a:hlink>
    <a:folHlink>
      <a:srgbClr val="3B435B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6AA527AC66B043A6ABC545F551704A" ma:contentTypeVersion="3" ma:contentTypeDescription="Create a new document." ma:contentTypeScope="" ma:versionID="f5ad70e1441f73df0185f183c75be569">
  <xsd:schema xmlns:xsd="http://www.w3.org/2001/XMLSchema" xmlns:xs="http://www.w3.org/2001/XMLSchema" xmlns:p="http://schemas.microsoft.com/office/2006/metadata/properties" xmlns:ns2="83b6afff-f0de-42d1-ac40-a6c349a96d7c" targetNamespace="http://schemas.microsoft.com/office/2006/metadata/properties" ma:root="true" ma:fieldsID="32285c881151771460a5bf1e05eb1adf" ns2:_="">
    <xsd:import namespace="83b6afff-f0de-42d1-ac40-a6c349a96d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b6afff-f0de-42d1-ac40-a6c349a96d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45E262F-143F-4409-9A05-9807D3D50C1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95961EA-6E66-439D-B965-A2A62016AB1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8C533A8-D90F-4ABE-B816-7C3D97F67FC0}"/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2835</TotalTime>
  <Words>238</Words>
  <Application>Microsoft Office PowerPoint</Application>
  <PresentationFormat>On-screen Show (4:3)</PresentationFormat>
  <Paragraphs>32</Paragraphs>
  <Slides>23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Calibri</vt:lpstr>
      <vt:lpstr>Century Schoolbook</vt:lpstr>
      <vt:lpstr>Times New Roman</vt:lpstr>
      <vt:lpstr>Wingdings</vt:lpstr>
      <vt:lpstr>Wingdings 2</vt:lpstr>
      <vt:lpstr>Oriel</vt:lpstr>
      <vt:lpstr>Equation</vt:lpstr>
      <vt:lpstr>           PROPOSITIONAL LOGIC</vt:lpstr>
      <vt:lpstr>AXIOMATIC (FORMAL) SYSTEM:</vt:lpstr>
      <vt:lpstr>DEDUCTION</vt:lpstr>
      <vt:lpstr>PROPERTIES OF DERIVABILITY RELATION</vt:lpstr>
      <vt:lpstr>EXAMPLE 1 OF REASONING MODELING: PARTY</vt:lpstr>
      <vt:lpstr>PowerPoint Presentation</vt:lpstr>
      <vt:lpstr>EXAMPLE 2</vt:lpstr>
      <vt:lpstr>PROPERTIES OF PROPOSITIONAL LOGIC</vt:lpstr>
      <vt:lpstr>PROPOSITIONAL INFERENCE RULES</vt:lpstr>
      <vt:lpstr>PowerPoint Presentation</vt:lpstr>
      <vt:lpstr>WHICH RULE OF INFERENCE IS USED IN EACH ARGUMENT BELOW? </vt:lpstr>
      <vt:lpstr>EXAMPLE 3 OF REASONING MODELING</vt:lpstr>
      <vt:lpstr>    ÎNŢELEPCIUNE</vt:lpstr>
      <vt:lpstr>FALLACIES</vt:lpstr>
      <vt:lpstr>FALLACIES (contd.)</vt:lpstr>
      <vt:lpstr>THEOREM OF DEDUCTION AND ITS REVERSE</vt:lpstr>
      <vt:lpstr>       Theorem of deduction - consequences</vt:lpstr>
      <vt:lpstr>Proof</vt:lpstr>
      <vt:lpstr>EXAMPLE 4 – THEOREM OF DEDUCTION</vt:lpstr>
      <vt:lpstr>EXAMPLE 4 (CONTD.)</vt:lpstr>
      <vt:lpstr>EXAMPLE 4 (CONTD.)</vt:lpstr>
      <vt:lpstr>DECISION PROBLEMS                   IN PROPOSITIONAL LOGIC</vt:lpstr>
      <vt:lpstr>CLASSIFICATION OF PROOF METHODS</vt:lpstr>
    </vt:vector>
  </TitlesOfParts>
  <Company>Grizli777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LEN</dc:creator>
  <cp:lastModifiedBy>Mihaela-Ana Lupea</cp:lastModifiedBy>
  <cp:revision>127</cp:revision>
  <dcterms:created xsi:type="dcterms:W3CDTF">2017-10-24T14:24:02Z</dcterms:created>
  <dcterms:modified xsi:type="dcterms:W3CDTF">2025-10-22T15:31:16Z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0x010100C26AA527AC66B043A6ABC545F551704A</vt:lpwstr>
  </property>
</Properties>
</file>
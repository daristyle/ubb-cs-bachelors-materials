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4"/>
  </p:sldMasterIdLst>
  <p:notesMasterIdLst>
    <p:notesMasterId r:id="rId38"/>
  </p:notesMasterIdLst>
  <p:sldIdLst>
    <p:sldId id="256" r:id="rId5"/>
    <p:sldId id="257" r:id="rId6"/>
    <p:sldId id="258" r:id="rId7"/>
    <p:sldId id="259" r:id="rId8"/>
    <p:sldId id="260" r:id="rId9"/>
    <p:sldId id="261" r:id="rId10"/>
    <p:sldId id="282" r:id="rId11"/>
    <p:sldId id="283" r:id="rId12"/>
    <p:sldId id="262" r:id="rId13"/>
    <p:sldId id="263" r:id="rId14"/>
    <p:sldId id="264" r:id="rId15"/>
    <p:sldId id="265" r:id="rId16"/>
    <p:sldId id="284" r:id="rId17"/>
    <p:sldId id="266" r:id="rId18"/>
    <p:sldId id="267" r:id="rId19"/>
    <p:sldId id="268" r:id="rId20"/>
    <p:sldId id="279" r:id="rId21"/>
    <p:sldId id="280" r:id="rId22"/>
    <p:sldId id="281" r:id="rId23"/>
    <p:sldId id="269" r:id="rId24"/>
    <p:sldId id="299" r:id="rId25"/>
    <p:sldId id="270" r:id="rId26"/>
    <p:sldId id="271" r:id="rId27"/>
    <p:sldId id="272" r:id="rId28"/>
    <p:sldId id="273" r:id="rId29"/>
    <p:sldId id="274" r:id="rId30"/>
    <p:sldId id="300" r:id="rId31"/>
    <p:sldId id="301" r:id="rId32"/>
    <p:sldId id="302" r:id="rId33"/>
    <p:sldId id="278" r:id="rId34"/>
    <p:sldId id="285" r:id="rId35"/>
    <p:sldId id="276" r:id="rId36"/>
    <p:sldId id="277" r:id="rId37"/>
  </p:sldIdLst>
  <p:sldSz cx="9144000" cy="6858000" type="screen4x3"/>
  <p:notesSz cx="6858000" cy="9144000"/>
  <p:defaultTextStyle>
    <a:defPPr>
      <a:defRPr lang="ro-RO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CC0099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3891A0-117D-1B86-04F7-6A17262AA5B2}" v="18" dt="2024-09-30T09:51:43.9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62" y="40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haela-Ana Lupea" userId="S::mihaela.lupea@ubbcluj.ro::867230c0-1d89-4650-82fd-1d1bb4e91f48" providerId="AD" clId="Web-{1C3891A0-117D-1B86-04F7-6A17262AA5B2}"/>
    <pc:docChg chg="modSld">
      <pc:chgData name="Mihaela-Ana Lupea" userId="S::mihaela.lupea@ubbcluj.ro::867230c0-1d89-4650-82fd-1d1bb4e91f48" providerId="AD" clId="Web-{1C3891A0-117D-1B86-04F7-6A17262AA5B2}" dt="2024-09-30T09:51:43.130" v="16"/>
      <pc:docMkLst>
        <pc:docMk/>
      </pc:docMkLst>
      <pc:sldChg chg="modSp">
        <pc:chgData name="Mihaela-Ana Lupea" userId="S::mihaela.lupea@ubbcluj.ro::867230c0-1d89-4650-82fd-1d1bb4e91f48" providerId="AD" clId="Web-{1C3891A0-117D-1B86-04F7-6A17262AA5B2}" dt="2024-09-30T09:50:05.767" v="6" actId="20577"/>
        <pc:sldMkLst>
          <pc:docMk/>
          <pc:sldMk cId="0" sldId="260"/>
        </pc:sldMkLst>
        <pc:spChg chg="mod">
          <ac:chgData name="Mihaela-Ana Lupea" userId="S::mihaela.lupea@ubbcluj.ro::867230c0-1d89-4650-82fd-1d1bb4e91f48" providerId="AD" clId="Web-{1C3891A0-117D-1B86-04F7-6A17262AA5B2}" dt="2024-09-30T09:50:05.767" v="6" actId="20577"/>
          <ac:spMkLst>
            <pc:docMk/>
            <pc:sldMk cId="0" sldId="260"/>
            <ac:spMk id="9219" creationId="{00000000-0000-0000-0000-000000000000}"/>
          </ac:spMkLst>
        </pc:spChg>
      </pc:sldChg>
      <pc:sldChg chg="modSp">
        <pc:chgData name="Mihaela-Ana Lupea" userId="S::mihaela.lupea@ubbcluj.ro::867230c0-1d89-4650-82fd-1d1bb4e91f48" providerId="AD" clId="Web-{1C3891A0-117D-1B86-04F7-6A17262AA5B2}" dt="2024-09-30T09:50:34.377" v="14" actId="20577"/>
        <pc:sldMkLst>
          <pc:docMk/>
          <pc:sldMk cId="0" sldId="261"/>
        </pc:sldMkLst>
        <pc:spChg chg="mod">
          <ac:chgData name="Mihaela-Ana Lupea" userId="S::mihaela.lupea@ubbcluj.ro::867230c0-1d89-4650-82fd-1d1bb4e91f48" providerId="AD" clId="Web-{1C3891A0-117D-1B86-04F7-6A17262AA5B2}" dt="2024-09-30T09:50:34.377" v="14" actId="20577"/>
          <ac:spMkLst>
            <pc:docMk/>
            <pc:sldMk cId="0" sldId="261"/>
            <ac:spMk id="8195" creationId="{00000000-0000-0000-0000-000000000000}"/>
          </ac:spMkLst>
        </pc:spChg>
      </pc:sldChg>
      <pc:sldChg chg="addSp modSp">
        <pc:chgData name="Mihaela-Ana Lupea" userId="S::mihaela.lupea@ubbcluj.ro::867230c0-1d89-4650-82fd-1d1bb4e91f48" providerId="AD" clId="Web-{1C3891A0-117D-1B86-04F7-6A17262AA5B2}" dt="2024-09-30T09:51:43.130" v="16"/>
        <pc:sldMkLst>
          <pc:docMk/>
          <pc:sldMk cId="2194634969" sldId="284"/>
        </pc:sldMkLst>
        <pc:picChg chg="mod">
          <ac:chgData name="Mihaela-Ana Lupea" userId="S::mihaela.lupea@ubbcluj.ro::867230c0-1d89-4650-82fd-1d1bb4e91f48" providerId="AD" clId="Web-{1C3891A0-117D-1B86-04F7-6A17262AA5B2}" dt="2024-09-30T09:51:31.489" v="15" actId="1076"/>
          <ac:picMkLst>
            <pc:docMk/>
            <pc:sldMk cId="2194634969" sldId="284"/>
            <ac:picMk id="2" creationId="{00000000-0000-0000-0000-000000000000}"/>
          </ac:picMkLst>
        </pc:picChg>
        <pc:picChg chg="add">
          <ac:chgData name="Mihaela-Ana Lupea" userId="S::mihaela.lupea@ubbcluj.ro::867230c0-1d89-4650-82fd-1d1bb4e91f48" providerId="AD" clId="Web-{1C3891A0-117D-1B86-04F7-6A17262AA5B2}" dt="2024-09-30T09:51:43.130" v="16"/>
          <ac:picMkLst>
            <pc:docMk/>
            <pc:sldMk cId="2194634969" sldId="284"/>
            <ac:picMk id="4" creationId="{EF9A221D-48AF-324D-780E-201F5A3CFA0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34796F9D-6905-4934-9331-20404734BD4D}" type="datetimeFigureOut">
              <a:rPr lang="en-US"/>
              <a:pPr>
                <a:defRPr/>
              </a:pPr>
              <a:t>10/1/2025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93C54835-9088-49D0-9EFB-6D70372F0F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1836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E588641-BFDA-4093-B090-88E6AAB79284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374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C54835-9088-49D0-9EFB-6D70372F0F24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786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8763000" cy="5943600"/>
            <a:chOff x="0" y="0"/>
            <a:chExt cx="5520" cy="3744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110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0" y="2208"/>
              <a:ext cx="5520" cy="1536"/>
              <a:chOff x="0" y="2208"/>
              <a:chExt cx="5520" cy="1536"/>
            </a:xfrm>
          </p:grpSpPr>
          <p:sp>
            <p:nvSpPr>
              <p:cNvPr id="10" name="Rectangle 5"/>
              <p:cNvSpPr>
                <a:spLocks noChangeArrowheads="1"/>
              </p:cNvSpPr>
              <p:nvPr/>
            </p:nvSpPr>
            <p:spPr bwMode="ltGray">
              <a:xfrm>
                <a:off x="624" y="2208"/>
                <a:ext cx="4896" cy="153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6"/>
              <p:cNvSpPr>
                <a:spLocks noChangeArrowheads="1"/>
              </p:cNvSpPr>
              <p:nvPr/>
            </p:nvSpPr>
            <p:spPr bwMode="white">
              <a:xfrm>
                <a:off x="654" y="2352"/>
                <a:ext cx="4818" cy="13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Line 7"/>
              <p:cNvSpPr>
                <a:spLocks noChangeShapeType="1"/>
              </p:cNvSpPr>
              <p:nvPr/>
            </p:nvSpPr>
            <p:spPr bwMode="auto">
              <a:xfrm>
                <a:off x="0" y="3072"/>
                <a:ext cx="624" cy="0"/>
              </a:xfrm>
              <a:prstGeom prst="line">
                <a:avLst/>
              </a:prstGeom>
              <a:noFill/>
              <a:ln w="5080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8"/>
            <p:cNvGrpSpPr>
              <a:grpSpLocks/>
            </p:cNvGrpSpPr>
            <p:nvPr userDrawn="1"/>
          </p:nvGrpSpPr>
          <p:grpSpPr bwMode="auto">
            <a:xfrm>
              <a:off x="400" y="336"/>
              <a:ext cx="5088" cy="192"/>
              <a:chOff x="400" y="336"/>
              <a:chExt cx="5088" cy="192"/>
            </a:xfrm>
          </p:grpSpPr>
          <p:sp>
            <p:nvSpPr>
              <p:cNvPr id="8" name="Rectangle 9"/>
              <p:cNvSpPr>
                <a:spLocks noChangeArrowheads="1"/>
              </p:cNvSpPr>
              <p:nvPr/>
            </p:nvSpPr>
            <p:spPr bwMode="auto">
              <a:xfrm>
                <a:off x="3952" y="336"/>
                <a:ext cx="1536" cy="19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Line 10"/>
              <p:cNvSpPr>
                <a:spLocks noChangeShapeType="1"/>
              </p:cNvSpPr>
              <p:nvPr/>
            </p:nvSpPr>
            <p:spPr bwMode="auto">
              <a:xfrm>
                <a:off x="400" y="432"/>
                <a:ext cx="5088" cy="0"/>
              </a:xfrm>
              <a:prstGeom prst="line">
                <a:avLst/>
              </a:prstGeom>
              <a:noFill/>
              <a:ln w="444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6155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2057400" y="1143000"/>
            <a:ext cx="6629400" cy="2209800"/>
          </a:xfrm>
        </p:spPr>
        <p:txBody>
          <a:bodyPr/>
          <a:lstStyle>
            <a:lvl1pPr>
              <a:defRPr sz="4800"/>
            </a:lvl1pPr>
          </a:lstStyle>
          <a:p>
            <a:r>
              <a:rPr lang="ro-RO"/>
              <a:t>Click to edit Master title style</a:t>
            </a:r>
          </a:p>
        </p:txBody>
      </p:sp>
      <p:sp>
        <p:nvSpPr>
          <p:cNvPr id="6156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962400"/>
            <a:ext cx="6858000" cy="1600200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ro-RO"/>
              <a:t>Click to edit Master subtitle style</a:t>
            </a:r>
          </a:p>
        </p:txBody>
      </p:sp>
      <p:sp>
        <p:nvSpPr>
          <p:cNvPr id="13" name="Rectangle 13"/>
          <p:cNvSpPr>
            <a:spLocks noGrp="1" noChangeArrowheads="1"/>
          </p:cNvSpPr>
          <p:nvPr>
            <p:ph type="dt" sz="half" idx="10"/>
          </p:nvPr>
        </p:nvSpPr>
        <p:spPr>
          <a:xfrm>
            <a:off x="912813" y="6251575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4388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BAE085D-B924-4493-AB53-18FB5A15DD61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20995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AF419F-3838-49AB-8394-16251270E679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82385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58F20-DF3A-472B-8B4B-763142F10630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11456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600200"/>
            <a:ext cx="38100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38100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248661-22FA-4FA5-8E5C-A96BC86FE2B4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70098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9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E707FE-FF36-44B2-9A0D-E9CD6275B012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35976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DD1D24-15FF-40FD-AE6C-E4903AE91A85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66156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D84BA7-D2F2-4814-ACC5-2B548E562182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36359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F439B1-CFB8-46A8-9BDA-0545DB7567C5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8621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2BA622-48B9-4D36-BDF9-206C7781DDB6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61917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5E5AAA-8FF2-4DEB-9CD9-7D839A630021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15527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277813"/>
            <a:ext cx="19431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7813"/>
            <a:ext cx="56769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CDDCF5-C784-45A7-91E1-054B51D4AF1D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78484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8686800" cy="4876800"/>
            <a:chOff x="0" y="0"/>
            <a:chExt cx="5472" cy="3072"/>
          </a:xfrm>
        </p:grpSpPr>
        <p:sp>
          <p:nvSpPr>
            <p:cNvPr id="1033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38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1034" name="Group 4"/>
            <p:cNvGrpSpPr>
              <a:grpSpLocks/>
            </p:cNvGrpSpPr>
            <p:nvPr/>
          </p:nvGrpSpPr>
          <p:grpSpPr bwMode="auto">
            <a:xfrm>
              <a:off x="240" y="893"/>
              <a:ext cx="5232" cy="115"/>
              <a:chOff x="240" y="893"/>
              <a:chExt cx="5232" cy="115"/>
            </a:xfrm>
          </p:grpSpPr>
          <p:sp>
            <p:nvSpPr>
              <p:cNvPr id="1035" name="Rectangle 5"/>
              <p:cNvSpPr>
                <a:spLocks noChangeArrowheads="1"/>
              </p:cNvSpPr>
              <p:nvPr/>
            </p:nvSpPr>
            <p:spPr bwMode="auto">
              <a:xfrm>
                <a:off x="4320" y="893"/>
                <a:ext cx="1152" cy="11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36" name="Line 6"/>
              <p:cNvSpPr>
                <a:spLocks noChangeShapeType="1"/>
              </p:cNvSpPr>
              <p:nvPr/>
            </p:nvSpPr>
            <p:spPr bwMode="auto">
              <a:xfrm>
                <a:off x="240" y="941"/>
                <a:ext cx="5232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027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77813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o-RO"/>
              <a:t>Click to edit Master title style</a:t>
            </a:r>
          </a:p>
        </p:txBody>
      </p: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</a:p>
        </p:txBody>
      </p:sp>
      <p:sp>
        <p:nvSpPr>
          <p:cNvPr id="5129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51575"/>
            <a:ext cx="198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130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2484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/>
            </a:lvl1pPr>
          </a:lstStyle>
          <a:p>
            <a:pPr>
              <a:defRPr/>
            </a:pPr>
            <a:fld id="{9630CF11-9316-41DC-AC3E-C220491E5250}" type="slidenum">
              <a:rPr lang="ro-RO"/>
              <a:pPr>
                <a:defRPr/>
              </a:pPr>
              <a:t>‹#›</a:t>
            </a:fld>
            <a:endParaRPr lang="ro-RO"/>
          </a:p>
        </p:txBody>
      </p:sp>
      <p:sp>
        <p:nvSpPr>
          <p:cNvPr id="1032" name="Line 12"/>
          <p:cNvSpPr>
            <a:spLocks noChangeShapeType="1"/>
          </p:cNvSpPr>
          <p:nvPr/>
        </p:nvSpPr>
        <p:spPr bwMode="auto">
          <a:xfrm>
            <a:off x="0" y="4876800"/>
            <a:ext cx="609600" cy="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anose="05000000000000000000" pitchFamily="2" charset="2"/>
        <a:buChar char="n"/>
        <a:defRPr sz="23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search?sca_esv=219388647f983b16&amp;cs=0&amp;sxsrf=AE3TifN3KUpEsyDmk_EbXU8qXoQjV2uc_g%3A1759169374587&amp;q=answer+set+program&amp;sa=X&amp;ved=2ahUKEwjhk4jNyP6PAxVChP0HHbQDBAwQxccNegQIMBAB&amp;mstk=AUtExfC2Wyq9ozOxNvjGA1A7mKnAHTwiWMo2wl9i1Puxnsh8vdFRG-uX3lDfjNpg1dXEfEunFB8tGIrlujyMiDN6VyJrdlkXsOuo8lsVFtldu3KNtzGpSgrS_kkSHlKsQiXtKW-NR-NWxP6JEiC6N8xOjuQnjV7hGgCkLDilmOwS-ox9gXy-wnWs-m_5IWOUp6lQ5Yi1Mj_TDVICatJ8BbCHX1DzEPIHnLuj2Kcx5G9i2sHyxDesGsv8Ig_g7LyvBRO9atd2-w3kqiVGf6iE0_7zumQc&amp;csui=3" TargetMode="Externa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/>
          <p:cNvSpPr>
            <a:spLocks noGrp="1" noChangeArrowheads="1"/>
          </p:cNvSpPr>
          <p:nvPr>
            <p:ph type="title"/>
          </p:nvPr>
        </p:nvSpPr>
        <p:spPr>
          <a:xfrm>
            <a:off x="914400" y="152400"/>
            <a:ext cx="7772400" cy="1143000"/>
          </a:xfrm>
        </p:spPr>
        <p:txBody>
          <a:bodyPr/>
          <a:lstStyle/>
          <a:p>
            <a:pPr eaLnBrk="1" hangingPunct="1"/>
            <a:r>
              <a:rPr lang="it-IT" sz="3600" b="1"/>
              <a:t>Computational Logic</a:t>
            </a:r>
            <a:endParaRPr lang="ro-RO" sz="3600" b="1"/>
          </a:p>
        </p:txBody>
      </p:sp>
      <p:sp>
        <p:nvSpPr>
          <p:cNvPr id="409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32515" y="1600200"/>
            <a:ext cx="8534400" cy="5029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it-IT" sz="2000" dirty="0"/>
              <a:t>Microsoft Teams platform – </a:t>
            </a:r>
            <a:r>
              <a:rPr lang="it-IT" sz="2000" b="1" dirty="0"/>
              <a:t>Logic IE, 2025-2026</a:t>
            </a:r>
            <a:r>
              <a:rPr lang="it-IT" sz="2000" dirty="0"/>
              <a:t> team, code: </a:t>
            </a:r>
            <a:r>
              <a:rPr lang="it-IT" sz="2000" b="1" dirty="0"/>
              <a:t>s9gtl7b</a:t>
            </a:r>
          </a:p>
          <a:p>
            <a:pPr eaLnBrk="1" hangingPunct="1">
              <a:lnSpc>
                <a:spcPct val="90000"/>
              </a:lnSpc>
              <a:buFontTx/>
              <a:buChar char="o"/>
            </a:pPr>
            <a:endParaRPr lang="en-US" sz="1000" b="1" u="sng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b="1" u="sng" dirty="0"/>
              <a:t>Objectives: </a:t>
            </a:r>
            <a:endParaRPr lang="en-US" sz="2000" b="1" dirty="0"/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sz="2000" b="1" dirty="0"/>
              <a:t>     The aim of the course is the presentation of the </a:t>
            </a:r>
            <a:r>
              <a:rPr lang="en-US" sz="2000" b="1" i="1" u="sng" dirty="0"/>
              <a:t>logical foundations of computer science</a:t>
            </a:r>
            <a:r>
              <a:rPr lang="en-US" sz="2000" b="1" dirty="0"/>
              <a:t>: </a:t>
            </a:r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t"/>
            </a:pPr>
            <a:r>
              <a:rPr lang="en-US" sz="2000" b="1" dirty="0"/>
              <a:t>propositional calculus and predicate calculus, theorem proving methods, </a:t>
            </a:r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t"/>
            </a:pPr>
            <a:r>
              <a:rPr lang="en-US" sz="2000" b="1" dirty="0"/>
              <a:t>Boolean algebras and Boolean functions, logic circuits.</a:t>
            </a:r>
          </a:p>
          <a:p>
            <a:pPr lvl="1" eaLnBrk="1" hangingPunct="1">
              <a:lnSpc>
                <a:spcPct val="150000"/>
              </a:lnSpc>
              <a:buFontTx/>
              <a:buNone/>
            </a:pPr>
            <a:endParaRPr lang="en-US" sz="600" b="1" dirty="0"/>
          </a:p>
          <a:p>
            <a:pPr lvl="1" eaLnBrk="1" hangingPunct="1">
              <a:lnSpc>
                <a:spcPct val="150000"/>
              </a:lnSpc>
              <a:buFontTx/>
              <a:buNone/>
            </a:pPr>
            <a:r>
              <a:rPr lang="en-US" sz="2000" b="1" dirty="0"/>
              <a:t>Additionally, notions related to </a:t>
            </a:r>
            <a:r>
              <a:rPr lang="en-US" sz="2000" b="1" i="1" u="sng" dirty="0"/>
              <a:t>numbers representation</a:t>
            </a:r>
            <a:r>
              <a:rPr lang="en-US" sz="2000" b="1" dirty="0"/>
              <a:t> are</a:t>
            </a:r>
          </a:p>
          <a:p>
            <a:pPr lvl="1" eaLnBrk="1" hangingPunct="1">
              <a:lnSpc>
                <a:spcPct val="150000"/>
              </a:lnSpc>
              <a:buFontTx/>
              <a:buNone/>
            </a:pPr>
            <a:r>
              <a:rPr lang="en-US" sz="2000" b="1" dirty="0"/>
              <a:t>introduced.</a:t>
            </a:r>
            <a:endParaRPr lang="ro-RO" sz="20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43"/>
            <a:ext cx="632515" cy="7925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b="1"/>
              <a:t>Competencies</a:t>
            </a:r>
            <a:endParaRPr lang="ro-RO" sz="4000" b="1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828800"/>
            <a:ext cx="8839200" cy="50292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000" b="1"/>
              <a:t>to use numeration systems and internal numbers representations;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endParaRPr lang="en-US" sz="700" b="1"/>
          </a:p>
          <a:p>
            <a:pPr eaLnBrk="1" hangingPunct="1">
              <a:lnSpc>
                <a:spcPct val="125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000" b="1"/>
              <a:t>to understand the theoretical aspects of classical logics;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sz="700" b="1"/>
              <a:t> </a:t>
            </a:r>
          </a:p>
          <a:p>
            <a:pPr eaLnBrk="1" hangingPunct="1">
              <a:lnSpc>
                <a:spcPct val="125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000" b="1"/>
              <a:t>to understand classical logics from a computational perspective (apply specific proof methods);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endParaRPr lang="en-US" sz="700" b="1"/>
          </a:p>
          <a:p>
            <a:pPr eaLnBrk="1" hangingPunct="1">
              <a:lnSpc>
                <a:spcPct val="125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000" b="1"/>
              <a:t>to model human reasoning and mathematical reasoning using propositional logic and predicate logic;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endParaRPr lang="en-US" sz="700" b="1"/>
          </a:p>
          <a:p>
            <a:pPr eaLnBrk="1" hangingPunct="1">
              <a:lnSpc>
                <a:spcPct val="125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000" b="1"/>
              <a:t>to understand logic circuits and to simplify them using specific simplification methods for Boolean functions.</a:t>
            </a:r>
            <a:endParaRPr lang="ro-RO" sz="2000" b="1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485"/>
            <a:ext cx="632515" cy="7925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br>
              <a:rPr lang="en-US" sz="3800" b="1"/>
            </a:br>
            <a:r>
              <a:rPr lang="en-US" sz="3800" b="1"/>
              <a:t>Methods </a:t>
            </a:r>
            <a:br>
              <a:rPr lang="en-US" sz="3800" b="1"/>
            </a:br>
            <a:endParaRPr lang="ro-RO" sz="3800" b="1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839200" cy="5257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800" b="1"/>
          </a:p>
          <a:p>
            <a:pPr eaLnBrk="1" hangingPunct="1">
              <a:lnSpc>
                <a:spcPct val="13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§"/>
            </a:pPr>
            <a:r>
              <a:rPr lang="en-US" sz="2400" b="1"/>
              <a:t>lectures, exercises, individual study;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endParaRPr lang="en-US" sz="1000" b="1"/>
          </a:p>
          <a:p>
            <a:pPr eaLnBrk="1" hangingPunct="1">
              <a:lnSpc>
                <a:spcPct val="13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§"/>
            </a:pPr>
            <a:r>
              <a:rPr lang="en-US" sz="2400" b="1"/>
              <a:t>specific bibliographic materials are used: </a:t>
            </a:r>
          </a:p>
          <a:p>
            <a:pPr eaLnBrk="1" hangingPunct="1">
              <a:lnSpc>
                <a:spcPct val="130000"/>
              </a:lnSpc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sz="2400" b="1"/>
              <a:t>              books, articles, internet resources;</a:t>
            </a:r>
          </a:p>
          <a:p>
            <a:pPr eaLnBrk="1" hangingPunct="1">
              <a:lnSpc>
                <a:spcPct val="13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§"/>
            </a:pPr>
            <a:r>
              <a:rPr lang="en-US" sz="2400" b="1"/>
              <a:t>individual homework</a:t>
            </a:r>
          </a:p>
          <a:p>
            <a:pPr eaLnBrk="1" hangingPunct="1">
              <a:lnSpc>
                <a:spcPct val="13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§"/>
            </a:pPr>
            <a:r>
              <a:rPr lang="en-US" sz="2400" b="1"/>
              <a:t>optional homework</a:t>
            </a:r>
            <a:endParaRPr lang="ro-RO" sz="24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458" y="0"/>
            <a:ext cx="632515" cy="7925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/>
              <a:t>Content</a:t>
            </a:r>
            <a:endParaRPr lang="ro-RO" sz="3600" b="1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9144000" cy="45307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sz="2400" b="1"/>
              <a:t>I.  </a:t>
            </a:r>
            <a:r>
              <a:rPr lang="en-US" sz="2400" b="1" u="sng"/>
              <a:t>Numeration systems, numbers representations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sz="900" b="1" u="sng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400" b="1"/>
              <a:t>    ==&gt; </a:t>
            </a:r>
            <a:r>
              <a:rPr lang="en-US" sz="2200" b="1"/>
              <a:t>prerequisite for the discipline: </a:t>
            </a:r>
            <a:r>
              <a:rPr lang="en-US" sz="2200" b="1" i="1"/>
              <a:t>Computer Architecture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sz="2400" b="1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400" b="1"/>
              <a:t>II. </a:t>
            </a:r>
            <a:r>
              <a:rPr lang="en-US" sz="2400" b="1" u="sng"/>
              <a:t>Classical logics: propositional and predicate logics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sz="800" b="1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400" b="1"/>
              <a:t>    ==&gt; </a:t>
            </a:r>
            <a:r>
              <a:rPr lang="en-US" sz="2200" b="1"/>
              <a:t>prerequisite for the disciplines: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200" b="1"/>
              <a:t>               </a:t>
            </a:r>
            <a:r>
              <a:rPr lang="en-US" sz="2200" b="1" i="1"/>
              <a:t>Logic programming, Artificial Intelligence,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200" b="1" i="1"/>
              <a:t>               Automated theorem proving systems.</a:t>
            </a:r>
          </a:p>
          <a:p>
            <a:pPr eaLnBrk="1" hangingPunct="1"/>
            <a:endParaRPr lang="en-US" sz="2200" b="1" i="1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400" b="1"/>
              <a:t>III</a:t>
            </a:r>
            <a:r>
              <a:rPr lang="en-US" sz="2400"/>
              <a:t>. </a:t>
            </a:r>
            <a:r>
              <a:rPr lang="en-US" sz="2400" b="1" u="sng"/>
              <a:t>Boolean algebras, Boolean functions and logic circuits</a:t>
            </a:r>
          </a:p>
          <a:p>
            <a:pPr eaLnBrk="1" hangingPunct="1"/>
            <a:endParaRPr lang="ro-RO" sz="24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32515" cy="7925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8534400" cy="963613"/>
          </a:xfrm>
        </p:spPr>
        <p:txBody>
          <a:bodyPr/>
          <a:lstStyle/>
          <a:p>
            <a:pPr eaLnBrk="1" hangingPunct="1"/>
            <a:r>
              <a:rPr lang="en-US" sz="3200" b="1"/>
              <a:t>       Evaluation - s</a:t>
            </a:r>
            <a:r>
              <a:rPr lang="fr-FR" sz="3200" b="1" err="1"/>
              <a:t>hare</a:t>
            </a:r>
            <a:r>
              <a:rPr lang="fr-FR" sz="3200" b="1"/>
              <a:t> in the final grade (%)</a:t>
            </a:r>
            <a:br>
              <a:rPr lang="fr-FR" sz="3200" b="1"/>
            </a:br>
            <a:endParaRPr lang="ro-RO" sz="3200" b="1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524000"/>
            <a:ext cx="8915400" cy="50292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§"/>
            </a:pPr>
            <a:r>
              <a:rPr lang="fr-FR" sz="2400" b="1" u="sng" err="1"/>
              <a:t>Midterm</a:t>
            </a:r>
            <a:r>
              <a:rPr lang="fr-FR" sz="2400" b="1" u="sng"/>
              <a:t> exam </a:t>
            </a:r>
            <a:r>
              <a:rPr lang="fr-FR" sz="2400"/>
              <a:t>(</a:t>
            </a:r>
            <a:r>
              <a:rPr lang="fr-FR" sz="2000" b="1" err="1"/>
              <a:t>written</a:t>
            </a:r>
            <a:r>
              <a:rPr lang="fr-FR" sz="2000"/>
              <a:t> </a:t>
            </a:r>
            <a:r>
              <a:rPr lang="fr-FR" sz="2000" b="1"/>
              <a:t>exam</a:t>
            </a:r>
            <a:r>
              <a:rPr lang="fr-FR" sz="2000"/>
              <a:t> </a:t>
            </a:r>
            <a:r>
              <a:rPr lang="fr-FR" sz="2000" b="1"/>
              <a:t>in the </a:t>
            </a:r>
            <a:r>
              <a:rPr lang="fr-FR" sz="2000" b="1" err="1"/>
              <a:t>sixth</a:t>
            </a:r>
            <a:r>
              <a:rPr lang="fr-FR" sz="2000" b="1"/>
              <a:t> </a:t>
            </a:r>
            <a:r>
              <a:rPr lang="fr-FR" sz="2000" b="1" err="1"/>
              <a:t>week</a:t>
            </a:r>
            <a:r>
              <a:rPr lang="fr-FR" sz="2000" b="1"/>
              <a:t> </a:t>
            </a:r>
            <a:r>
              <a:rPr lang="fr-FR" sz="2000" b="1" err="1"/>
              <a:t>during</a:t>
            </a:r>
            <a:r>
              <a:rPr lang="fr-FR" sz="2000" b="1"/>
              <a:t> the </a:t>
            </a:r>
            <a:r>
              <a:rPr lang="fr-FR" sz="2000" b="1" err="1"/>
              <a:t>seminar</a:t>
            </a:r>
            <a:r>
              <a:rPr lang="fr-FR" sz="2400"/>
              <a:t>): </a:t>
            </a:r>
            <a:r>
              <a:rPr lang="fr-FR" sz="2400" b="1"/>
              <a:t>20%</a:t>
            </a:r>
            <a:r>
              <a:rPr lang="fr-FR" sz="2400"/>
              <a:t>  </a:t>
            </a:r>
          </a:p>
          <a:p>
            <a:pPr marL="952500" lvl="1" indent="-495300" eaLnBrk="1" hangingPunct="1">
              <a:lnSpc>
                <a:spcPct val="13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GB" sz="2000" b="1"/>
              <a:t>subjects from: </a:t>
            </a:r>
          </a:p>
          <a:p>
            <a:pPr marL="1200150" lvl="2" indent="-342900" eaLnBrk="1" hangingPunct="1">
              <a:lnSpc>
                <a:spcPct val="13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v"/>
            </a:pPr>
            <a:r>
              <a:rPr lang="en-GB" sz="1900" b="1"/>
              <a:t>operations and conversions in different numeration bases</a:t>
            </a:r>
          </a:p>
          <a:p>
            <a:pPr marL="1200150" lvl="2" indent="-342900" eaLnBrk="1" hangingPunct="1">
              <a:lnSpc>
                <a:spcPct val="13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v"/>
            </a:pPr>
            <a:r>
              <a:rPr lang="en-GB" sz="1900" b="1"/>
              <a:t>internal representations of integer and real numbers</a:t>
            </a:r>
          </a:p>
          <a:p>
            <a:pPr marL="952500" lvl="1" indent="-495300" eaLnBrk="1" hangingPunct="1">
              <a:lnSpc>
                <a:spcPct val="9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GB" sz="2000" b="1"/>
              <a:t>grade &gt;= 5</a:t>
            </a:r>
            <a:endParaRPr lang="en-GB" sz="2000"/>
          </a:p>
          <a:p>
            <a:pPr marL="457200" lvl="1" indent="0" eaLnBrk="1" hangingPunct="1">
              <a:lnSpc>
                <a:spcPct val="90000"/>
              </a:lnSpc>
              <a:buClr>
                <a:schemeClr val="tx1"/>
              </a:buClr>
              <a:buSzTx/>
              <a:buNone/>
            </a:pPr>
            <a:endParaRPr lang="en-GB" sz="1200"/>
          </a:p>
          <a:p>
            <a:pPr marL="533400" indent="-533400" eaLnBrk="1" hangingPunct="1">
              <a:lnSpc>
                <a:spcPct val="9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§"/>
            </a:pPr>
            <a:r>
              <a:rPr lang="en-GB" sz="2400" b="1" u="sng"/>
              <a:t>Seminars’ activity</a:t>
            </a:r>
            <a:r>
              <a:rPr lang="en-GB" sz="2400"/>
              <a:t>: </a:t>
            </a:r>
            <a:r>
              <a:rPr lang="en-GB" sz="2400" b="1"/>
              <a:t>20%</a:t>
            </a:r>
            <a:endParaRPr lang="en-US" sz="2400"/>
          </a:p>
          <a:p>
            <a:pPr marL="952500" lvl="1" indent="-495300" eaLnBrk="1" hangingPunct="1">
              <a:lnSpc>
                <a:spcPct val="13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lang="en-US" sz="2000" b="1"/>
              <a:t>individual homework and presentation of the solved exercises during seminars</a:t>
            </a:r>
          </a:p>
          <a:p>
            <a:pPr marL="952500" lvl="1" indent="-495300" eaLnBrk="1" hangingPunct="1">
              <a:lnSpc>
                <a:spcPct val="13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lang="en-US" sz="2000" b="1"/>
              <a:t>subjects from propositional and predicate logics and circuits</a:t>
            </a:r>
            <a:endParaRPr lang="en-US" sz="2000"/>
          </a:p>
          <a:p>
            <a:pPr marL="952500" lvl="1" indent="-495300" eaLnBrk="1" hangingPunct="1"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lang="en-US" sz="2000" b="1"/>
              <a:t>gr</a:t>
            </a:r>
            <a:r>
              <a:rPr lang="en-GB" sz="2000" b="1" err="1"/>
              <a:t>ade</a:t>
            </a:r>
            <a:r>
              <a:rPr lang="en-GB" sz="2000" b="1"/>
              <a:t> &gt;= 5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2515" cy="7925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77813"/>
            <a:ext cx="8305800" cy="1017587"/>
          </a:xfrm>
        </p:spPr>
        <p:txBody>
          <a:bodyPr/>
          <a:lstStyle/>
          <a:p>
            <a:pPr eaLnBrk="1" hangingPunct="1"/>
            <a:r>
              <a:rPr lang="en-US" sz="3600" b="1"/>
              <a:t>Evaluation - s</a:t>
            </a:r>
            <a:r>
              <a:rPr lang="fr-FR" sz="3600" b="1"/>
              <a:t>hare in the final grade (%)</a:t>
            </a:r>
            <a:endParaRPr lang="ro-RO" sz="3600" b="1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600200"/>
            <a:ext cx="8991600" cy="5257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§"/>
            </a:pPr>
            <a:r>
              <a:rPr lang="en-GB" sz="2400" b="1" u="sng"/>
              <a:t>Final </a:t>
            </a:r>
            <a:r>
              <a:rPr lang="en-GB" sz="2000" b="1" u="sng"/>
              <a:t>exam </a:t>
            </a:r>
            <a:r>
              <a:rPr lang="en-GB" sz="2000"/>
              <a:t>(theory and exercises): </a:t>
            </a:r>
            <a:r>
              <a:rPr lang="en-GB" sz="2400" b="1"/>
              <a:t>60%</a:t>
            </a:r>
          </a:p>
          <a:p>
            <a:pPr marL="952500" lvl="1" indent="-495300" eaLnBrk="1" hangingPunct="1">
              <a:lnSpc>
                <a:spcPct val="9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GB" sz="2000" b="1"/>
              <a:t>written paper (during the exam session)</a:t>
            </a:r>
          </a:p>
          <a:p>
            <a:pPr marL="952500" lvl="1" indent="-495300" eaLnBrk="1" hangingPunct="1">
              <a:lnSpc>
                <a:spcPct val="9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000" b="1"/>
              <a:t>subjects from: propositional logic, predicate logic,</a:t>
            </a:r>
          </a:p>
          <a:p>
            <a:pPr marL="457200" lvl="1" indent="0" eaLnBrk="1" hangingPunct="1">
              <a:lnSpc>
                <a:spcPct val="90000"/>
              </a:lnSpc>
              <a:buClr>
                <a:schemeClr val="tx1"/>
              </a:buClr>
              <a:buSzTx/>
              <a:buNone/>
            </a:pPr>
            <a:r>
              <a:rPr lang="en-US" sz="2000" b="1"/>
              <a:t>			  logic circuits </a:t>
            </a:r>
            <a:r>
              <a:rPr lang="fr-FR" sz="2000" b="1"/>
              <a:t>  </a:t>
            </a:r>
          </a:p>
          <a:p>
            <a:pPr marL="952500" lvl="1" indent="-495300" eaLnBrk="1" hangingPunct="1">
              <a:lnSpc>
                <a:spcPct val="9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GB" sz="2000" b="1"/>
              <a:t>grade&gt;= 4.5</a:t>
            </a:r>
            <a:endParaRPr lang="en-GB" sz="2000"/>
          </a:p>
          <a:p>
            <a:pPr marL="533400" indent="-533400" eaLnBrk="1" hangingPunct="1">
              <a:buClr>
                <a:schemeClr val="tx1"/>
              </a:buClr>
              <a:buSzTx/>
              <a:defRPr/>
            </a:pPr>
            <a:endParaRPr lang="en-US" sz="1000" b="1" u="sng">
              <a:solidFill>
                <a:srgbClr val="009900"/>
              </a:solidFill>
            </a:endParaRPr>
          </a:p>
          <a:p>
            <a:pPr marL="533400" indent="-533400" eaLnBrk="1" hangingPunct="1">
              <a:buClr>
                <a:schemeClr val="tx1"/>
              </a:buClr>
              <a:buSzTx/>
              <a:defRPr/>
            </a:pPr>
            <a:r>
              <a:rPr lang="en-US" sz="2400" b="1" u="sng">
                <a:solidFill>
                  <a:srgbClr val="009900"/>
                </a:solidFill>
              </a:rPr>
              <a:t>Optional homework</a:t>
            </a:r>
            <a:r>
              <a:rPr lang="en-US" sz="2200">
                <a:solidFill>
                  <a:srgbClr val="009900"/>
                </a:solidFill>
              </a:rPr>
              <a:t>: </a:t>
            </a:r>
            <a:r>
              <a:rPr lang="en-US" sz="2200" b="1">
                <a:solidFill>
                  <a:srgbClr val="009900"/>
                </a:solidFill>
              </a:rPr>
              <a:t>10</a:t>
            </a:r>
            <a:r>
              <a:rPr lang="en-US" sz="2200">
                <a:solidFill>
                  <a:srgbClr val="009900"/>
                </a:solidFill>
              </a:rPr>
              <a:t>% (increases the final grade)</a:t>
            </a:r>
          </a:p>
          <a:p>
            <a:pPr marL="952500" lvl="1" indent="-495300" eaLnBrk="1" hangingPunct="1">
              <a:lnSpc>
                <a:spcPct val="12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lang="en-US" sz="2200">
                <a:solidFill>
                  <a:srgbClr val="009900"/>
                </a:solidFill>
              </a:rPr>
              <a:t>S</a:t>
            </a:r>
            <a:r>
              <a:rPr lang="ro-RO" sz="2200">
                <a:solidFill>
                  <a:srgbClr val="009900"/>
                </a:solidFill>
              </a:rPr>
              <a:t>olve</a:t>
            </a:r>
            <a:r>
              <a:rPr lang="en-US" sz="2200">
                <a:solidFill>
                  <a:srgbClr val="009900"/>
                </a:solidFill>
              </a:rPr>
              <a:t>/propose</a:t>
            </a:r>
            <a:r>
              <a:rPr lang="ro-RO" sz="2200">
                <a:solidFill>
                  <a:srgbClr val="009900"/>
                </a:solidFill>
              </a:rPr>
              <a:t> a set of exercises </a:t>
            </a:r>
            <a:r>
              <a:rPr lang="en-US" sz="2200">
                <a:solidFill>
                  <a:srgbClr val="009900"/>
                </a:solidFill>
              </a:rPr>
              <a:t>that</a:t>
            </a:r>
            <a:r>
              <a:rPr lang="ro-RO" sz="2200">
                <a:solidFill>
                  <a:srgbClr val="009900"/>
                </a:solidFill>
              </a:rPr>
              <a:t> model mathematical reasoning and common-sense reasoning, using the studied proof </a:t>
            </a:r>
            <a:r>
              <a:rPr lang="ro-RO" sz="2200" err="1">
                <a:solidFill>
                  <a:srgbClr val="009900"/>
                </a:solidFill>
              </a:rPr>
              <a:t>methods</a:t>
            </a:r>
            <a:r>
              <a:rPr lang="ro-RO" sz="2200">
                <a:solidFill>
                  <a:srgbClr val="009900"/>
                </a:solidFill>
              </a:rPr>
              <a:t> for </a:t>
            </a:r>
            <a:r>
              <a:rPr lang="ro-RO" sz="2200" err="1">
                <a:solidFill>
                  <a:srgbClr val="009900"/>
                </a:solidFill>
              </a:rPr>
              <a:t>propositional</a:t>
            </a:r>
            <a:r>
              <a:rPr lang="en-US" sz="2200">
                <a:solidFill>
                  <a:srgbClr val="009900"/>
                </a:solidFill>
              </a:rPr>
              <a:t> and predicate </a:t>
            </a:r>
            <a:r>
              <a:rPr lang="ro-RO" sz="2200">
                <a:solidFill>
                  <a:srgbClr val="009900"/>
                </a:solidFill>
              </a:rPr>
              <a:t>log</a:t>
            </a:r>
            <a:r>
              <a:rPr lang="en-US" sz="2200" err="1">
                <a:solidFill>
                  <a:srgbClr val="009900"/>
                </a:solidFill>
              </a:rPr>
              <a:t>ics</a:t>
            </a:r>
            <a:r>
              <a:rPr lang="en-US" sz="2200">
                <a:solidFill>
                  <a:srgbClr val="009900"/>
                </a:solidFill>
              </a:rPr>
              <a:t>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2515" cy="79254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24408" y="381000"/>
            <a:ext cx="7772400" cy="1143000"/>
          </a:xfrm>
        </p:spPr>
        <p:txBody>
          <a:bodyPr/>
          <a:lstStyle/>
          <a:p>
            <a:pPr eaLnBrk="1" hangingPunct="1"/>
            <a:r>
              <a:rPr lang="en-US" sz="3600" b="1"/>
              <a:t>	Rules for seminars</a:t>
            </a:r>
            <a:endParaRPr lang="ro-RO" sz="3600" b="1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7890" y="1524000"/>
            <a:ext cx="8850442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b="1"/>
              <a:t>Attendance at the seminars is mandatory for </a:t>
            </a:r>
          </a:p>
          <a:p>
            <a:pPr eaLnBrk="1" hangingPunct="1">
              <a:defRPr/>
            </a:pPr>
            <a:r>
              <a:rPr lang="en-US" sz="2400" b="1"/>
              <a:t>at least 75% (minimum 10.5 seminars out of 14)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sz="1000" b="1">
              <a:latin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698" y="-15275"/>
            <a:ext cx="632515" cy="7925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         IMPORTANT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>
                <a:solidFill>
                  <a:srgbClr val="FF0000"/>
                </a:solidFill>
              </a:rPr>
              <a:t>It is not allowed to register the didactic activities! </a:t>
            </a:r>
          </a:p>
          <a:p>
            <a:pPr>
              <a:lnSpc>
                <a:spcPct val="150000"/>
              </a:lnSpc>
            </a:pPr>
            <a:r>
              <a:rPr lang="en-US">
                <a:solidFill>
                  <a:srgbClr val="FF0000"/>
                </a:solidFill>
              </a:rPr>
              <a:t>According to LEN 2011, the registration by any procedure of the didactic activity can be done only with the consent of the teacher. </a:t>
            </a:r>
          </a:p>
          <a:p>
            <a:pPr marL="0" indent="0">
              <a:buNone/>
            </a:pPr>
            <a:r>
              <a:rPr lang="en-US"/>
              <a:t> </a:t>
            </a:r>
          </a:p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2515" cy="7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380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77813"/>
            <a:ext cx="8915400" cy="1143000"/>
          </a:xfrm>
        </p:spPr>
        <p:txBody>
          <a:bodyPr/>
          <a:lstStyle/>
          <a:p>
            <a:pPr eaLnBrk="1" hangingPunct="1"/>
            <a:r>
              <a:rPr lang="en-US" sz="3800" b="1"/>
              <a:t>I. </a:t>
            </a:r>
            <a:r>
              <a:rPr lang="en-US" sz="3200" b="1"/>
              <a:t>Numeration systems, numbers representations</a:t>
            </a:r>
            <a:endParaRPr lang="ro-RO" sz="3200" b="1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447800"/>
            <a:ext cx="8991600" cy="5257800"/>
          </a:xfrm>
        </p:spPr>
        <p:txBody>
          <a:bodyPr/>
          <a:lstStyle/>
          <a:p>
            <a:pPr marL="533400" indent="-533400" eaLnBrk="1" hangingPunct="1">
              <a:buClr>
                <a:schemeClr val="tx1"/>
              </a:buClr>
              <a:buSzTx/>
              <a:buFont typeface="Wingdings" panose="05000000000000000000" pitchFamily="2" charset="2"/>
              <a:buChar char="v"/>
            </a:pPr>
            <a:r>
              <a:rPr lang="en-US" sz="2200" b="1" u="sng"/>
              <a:t>Numeration systems</a:t>
            </a:r>
          </a:p>
          <a:p>
            <a:pPr marL="952500" lvl="1" indent="-495300" eaLnBrk="1" hangingPunct="1">
              <a:lnSpc>
                <a:spcPct val="115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200"/>
              <a:t>definitions, </a:t>
            </a:r>
            <a:r>
              <a:rPr lang="en-US" sz="2200" b="1"/>
              <a:t>representation</a:t>
            </a:r>
            <a:r>
              <a:rPr lang="en-US" sz="2200"/>
              <a:t> and </a:t>
            </a:r>
            <a:r>
              <a:rPr lang="en-US" sz="2200" b="1"/>
              <a:t>operations</a:t>
            </a:r>
            <a:r>
              <a:rPr lang="en-US" sz="2200"/>
              <a:t> (addition, subtraction, multiplication, division) of numbers in a base </a:t>
            </a:r>
            <a:r>
              <a:rPr lang="en-US" sz="2200" i="1"/>
              <a:t>b</a:t>
            </a:r>
            <a:r>
              <a:rPr lang="en-US" sz="2200"/>
              <a:t>. </a:t>
            </a:r>
          </a:p>
          <a:p>
            <a:pPr marL="952500" lvl="1" indent="-495300" eaLnBrk="1" hangingPunct="1">
              <a:lnSpc>
                <a:spcPct val="115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200" b="1"/>
              <a:t>conversions</a:t>
            </a:r>
            <a:r>
              <a:rPr lang="en-US" sz="2200"/>
              <a:t> between two bases, using three methods, for integer and rational numbers.</a:t>
            </a:r>
          </a:p>
          <a:p>
            <a:pPr marL="952500" lvl="1" indent="-495300" eaLnBrk="1" hangingPunct="1">
              <a:lnSpc>
                <a:spcPct val="115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endParaRPr lang="en-US" sz="1000"/>
          </a:p>
          <a:p>
            <a:pPr marL="533400" indent="-533400" eaLnBrk="1" hangingPunct="1">
              <a:buClr>
                <a:schemeClr val="tx1"/>
              </a:buClr>
              <a:buSzTx/>
              <a:buFont typeface="Wingdings" panose="05000000000000000000" pitchFamily="2" charset="2"/>
              <a:buChar char="v"/>
            </a:pPr>
            <a:r>
              <a:rPr lang="en-US" sz="2200" b="1" u="sng"/>
              <a:t>Numbers’ representation</a:t>
            </a:r>
          </a:p>
          <a:p>
            <a:pPr marL="952500" lvl="1" indent="-495300" eaLnBrk="1" hangingPunct="1"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200"/>
              <a:t>representation for unsigned integers, operations.</a:t>
            </a:r>
            <a:endParaRPr lang="en-US" sz="2200" b="1"/>
          </a:p>
          <a:p>
            <a:pPr marL="952500" lvl="1" indent="-495300" eaLnBrk="1" hangingPunct="1"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200" b="1"/>
              <a:t>codes (direct, inverse, complementary)</a:t>
            </a:r>
            <a:r>
              <a:rPr lang="en-US" sz="2200"/>
              <a:t> for signed integers and </a:t>
            </a:r>
            <a:r>
              <a:rPr lang="en-US" sz="2200" err="1"/>
              <a:t>subunitary</a:t>
            </a:r>
            <a:r>
              <a:rPr lang="en-US" sz="2200"/>
              <a:t> numbers. </a:t>
            </a:r>
          </a:p>
          <a:p>
            <a:pPr marL="952500" lvl="1" indent="-495300" eaLnBrk="1" hangingPunct="1"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200"/>
              <a:t>representations of real numbers: </a:t>
            </a:r>
          </a:p>
          <a:p>
            <a:pPr marL="952500" lvl="1" indent="-495300" eaLnBrk="1" hangingPunct="1"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sz="2200"/>
              <a:t>        </a:t>
            </a:r>
            <a:r>
              <a:rPr lang="en-US" sz="2200" b="1"/>
              <a:t>fixed-point</a:t>
            </a:r>
            <a:r>
              <a:rPr lang="en-US" sz="2200"/>
              <a:t> representation, </a:t>
            </a:r>
            <a:r>
              <a:rPr lang="en-US" sz="2200" b="1"/>
              <a:t>floating-point </a:t>
            </a:r>
            <a:r>
              <a:rPr lang="en-US" sz="2200"/>
              <a:t>representation. </a:t>
            </a:r>
            <a:endParaRPr lang="ro-RO" sz="22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1485" y="0"/>
            <a:ext cx="632515" cy="7925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b="1"/>
              <a:t>References</a:t>
            </a:r>
            <a:endParaRPr lang="ro-RO" b="1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600200"/>
            <a:ext cx="9144000" cy="4530725"/>
          </a:xfrm>
        </p:spPr>
        <p:txBody>
          <a:bodyPr/>
          <a:lstStyle/>
          <a:p>
            <a:pPr marL="533400" indent="-533400" eaLnBrk="1" hangingPunct="1">
              <a:lnSpc>
                <a:spcPct val="125000"/>
              </a:lnSpc>
              <a:buClr>
                <a:schemeClr val="tx1"/>
              </a:buClr>
              <a:buSzTx/>
              <a:buFont typeface="Wingdings" panose="05000000000000000000" pitchFamily="2" charset="2"/>
              <a:buAutoNum type="arabicPeriod"/>
            </a:pPr>
            <a:r>
              <a:rPr lang="pt-PT" sz="2400"/>
              <a:t>F. Boian: </a:t>
            </a:r>
            <a:r>
              <a:rPr lang="pt-PT" sz="2400" b="1" i="1"/>
              <a:t>Bazele Matematice ale Calculatoarelor</a:t>
            </a:r>
            <a:r>
              <a:rPr lang="pt-PT" sz="2400"/>
              <a:t>, Editura Presa Universitara Clujeana, 2002.</a:t>
            </a:r>
          </a:p>
          <a:p>
            <a:pPr marL="533400" indent="-533400" eaLnBrk="1" hangingPunct="1">
              <a:buClr>
                <a:schemeClr val="tx1"/>
              </a:buClr>
              <a:buSzTx/>
              <a:buFont typeface="Wingdings" panose="05000000000000000000" pitchFamily="2" charset="2"/>
              <a:buAutoNum type="arabicPeriod"/>
            </a:pPr>
            <a:endParaRPr lang="pt-PT" sz="1000"/>
          </a:p>
          <a:p>
            <a:pPr marL="533400" indent="-533400" eaLnBrk="1" hangingPunct="1">
              <a:lnSpc>
                <a:spcPct val="125000"/>
              </a:lnSpc>
              <a:buClr>
                <a:schemeClr val="tx1"/>
              </a:buClr>
              <a:buSzTx/>
              <a:buFont typeface="Wingdings" panose="05000000000000000000" pitchFamily="2" charset="2"/>
              <a:buAutoNum type="arabicPeriod"/>
            </a:pPr>
            <a:r>
              <a:rPr lang="pt-PT" sz="2400"/>
              <a:t>M. Cocan, B. Pop: </a:t>
            </a:r>
            <a:r>
              <a:rPr lang="pt-PT" sz="2400" b="1" i="1"/>
              <a:t>Bazele matematice ale sistemelor de calcul </a:t>
            </a:r>
            <a:r>
              <a:rPr lang="pt-PT" sz="2400" b="1"/>
              <a:t>(chapter 1),</a:t>
            </a:r>
            <a:r>
              <a:rPr lang="pt-PT" sz="2400"/>
              <a:t> Editura Albastra, Cluj-Napoca, 2001.</a:t>
            </a:r>
            <a:r>
              <a:rPr lang="pt-PT"/>
              <a:t> </a:t>
            </a:r>
          </a:p>
          <a:p>
            <a:pPr marL="533400" indent="-533400" eaLnBrk="1" hangingPunct="1">
              <a:buClr>
                <a:schemeClr val="tx1"/>
              </a:buClr>
              <a:buSzTx/>
              <a:buFont typeface="Wingdings" panose="05000000000000000000" pitchFamily="2" charset="2"/>
              <a:buAutoNum type="arabicPeriod"/>
            </a:pPr>
            <a:endParaRPr lang="pt-PT" sz="1000"/>
          </a:p>
          <a:p>
            <a:pPr marL="533400" indent="-533400" eaLnBrk="1" hangingPunct="1">
              <a:lnSpc>
                <a:spcPct val="125000"/>
              </a:lnSpc>
              <a:buClr>
                <a:schemeClr val="tx1"/>
              </a:buClr>
              <a:buSzTx/>
              <a:buFont typeface="Wingdings" panose="05000000000000000000" pitchFamily="2" charset="2"/>
              <a:buAutoNum type="arabicPeriod"/>
            </a:pPr>
            <a:r>
              <a:rPr lang="pt-PT" sz="2400"/>
              <a:t>A. Vancea, F. Boian, D.Bufnea, A.Gog, A.Darabant, A.Sabau: </a:t>
            </a:r>
            <a:r>
              <a:rPr lang="pt-PT" sz="2400" b="1" i="1"/>
              <a:t>Arhitectura calculatoarelor</a:t>
            </a:r>
            <a:r>
              <a:rPr lang="pt-PT" sz="2400" b="1"/>
              <a:t>. </a:t>
            </a:r>
            <a:r>
              <a:rPr lang="pt-PT" sz="2400" b="1" i="1"/>
              <a:t>Limbajul de asamblare 80x86</a:t>
            </a:r>
            <a:r>
              <a:rPr lang="pt-PT" sz="2400" b="1"/>
              <a:t>, (chapter 1),</a:t>
            </a:r>
            <a:r>
              <a:rPr lang="pt-PT" sz="2400"/>
              <a:t> Editura Risoprint, Cluj-Napoca, 2005.</a:t>
            </a:r>
            <a:endParaRPr lang="ro-RO" sz="24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2515" cy="79254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77813"/>
            <a:ext cx="8534400" cy="1143000"/>
          </a:xfrm>
        </p:spPr>
        <p:txBody>
          <a:bodyPr/>
          <a:lstStyle/>
          <a:p>
            <a:pPr eaLnBrk="1" hangingPunct="1"/>
            <a:r>
              <a:rPr lang="en-US" sz="3800" b="1"/>
              <a:t>II. </a:t>
            </a:r>
            <a:r>
              <a:rPr lang="en-US" sz="3200" b="1"/>
              <a:t>Classical logics:</a:t>
            </a:r>
            <a:br>
              <a:rPr lang="en-US" sz="3200" b="1"/>
            </a:br>
            <a:r>
              <a:rPr lang="en-US" sz="3200" b="1"/>
              <a:t>                propositional logic and predicate logic</a:t>
            </a:r>
            <a:endParaRPr lang="ro-RO" sz="3200" b="1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600200"/>
            <a:ext cx="8534400" cy="51054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t"/>
            </a:pPr>
            <a:r>
              <a:rPr lang="en-US" sz="2400" b="1" i="1"/>
              <a:t> </a:t>
            </a:r>
            <a:r>
              <a:rPr lang="en-US" sz="2400" b="1" i="1" u="sng"/>
              <a:t>Propositional calculus</a:t>
            </a:r>
            <a:r>
              <a:rPr lang="en-US" sz="2400" b="1" i="1"/>
              <a:t> </a:t>
            </a:r>
            <a:r>
              <a:rPr lang="en-US" sz="2400"/>
              <a:t>and</a:t>
            </a:r>
            <a:r>
              <a:rPr lang="en-US" sz="2400" i="1"/>
              <a:t> </a:t>
            </a:r>
            <a:r>
              <a:rPr lang="en-US" sz="2400" b="1" i="1" u="sng"/>
              <a:t>predicate calculus</a:t>
            </a:r>
            <a:r>
              <a:rPr lang="en-US" sz="2400" b="1"/>
              <a:t> </a:t>
            </a:r>
            <a:r>
              <a:rPr lang="en-US" sz="2400"/>
              <a:t>are</a:t>
            </a:r>
            <a:r>
              <a:rPr lang="en-US" sz="2400" b="1"/>
              <a:t>   </a:t>
            </a:r>
          </a:p>
          <a:p>
            <a:pPr eaLnBrk="1" hangingPunct="1">
              <a:lnSpc>
                <a:spcPct val="125000"/>
              </a:lnSpc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sz="2400"/>
              <a:t>     presented from an</a:t>
            </a:r>
            <a:r>
              <a:rPr lang="en-US" sz="2400" b="1"/>
              <a:t> algebraic point of view </a:t>
            </a:r>
            <a:r>
              <a:rPr lang="en-US" sz="2400"/>
              <a:t>and as</a:t>
            </a:r>
            <a:r>
              <a:rPr lang="en-US" sz="2400" b="1"/>
              <a:t>  </a:t>
            </a:r>
          </a:p>
          <a:p>
            <a:pPr eaLnBrk="1" hangingPunct="1">
              <a:lnSpc>
                <a:spcPct val="125000"/>
              </a:lnSpc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sz="2400" b="1"/>
              <a:t>     deductive systems (computational perspective). </a:t>
            </a:r>
          </a:p>
          <a:p>
            <a:pPr eaLnBrk="1" hangingPunct="1">
              <a:lnSpc>
                <a:spcPct val="125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t"/>
            </a:pPr>
            <a:endParaRPr lang="en-US" sz="1200" b="1"/>
          </a:p>
          <a:p>
            <a:pPr eaLnBrk="1" hangingPunct="1">
              <a:lnSpc>
                <a:spcPct val="125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t"/>
            </a:pPr>
            <a:r>
              <a:rPr lang="en-US" sz="2400" b="1"/>
              <a:t> </a:t>
            </a:r>
            <a:r>
              <a:rPr lang="en-US" sz="2400" b="1" u="sng"/>
              <a:t>Theorem proving methods</a:t>
            </a:r>
            <a:r>
              <a:rPr lang="en-US" sz="2400" b="1"/>
              <a:t> </a:t>
            </a:r>
            <a:r>
              <a:rPr lang="en-US" sz="2400"/>
              <a:t>are used to decide whether</a:t>
            </a:r>
            <a:r>
              <a:rPr lang="en-US" sz="2400" b="1"/>
              <a:t> </a:t>
            </a:r>
            <a:r>
              <a:rPr lang="en-US" sz="2400"/>
              <a:t>a</a:t>
            </a:r>
          </a:p>
          <a:p>
            <a:pPr eaLnBrk="1" hangingPunct="1">
              <a:lnSpc>
                <a:spcPct val="125000"/>
              </a:lnSpc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sz="2400"/>
              <a:t>     </a:t>
            </a:r>
            <a:r>
              <a:rPr lang="en-US" sz="2400" b="1"/>
              <a:t>statement (</a:t>
            </a:r>
            <a:r>
              <a:rPr lang="en-US" sz="2400" b="1" i="1"/>
              <a:t>conjecture</a:t>
            </a:r>
            <a:r>
              <a:rPr lang="en-US" sz="2400" b="1"/>
              <a:t>) is a logical consequence of a</a:t>
            </a:r>
          </a:p>
          <a:p>
            <a:pPr eaLnBrk="1" hangingPunct="1">
              <a:lnSpc>
                <a:spcPct val="125000"/>
              </a:lnSpc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sz="2400" b="1"/>
              <a:t>     set of statements (</a:t>
            </a:r>
            <a:r>
              <a:rPr lang="en-US" sz="2400" b="1" i="1"/>
              <a:t>axioms</a:t>
            </a:r>
            <a:r>
              <a:rPr lang="en-US" sz="2400" b="1"/>
              <a:t> and </a:t>
            </a:r>
            <a:r>
              <a:rPr lang="en-US" sz="2400" b="1" i="1"/>
              <a:t>hypotheses</a:t>
            </a:r>
            <a:r>
              <a:rPr lang="en-US" sz="2400" b="1"/>
              <a:t>).</a:t>
            </a:r>
          </a:p>
          <a:p>
            <a:pPr eaLnBrk="1" hangingPunct="1">
              <a:lnSpc>
                <a:spcPct val="125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t"/>
            </a:pPr>
            <a:endParaRPr lang="en-US" sz="1000" b="1"/>
          </a:p>
          <a:p>
            <a:pPr eaLnBrk="1" hangingPunct="1">
              <a:lnSpc>
                <a:spcPct val="125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t"/>
            </a:pPr>
            <a:r>
              <a:rPr lang="en-US" sz="2600" b="1" i="1"/>
              <a:t> </a:t>
            </a:r>
            <a:r>
              <a:rPr lang="en-US" sz="2600" b="1" i="1" u="sng"/>
              <a:t>Aim</a:t>
            </a:r>
            <a:r>
              <a:rPr lang="en-US" sz="2600" b="1" i="1"/>
              <a:t>: </a:t>
            </a:r>
            <a:r>
              <a:rPr lang="en-US" sz="2600" b="1"/>
              <a:t>formalization of human and mathematical </a:t>
            </a:r>
          </a:p>
          <a:p>
            <a:pPr eaLnBrk="1" hangingPunct="1">
              <a:lnSpc>
                <a:spcPct val="125000"/>
              </a:lnSpc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sz="2600" b="1"/>
              <a:t>              reasoning using these classical logics</a:t>
            </a:r>
            <a:r>
              <a:rPr lang="en-US" b="1"/>
              <a:t>.</a:t>
            </a:r>
            <a:r>
              <a:rPr lang="en-US"/>
              <a:t> </a:t>
            </a:r>
            <a:endParaRPr lang="ro-RO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1485" y="0"/>
            <a:ext cx="632515" cy="79254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LOGIC</a:t>
            </a:r>
            <a:endParaRPr lang="ro-RO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077200" cy="4953000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sz="2400" b="1" u="sng"/>
              <a:t>LOGIC</a:t>
            </a:r>
            <a:r>
              <a:rPr lang="en-US" sz="2400" b="1"/>
              <a:t>: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400" b="1"/>
              <a:t>        </a:t>
            </a:r>
            <a:r>
              <a:rPr lang="en-US" sz="2600" b="1"/>
              <a:t>the science that studies the principles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600" b="1"/>
              <a:t>       of reasoning and valid inference.</a:t>
            </a:r>
            <a:r>
              <a:rPr lang="en-US" sz="2600"/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sz="1000"/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sz="2400" b="1" u="sng"/>
              <a:t>Philosophical logic</a:t>
            </a:r>
            <a:r>
              <a:rPr lang="en-US" sz="2400" b="1"/>
              <a:t> </a:t>
            </a:r>
            <a:r>
              <a:rPr lang="en-US" sz="2400"/>
              <a:t>and</a:t>
            </a:r>
            <a:r>
              <a:rPr lang="en-US" sz="2400" b="1"/>
              <a:t> </a:t>
            </a:r>
            <a:r>
              <a:rPr lang="en-US" sz="2400" b="1" u="sng"/>
              <a:t>mathematical logic</a:t>
            </a:r>
            <a:r>
              <a:rPr lang="en-US" sz="2400" b="1"/>
              <a:t> </a:t>
            </a:r>
            <a:r>
              <a:rPr lang="en-US" sz="2400"/>
              <a:t>are commonly associated with</a:t>
            </a:r>
            <a:r>
              <a:rPr lang="en-US" sz="2400" b="1"/>
              <a:t> </a:t>
            </a:r>
            <a:r>
              <a:rPr lang="en-US" sz="2400" b="1" i="1" u="sng"/>
              <a:t>deductive reasoning</a:t>
            </a:r>
            <a:r>
              <a:rPr lang="en-US" sz="2400" b="1"/>
              <a:t>, </a:t>
            </a:r>
            <a:r>
              <a:rPr lang="en-US" sz="2400"/>
              <a:t>which determines whether the </a:t>
            </a:r>
            <a:r>
              <a:rPr lang="en-US" sz="2400" b="1"/>
              <a:t>truth </a:t>
            </a:r>
            <a:r>
              <a:rPr lang="en-US" sz="2400"/>
              <a:t>of a</a:t>
            </a:r>
            <a:r>
              <a:rPr lang="en-US" sz="2400" b="1"/>
              <a:t> </a:t>
            </a:r>
            <a:r>
              <a:rPr lang="en-US" sz="2400" b="1" i="1"/>
              <a:t>conclusion</a:t>
            </a:r>
            <a:r>
              <a:rPr lang="en-US" sz="2400" b="1"/>
              <a:t> </a:t>
            </a:r>
            <a:r>
              <a:rPr lang="en-US" sz="2400"/>
              <a:t>can be obtained for an</a:t>
            </a:r>
            <a:r>
              <a:rPr lang="en-US" sz="2400" b="1"/>
              <a:t> inference (deductive) rule, </a:t>
            </a:r>
            <a:r>
              <a:rPr lang="en-US" sz="2400"/>
              <a:t>based solely on the</a:t>
            </a:r>
            <a:r>
              <a:rPr lang="en-US" sz="2400" b="1"/>
              <a:t> truth </a:t>
            </a:r>
            <a:r>
              <a:rPr lang="en-US" sz="2400"/>
              <a:t>of the </a:t>
            </a:r>
            <a:r>
              <a:rPr lang="en-US" sz="2400" i="1"/>
              <a:t>set</a:t>
            </a:r>
            <a:r>
              <a:rPr lang="en-US" sz="2400" b="1" i="1"/>
              <a:t> of premises (hypotheses)</a:t>
            </a:r>
            <a:r>
              <a:rPr lang="en-US" sz="2400" b="1"/>
              <a:t>.</a:t>
            </a:r>
            <a:endParaRPr lang="ro-RO" sz="2400" b="1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2515" cy="79254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266700"/>
            <a:ext cx="6248400" cy="6324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9A221D-48AF-324D-780E-201F5A3CF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32515" cy="7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634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/>
              <a:t>Timeline of research in logic</a:t>
            </a:r>
            <a:endParaRPr lang="ro-RO" b="1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839200" cy="5257800"/>
          </a:xfrm>
        </p:spPr>
        <p:txBody>
          <a:bodyPr/>
          <a:lstStyle/>
          <a:p>
            <a:pPr eaLnBrk="1" hangingPunct="1">
              <a:lnSpc>
                <a:spcPct val="115000"/>
              </a:lnSpc>
              <a:buClr>
                <a:schemeClr val="tx1"/>
              </a:buClr>
              <a:buSzTx/>
              <a:buFontTx/>
              <a:buChar char="•"/>
            </a:pPr>
            <a:r>
              <a:rPr lang="en-US" sz="2000"/>
              <a:t>450 B.C. Stoics - </a:t>
            </a:r>
            <a:r>
              <a:rPr lang="en-US" sz="2000" b="1" i="1"/>
              <a:t>propositional logic</a:t>
            </a:r>
            <a:r>
              <a:rPr lang="en-US" sz="2000"/>
              <a:t> (PL), </a:t>
            </a:r>
            <a:r>
              <a:rPr lang="en-US" sz="2000" b="1" i="1"/>
              <a:t>inference</a:t>
            </a:r>
            <a:r>
              <a:rPr lang="en-US" sz="2000"/>
              <a:t> </a:t>
            </a:r>
          </a:p>
          <a:p>
            <a:pPr eaLnBrk="1" hangingPunct="1">
              <a:lnSpc>
                <a:spcPct val="115000"/>
              </a:lnSpc>
              <a:buClr>
                <a:schemeClr val="tx1"/>
              </a:buClr>
              <a:buSzTx/>
              <a:buFontTx/>
              <a:buChar char="•"/>
            </a:pPr>
            <a:r>
              <a:rPr lang="en-US" sz="2000"/>
              <a:t>322 B.C. Aristotle - quantifiers, </a:t>
            </a:r>
            <a:r>
              <a:rPr lang="en-US" sz="2000" b="1" i="1"/>
              <a:t>syllogism rule</a:t>
            </a:r>
            <a:r>
              <a:rPr lang="en-US" sz="2000" b="1"/>
              <a:t>:</a:t>
            </a:r>
            <a:r>
              <a:rPr lang="en-US" sz="2000"/>
              <a:t> dominant </a:t>
            </a:r>
          </a:p>
          <a:p>
            <a:pPr eaLnBrk="1" hangingPunct="1">
              <a:lnSpc>
                <a:spcPct val="115000"/>
              </a:lnSpc>
              <a:buClr>
                <a:schemeClr val="tx1"/>
              </a:buClr>
              <a:buSzTx/>
              <a:buFontTx/>
              <a:buNone/>
            </a:pPr>
            <a:r>
              <a:rPr lang="en-US" sz="2000"/>
              <a:t>                                            model of correct argumentation </a:t>
            </a:r>
          </a:p>
          <a:p>
            <a:pPr eaLnBrk="1" hangingPunct="1">
              <a:lnSpc>
                <a:spcPct val="115000"/>
              </a:lnSpc>
              <a:buClr>
                <a:schemeClr val="tx1"/>
              </a:buClr>
              <a:buSzTx/>
              <a:buFontTx/>
              <a:buChar char="•"/>
            </a:pPr>
            <a:r>
              <a:rPr lang="en-US" sz="2000"/>
              <a:t>1646 -1716 Leibniz – the founder of </a:t>
            </a:r>
            <a:r>
              <a:rPr lang="en-US" sz="2000" b="1" i="1"/>
              <a:t>symbolic logic</a:t>
            </a:r>
            <a:r>
              <a:rPr lang="en-US" sz="2000" i="1"/>
              <a:t>, </a:t>
            </a:r>
            <a:r>
              <a:rPr lang="en-US" sz="2000"/>
              <a:t>he proposed</a:t>
            </a:r>
            <a:r>
              <a:rPr lang="en-US" sz="2000" i="1"/>
              <a:t> </a:t>
            </a:r>
          </a:p>
          <a:p>
            <a:pPr eaLnBrk="1" hangingPunct="1">
              <a:lnSpc>
                <a:spcPct val="115000"/>
              </a:lnSpc>
              <a:buClr>
                <a:schemeClr val="tx1"/>
              </a:buClr>
              <a:buSzTx/>
              <a:buFontTx/>
              <a:buNone/>
            </a:pPr>
            <a:r>
              <a:rPr lang="en-US" sz="2000"/>
              <a:t>            a </a:t>
            </a:r>
            <a:r>
              <a:rPr lang="en-US" sz="2000" b="1" i="1"/>
              <a:t>general decision procedure</a:t>
            </a:r>
            <a:r>
              <a:rPr lang="en-US" sz="2000"/>
              <a:t> to check the validity of formulas</a:t>
            </a:r>
          </a:p>
          <a:p>
            <a:pPr eaLnBrk="1" hangingPunct="1">
              <a:lnSpc>
                <a:spcPct val="115000"/>
              </a:lnSpc>
              <a:buClr>
                <a:schemeClr val="tx1"/>
              </a:buClr>
              <a:buSzTx/>
              <a:buFontTx/>
              <a:buChar char="•"/>
            </a:pPr>
            <a:r>
              <a:rPr lang="en-US" sz="2000"/>
              <a:t>1847 George Boole – algebras, </a:t>
            </a:r>
            <a:r>
              <a:rPr lang="en-US" sz="2000" b="1" i="1"/>
              <a:t>formalization of propositional logic</a:t>
            </a:r>
            <a:r>
              <a:rPr lang="en-US" sz="2000"/>
              <a:t> </a:t>
            </a:r>
          </a:p>
          <a:p>
            <a:pPr eaLnBrk="1" hangingPunct="1">
              <a:lnSpc>
                <a:spcPct val="115000"/>
              </a:lnSpc>
              <a:buClr>
                <a:schemeClr val="tx1"/>
              </a:buClr>
              <a:buSzTx/>
              <a:buFontTx/>
              <a:buChar char="•"/>
            </a:pPr>
            <a:r>
              <a:rPr lang="en-US" sz="2000"/>
              <a:t>1847 Augustus De Morgan: </a:t>
            </a:r>
            <a:r>
              <a:rPr lang="en-US" sz="2000" b="1" i="1"/>
              <a:t>formal logic</a:t>
            </a:r>
            <a:r>
              <a:rPr lang="en-US" sz="2000"/>
              <a:t> </a:t>
            </a:r>
          </a:p>
          <a:p>
            <a:pPr eaLnBrk="1" hangingPunct="1">
              <a:lnSpc>
                <a:spcPct val="115000"/>
              </a:lnSpc>
              <a:buClr>
                <a:schemeClr val="tx1"/>
              </a:buClr>
              <a:buSzTx/>
              <a:buFontTx/>
              <a:buChar char="•"/>
            </a:pPr>
            <a:r>
              <a:rPr lang="en-US" sz="2000"/>
              <a:t>1879 </a:t>
            </a:r>
            <a:r>
              <a:rPr lang="en-US" sz="2000" err="1"/>
              <a:t>Gottlob</a:t>
            </a:r>
            <a:r>
              <a:rPr lang="en-US" sz="2000"/>
              <a:t> </a:t>
            </a:r>
            <a:r>
              <a:rPr lang="en-US" sz="2000" err="1"/>
              <a:t>Frege</a:t>
            </a:r>
            <a:r>
              <a:rPr lang="en-US" sz="2000"/>
              <a:t> – </a:t>
            </a:r>
            <a:r>
              <a:rPr lang="en-US" sz="2000" b="1" i="1"/>
              <a:t>predicate or first-order logic</a:t>
            </a:r>
            <a:r>
              <a:rPr lang="en-US" sz="2000"/>
              <a:t> (FOL)</a:t>
            </a:r>
          </a:p>
          <a:p>
            <a:pPr eaLnBrk="1" hangingPunct="1">
              <a:lnSpc>
                <a:spcPct val="115000"/>
              </a:lnSpc>
              <a:buClr>
                <a:schemeClr val="tx1"/>
              </a:buClr>
              <a:buSzTx/>
              <a:buFontTx/>
              <a:buChar char="•"/>
            </a:pPr>
            <a:r>
              <a:rPr lang="en-US" sz="2000"/>
              <a:t>1889 </a:t>
            </a:r>
            <a:r>
              <a:rPr lang="en-US" sz="2000" err="1"/>
              <a:t>Peano</a:t>
            </a:r>
            <a:r>
              <a:rPr lang="en-US" sz="2000"/>
              <a:t> - 9 axioms for natural numbers</a:t>
            </a:r>
          </a:p>
          <a:p>
            <a:pPr eaLnBrk="1" hangingPunct="1">
              <a:lnSpc>
                <a:spcPct val="115000"/>
              </a:lnSpc>
              <a:buClr>
                <a:schemeClr val="tx1"/>
              </a:buClr>
              <a:buSzTx/>
              <a:buFontTx/>
              <a:buChar char="•"/>
            </a:pPr>
            <a:r>
              <a:rPr lang="en-US" sz="2000"/>
              <a:t>1920 Hilbert‘s program</a:t>
            </a:r>
          </a:p>
          <a:p>
            <a:pPr eaLnBrk="1" hangingPunct="1">
              <a:lnSpc>
                <a:spcPct val="115000"/>
              </a:lnSpc>
              <a:buClr>
                <a:schemeClr val="tx1"/>
              </a:buClr>
              <a:buSzTx/>
              <a:buFontTx/>
              <a:buChar char="•"/>
            </a:pPr>
            <a:r>
              <a:rPr lang="en-US" sz="2000"/>
              <a:t>1921 Emil Post- </a:t>
            </a:r>
            <a:r>
              <a:rPr lang="en-US" sz="2000" b="1" i="1"/>
              <a:t>truth tables</a:t>
            </a:r>
            <a:r>
              <a:rPr lang="en-US" sz="2000"/>
              <a:t>, 1922 Wittgenstein - </a:t>
            </a:r>
            <a:r>
              <a:rPr lang="en-US" sz="2000" b="1" i="1"/>
              <a:t>proof by truth tables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SzTx/>
              <a:buFontTx/>
              <a:buChar char="•"/>
            </a:pPr>
            <a:endParaRPr lang="en-US" sz="2000"/>
          </a:p>
          <a:p>
            <a:pPr eaLnBrk="1" hangingPunct="1">
              <a:lnSpc>
                <a:spcPct val="115000"/>
              </a:lnSpc>
              <a:buClr>
                <a:schemeClr val="tx1"/>
              </a:buClr>
              <a:buSzTx/>
              <a:buFontTx/>
              <a:buChar char="•"/>
            </a:pPr>
            <a:endParaRPr lang="ro-RO" sz="20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458" y="0"/>
            <a:ext cx="632515" cy="79254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800" b="1"/>
              <a:t>Timeline of research in logic (contd.)</a:t>
            </a:r>
            <a:endParaRPr lang="ro-RO" sz="3800" b="1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600200"/>
            <a:ext cx="8991600" cy="52578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Clr>
                <a:schemeClr val="tx1"/>
              </a:buClr>
              <a:buSzTx/>
              <a:buFontTx/>
              <a:buChar char="•"/>
            </a:pPr>
            <a:r>
              <a:rPr lang="en-US" sz="2000">
                <a:solidFill>
                  <a:srgbClr val="CC0099"/>
                </a:solidFill>
              </a:rPr>
              <a:t>1929</a:t>
            </a:r>
            <a:r>
              <a:rPr lang="en-US" sz="2000"/>
              <a:t> Gödel completeness theorem of FOL</a:t>
            </a:r>
          </a:p>
          <a:p>
            <a:pPr eaLnBrk="1" hangingPunct="1">
              <a:lnSpc>
                <a:spcPct val="110000"/>
              </a:lnSpc>
              <a:buClr>
                <a:schemeClr val="tx1"/>
              </a:buClr>
              <a:buSzTx/>
              <a:buFontTx/>
              <a:buChar char="•"/>
            </a:pPr>
            <a:r>
              <a:rPr lang="en-US" sz="2000">
                <a:solidFill>
                  <a:srgbClr val="CC0099"/>
                </a:solidFill>
              </a:rPr>
              <a:t>1930</a:t>
            </a:r>
            <a:r>
              <a:rPr lang="en-US" sz="2000"/>
              <a:t> </a:t>
            </a:r>
            <a:r>
              <a:rPr lang="en-US" sz="2000" err="1"/>
              <a:t>Herbrand</a:t>
            </a:r>
            <a:r>
              <a:rPr lang="en-US" sz="2000"/>
              <a:t> - a </a:t>
            </a:r>
            <a:r>
              <a:rPr lang="en-US" sz="2000" b="1" i="1"/>
              <a:t>proof procedure for FOL</a:t>
            </a:r>
            <a:r>
              <a:rPr lang="en-US" sz="2000"/>
              <a:t> based on </a:t>
            </a:r>
            <a:r>
              <a:rPr lang="en-US" sz="2000" err="1"/>
              <a:t>propositionalization</a:t>
            </a:r>
            <a:endParaRPr lang="en-US" sz="2000"/>
          </a:p>
          <a:p>
            <a:pPr eaLnBrk="1" hangingPunct="1">
              <a:lnSpc>
                <a:spcPct val="110000"/>
              </a:lnSpc>
              <a:buClr>
                <a:schemeClr val="tx1"/>
              </a:buClr>
              <a:buSzTx/>
              <a:buFontTx/>
              <a:buChar char="•"/>
            </a:pPr>
            <a:r>
              <a:rPr lang="en-US" sz="2000">
                <a:solidFill>
                  <a:srgbClr val="CC0099"/>
                </a:solidFill>
              </a:rPr>
              <a:t>1931</a:t>
            </a:r>
            <a:r>
              <a:rPr lang="en-US" sz="2000"/>
              <a:t> Gödel incompleteness theorems for the consistency of </a:t>
            </a:r>
            <a:r>
              <a:rPr lang="en-US" sz="2000" err="1"/>
              <a:t>Peano</a:t>
            </a:r>
            <a:r>
              <a:rPr lang="en-US" sz="2000"/>
              <a:t> axioms</a:t>
            </a:r>
          </a:p>
          <a:p>
            <a:pPr eaLnBrk="1" hangingPunct="1">
              <a:lnSpc>
                <a:spcPct val="110000"/>
              </a:lnSpc>
              <a:buClr>
                <a:schemeClr val="tx1"/>
              </a:buClr>
              <a:buSzTx/>
              <a:buFontTx/>
              <a:buChar char="•"/>
            </a:pPr>
            <a:r>
              <a:rPr lang="en-US" sz="2000">
                <a:solidFill>
                  <a:srgbClr val="CC0099"/>
                </a:solidFill>
              </a:rPr>
              <a:t>1936</a:t>
            </a:r>
            <a:r>
              <a:rPr lang="en-US" sz="2000"/>
              <a:t> </a:t>
            </a:r>
            <a:r>
              <a:rPr lang="en-US" sz="2000" err="1"/>
              <a:t>Gentzen</a:t>
            </a:r>
            <a:r>
              <a:rPr lang="en-US" sz="2000"/>
              <a:t> - a proof for the consistency of </a:t>
            </a:r>
            <a:r>
              <a:rPr lang="en-US" sz="2000" err="1"/>
              <a:t>Peano</a:t>
            </a:r>
            <a:r>
              <a:rPr lang="en-US" sz="2000"/>
              <a:t> axioms in set theory</a:t>
            </a:r>
          </a:p>
          <a:p>
            <a:pPr eaLnBrk="1" hangingPunct="1">
              <a:lnSpc>
                <a:spcPct val="110000"/>
              </a:lnSpc>
              <a:buClr>
                <a:schemeClr val="tx1"/>
              </a:buClr>
              <a:buSzTx/>
              <a:buFontTx/>
              <a:buChar char="•"/>
            </a:pPr>
            <a:r>
              <a:rPr lang="en-US" sz="2000">
                <a:solidFill>
                  <a:srgbClr val="CC0099"/>
                </a:solidFill>
              </a:rPr>
              <a:t>1936</a:t>
            </a:r>
            <a:r>
              <a:rPr lang="en-US" sz="2000"/>
              <a:t> Church and Turing: </a:t>
            </a:r>
            <a:r>
              <a:rPr lang="en-US" sz="2000" b="1" i="1" err="1"/>
              <a:t>undecidability</a:t>
            </a:r>
            <a:r>
              <a:rPr lang="en-US" sz="2000" b="1" i="1"/>
              <a:t> of FOL</a:t>
            </a:r>
          </a:p>
          <a:p>
            <a:pPr eaLnBrk="1" hangingPunct="1">
              <a:lnSpc>
                <a:spcPct val="110000"/>
              </a:lnSpc>
              <a:buClr>
                <a:schemeClr val="tx1"/>
              </a:buClr>
              <a:buSzTx/>
              <a:buFontTx/>
              <a:buChar char="•"/>
            </a:pPr>
            <a:r>
              <a:rPr lang="en-US" sz="2000">
                <a:solidFill>
                  <a:srgbClr val="CC0099"/>
                </a:solidFill>
              </a:rPr>
              <a:t>1954</a:t>
            </a:r>
            <a:r>
              <a:rPr lang="en-US" sz="2000"/>
              <a:t> Davis - </a:t>
            </a:r>
            <a:r>
              <a:rPr lang="en-US" sz="2000" b="1" i="1"/>
              <a:t>first machine-generated proof</a:t>
            </a:r>
          </a:p>
          <a:p>
            <a:pPr eaLnBrk="1" hangingPunct="1">
              <a:lnSpc>
                <a:spcPct val="110000"/>
              </a:lnSpc>
              <a:buClr>
                <a:schemeClr val="tx1"/>
              </a:buClr>
              <a:buSzTx/>
              <a:buFontTx/>
              <a:buChar char="•"/>
            </a:pPr>
            <a:r>
              <a:rPr lang="en-US" sz="2000">
                <a:solidFill>
                  <a:srgbClr val="CC0099"/>
                </a:solidFill>
              </a:rPr>
              <a:t>1955</a:t>
            </a:r>
            <a:r>
              <a:rPr lang="en-US" sz="2000"/>
              <a:t> </a:t>
            </a:r>
            <a:r>
              <a:rPr lang="en-US" sz="2000" b="1"/>
              <a:t>Beth - </a:t>
            </a:r>
            <a:r>
              <a:rPr lang="en-US" sz="2000" b="1" i="1"/>
              <a:t>Semantic Tableaux</a:t>
            </a:r>
            <a:r>
              <a:rPr lang="en-US" sz="2000" i="1"/>
              <a:t> </a:t>
            </a:r>
            <a:endParaRPr lang="en-US" sz="2000" b="1" i="1"/>
          </a:p>
          <a:p>
            <a:pPr eaLnBrk="1" hangingPunct="1">
              <a:lnSpc>
                <a:spcPct val="110000"/>
              </a:lnSpc>
              <a:buClr>
                <a:schemeClr val="tx1"/>
              </a:buClr>
              <a:buSzTx/>
              <a:buFontTx/>
              <a:buChar char="•"/>
            </a:pPr>
            <a:r>
              <a:rPr lang="en-US" sz="2000">
                <a:solidFill>
                  <a:srgbClr val="CC0099"/>
                </a:solidFill>
              </a:rPr>
              <a:t>1957</a:t>
            </a:r>
            <a:r>
              <a:rPr lang="en-US" sz="2000"/>
              <a:t> Newell - First machine-generated proof in Logic Calculus</a:t>
            </a:r>
          </a:p>
          <a:p>
            <a:pPr eaLnBrk="1" hangingPunct="1">
              <a:lnSpc>
                <a:spcPct val="110000"/>
              </a:lnSpc>
              <a:buClr>
                <a:schemeClr val="tx1"/>
              </a:buClr>
              <a:buSzTx/>
              <a:buFontTx/>
              <a:buChar char="•"/>
            </a:pPr>
            <a:r>
              <a:rPr lang="en-US" sz="2000">
                <a:solidFill>
                  <a:srgbClr val="CC0099"/>
                </a:solidFill>
              </a:rPr>
              <a:t>1958</a:t>
            </a:r>
            <a:r>
              <a:rPr lang="en-US" sz="2000"/>
              <a:t> </a:t>
            </a:r>
            <a:r>
              <a:rPr lang="en-US" sz="2000" err="1"/>
              <a:t>Prawitz</a:t>
            </a:r>
            <a:r>
              <a:rPr lang="en-US" sz="2000"/>
              <a:t> - First </a:t>
            </a:r>
            <a:r>
              <a:rPr lang="en-US" sz="2000" err="1"/>
              <a:t>prover</a:t>
            </a:r>
            <a:r>
              <a:rPr lang="en-US" sz="2000"/>
              <a:t> for FOL</a:t>
            </a:r>
          </a:p>
          <a:p>
            <a:pPr eaLnBrk="1" hangingPunct="1">
              <a:lnSpc>
                <a:spcPct val="110000"/>
              </a:lnSpc>
              <a:buClr>
                <a:schemeClr val="tx1"/>
              </a:buClr>
              <a:buSzTx/>
              <a:buFontTx/>
              <a:buChar char="•"/>
            </a:pPr>
            <a:r>
              <a:rPr lang="en-US" sz="2000">
                <a:solidFill>
                  <a:srgbClr val="CC0099"/>
                </a:solidFill>
              </a:rPr>
              <a:t>1959</a:t>
            </a:r>
            <a:r>
              <a:rPr lang="en-US" sz="2000"/>
              <a:t> Gilmore, Wang - more </a:t>
            </a:r>
            <a:r>
              <a:rPr lang="en-US" sz="2000" err="1"/>
              <a:t>provers</a:t>
            </a:r>
            <a:r>
              <a:rPr lang="en-US" sz="2000"/>
              <a:t> </a:t>
            </a:r>
          </a:p>
          <a:p>
            <a:pPr eaLnBrk="1" hangingPunct="1">
              <a:lnSpc>
                <a:spcPct val="110000"/>
              </a:lnSpc>
              <a:buClr>
                <a:schemeClr val="tx1"/>
              </a:buClr>
              <a:buSzTx/>
              <a:buFontTx/>
              <a:buChar char="•"/>
            </a:pPr>
            <a:r>
              <a:rPr lang="en-US" sz="2000">
                <a:solidFill>
                  <a:srgbClr val="CC0099"/>
                </a:solidFill>
              </a:rPr>
              <a:t>1960</a:t>
            </a:r>
            <a:r>
              <a:rPr lang="en-US" sz="2000"/>
              <a:t> </a:t>
            </a:r>
            <a:r>
              <a:rPr lang="en-US" sz="2000" b="1"/>
              <a:t>Davis - Putnam</a:t>
            </a:r>
            <a:r>
              <a:rPr lang="en-US" sz="2000" b="1" i="1"/>
              <a:t> Procedure</a:t>
            </a:r>
          </a:p>
          <a:p>
            <a:pPr eaLnBrk="1" hangingPunct="1">
              <a:lnSpc>
                <a:spcPct val="110000"/>
              </a:lnSpc>
              <a:buClr>
                <a:schemeClr val="tx1"/>
              </a:buClr>
              <a:buSzTx/>
              <a:buFontTx/>
              <a:buChar char="•"/>
            </a:pPr>
            <a:r>
              <a:rPr lang="en-US" sz="2000">
                <a:solidFill>
                  <a:srgbClr val="CC0099"/>
                </a:solidFill>
              </a:rPr>
              <a:t>1963</a:t>
            </a:r>
            <a:r>
              <a:rPr lang="en-US" sz="2000"/>
              <a:t> </a:t>
            </a:r>
            <a:r>
              <a:rPr lang="en-US" sz="2000" b="1">
                <a:solidFill>
                  <a:srgbClr val="009900"/>
                </a:solidFill>
              </a:rPr>
              <a:t>Robinson </a:t>
            </a:r>
            <a:r>
              <a:rPr lang="en-US" sz="2000" b="1" i="1">
                <a:solidFill>
                  <a:srgbClr val="009900"/>
                </a:solidFill>
              </a:rPr>
              <a:t>- Unification, resolution</a:t>
            </a:r>
          </a:p>
          <a:p>
            <a:pPr eaLnBrk="1" hangingPunct="1">
              <a:lnSpc>
                <a:spcPct val="110000"/>
              </a:lnSpc>
              <a:buClr>
                <a:schemeClr val="tx1"/>
              </a:buClr>
              <a:buSzTx/>
              <a:buFontTx/>
              <a:buChar char="•"/>
            </a:pPr>
            <a:r>
              <a:rPr lang="en-US" sz="2000">
                <a:solidFill>
                  <a:srgbClr val="CC0099"/>
                </a:solidFill>
              </a:rPr>
              <a:t>1968</a:t>
            </a:r>
            <a:r>
              <a:rPr lang="en-US" sz="2000"/>
              <a:t> </a:t>
            </a:r>
            <a:r>
              <a:rPr lang="en-US" sz="2000" b="1" err="1">
                <a:solidFill>
                  <a:srgbClr val="009900"/>
                </a:solidFill>
              </a:rPr>
              <a:t>R.Smullyan</a:t>
            </a:r>
            <a:r>
              <a:rPr lang="en-US" sz="2000" b="1">
                <a:solidFill>
                  <a:srgbClr val="009900"/>
                </a:solidFill>
              </a:rPr>
              <a:t> </a:t>
            </a:r>
            <a:r>
              <a:rPr lang="en-US" sz="2000">
                <a:solidFill>
                  <a:srgbClr val="009900"/>
                </a:solidFill>
              </a:rPr>
              <a:t>– </a:t>
            </a:r>
            <a:r>
              <a:rPr lang="en-US" sz="2000" b="1" i="1">
                <a:solidFill>
                  <a:srgbClr val="009900"/>
                </a:solidFill>
              </a:rPr>
              <a:t>Semantic tableaux proof method</a:t>
            </a:r>
            <a:endParaRPr lang="ro-RO" sz="2000" b="1" i="1">
              <a:solidFill>
                <a:srgbClr val="0099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2515" cy="79254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US"/>
              <a:t>Propositional and predicate logics</a:t>
            </a:r>
            <a:endParaRPr lang="ro-RO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76400"/>
            <a:ext cx="8839200" cy="5029200"/>
          </a:xfrm>
        </p:spPr>
        <p:txBody>
          <a:bodyPr/>
          <a:lstStyle/>
          <a:p>
            <a:pPr marL="533400" indent="-533400" eaLnBrk="1" hangingPunct="1">
              <a:lnSpc>
                <a:spcPct val="115000"/>
              </a:lnSpc>
              <a:buClr>
                <a:schemeClr val="tx1"/>
              </a:buClr>
              <a:buSzTx/>
              <a:buFont typeface="Wingdings" panose="05000000000000000000" pitchFamily="2" charset="2"/>
              <a:buAutoNum type="arabicPeriod"/>
            </a:pPr>
            <a:r>
              <a:rPr lang="en-US" sz="2000" b="1"/>
              <a:t>Syntax: </a:t>
            </a:r>
            <a:r>
              <a:rPr lang="en-US" sz="2000"/>
              <a:t>connectives, quantifiers, terms, atoms, clause, literal, formulas.</a:t>
            </a:r>
          </a:p>
          <a:p>
            <a:pPr marL="533400" indent="-533400" eaLnBrk="1" hangingPunct="1">
              <a:lnSpc>
                <a:spcPct val="115000"/>
              </a:lnSpc>
              <a:buClr>
                <a:schemeClr val="tx1"/>
              </a:buClr>
              <a:buSzTx/>
              <a:buFont typeface="Wingdings" panose="05000000000000000000" pitchFamily="2" charset="2"/>
              <a:buAutoNum type="arabicPeriod"/>
            </a:pPr>
            <a:r>
              <a:rPr lang="en-US" sz="2000" b="1"/>
              <a:t>The formal system </a:t>
            </a:r>
            <a:r>
              <a:rPr lang="en-US" sz="2000"/>
              <a:t>associated to propositional/predicate logic.</a:t>
            </a:r>
          </a:p>
          <a:p>
            <a:pPr marL="533400" indent="-533400" eaLnBrk="1" hangingPunct="1">
              <a:lnSpc>
                <a:spcPct val="115000"/>
              </a:lnSpc>
              <a:buClr>
                <a:schemeClr val="tx1"/>
              </a:buClr>
              <a:buSzTx/>
              <a:buFont typeface="Wingdings" panose="05000000000000000000" pitchFamily="2" charset="2"/>
              <a:buAutoNum type="arabicPeriod"/>
            </a:pPr>
            <a:r>
              <a:rPr lang="en-US" sz="2000" b="1"/>
              <a:t>Semantics of propositional/predicate logic: </a:t>
            </a:r>
            <a:r>
              <a:rPr lang="en-US" sz="2000"/>
              <a:t>interpretation, model, valid/consistent/inconsistent formula, logical consequence.</a:t>
            </a:r>
          </a:p>
          <a:p>
            <a:pPr marL="533400" indent="-533400" eaLnBrk="1" hangingPunct="1">
              <a:lnSpc>
                <a:spcPct val="115000"/>
              </a:lnSpc>
              <a:buClr>
                <a:schemeClr val="tx1"/>
              </a:buClr>
              <a:buSzTx/>
              <a:buFont typeface="Wingdings" panose="05000000000000000000" pitchFamily="2" charset="2"/>
              <a:buAutoNum type="arabicPeriod"/>
            </a:pPr>
            <a:r>
              <a:rPr lang="en-US" sz="2000" b="1"/>
              <a:t>Normal forms in propositional and predicate logics. </a:t>
            </a:r>
          </a:p>
          <a:p>
            <a:pPr marL="533400" indent="-533400" eaLnBrk="1" hangingPunct="1">
              <a:lnSpc>
                <a:spcPct val="115000"/>
              </a:lnSpc>
              <a:buClr>
                <a:schemeClr val="tx1"/>
              </a:buClr>
              <a:buSzTx/>
              <a:buFont typeface="Wingdings" panose="05000000000000000000" pitchFamily="2" charset="2"/>
              <a:buAutoNum type="arabicPeriod"/>
            </a:pPr>
            <a:r>
              <a:rPr lang="en-US" sz="2000" b="1"/>
              <a:t>Theorem of soundness, completeness for propositional/predicate logic; non-contradiction, coherence and decidability of propositional logic, semi-decidability of predicate logic.</a:t>
            </a:r>
          </a:p>
          <a:p>
            <a:pPr marL="533400" indent="-533400" eaLnBrk="1" hangingPunct="1">
              <a:lnSpc>
                <a:spcPct val="115000"/>
              </a:lnSpc>
              <a:buClr>
                <a:schemeClr val="tx1"/>
              </a:buClr>
              <a:buSzTx/>
              <a:buFont typeface="Wingdings" panose="05000000000000000000" pitchFamily="2" charset="2"/>
              <a:buAutoNum type="arabicPeriod"/>
            </a:pPr>
            <a:r>
              <a:rPr lang="en-US" sz="2000" b="1"/>
              <a:t>Semantic tableaux method – </a:t>
            </a:r>
            <a:r>
              <a:rPr lang="en-US" sz="2000"/>
              <a:t>a semantic and refutation proof method.</a:t>
            </a:r>
          </a:p>
          <a:p>
            <a:pPr marL="533400" indent="-533400" eaLnBrk="1" hangingPunct="1">
              <a:lnSpc>
                <a:spcPct val="115000"/>
              </a:lnSpc>
              <a:buClr>
                <a:schemeClr val="tx1"/>
              </a:buClr>
              <a:buSzTx/>
              <a:buFont typeface="Wingdings" panose="05000000000000000000" pitchFamily="2" charset="2"/>
              <a:buAutoNum type="arabicPeriod"/>
            </a:pPr>
            <a:r>
              <a:rPr lang="en-US" sz="2000" b="1"/>
              <a:t>Resolution method – </a:t>
            </a:r>
            <a:r>
              <a:rPr lang="en-US" sz="2000"/>
              <a:t>a direct and refutation proof method</a:t>
            </a:r>
            <a:r>
              <a:rPr lang="en-US" sz="2000" b="1"/>
              <a:t>.</a:t>
            </a:r>
          </a:p>
          <a:p>
            <a:pPr marL="533400" indent="-533400" eaLnBrk="1" hangingPunct="1">
              <a:lnSpc>
                <a:spcPct val="115000"/>
              </a:lnSpc>
              <a:buClr>
                <a:schemeClr val="tx1"/>
              </a:buClr>
              <a:buSzTx/>
              <a:buFont typeface="Wingdings" panose="05000000000000000000" pitchFamily="2" charset="2"/>
              <a:buAutoNum type="arabicPeriod"/>
            </a:pPr>
            <a:r>
              <a:rPr lang="en-US" sz="2000" b="1"/>
              <a:t>Formalization of common-sense and mathematical reasoning using propositional and predicate logic.</a:t>
            </a:r>
            <a:endParaRPr lang="ro-RO" sz="2000" b="1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" y="-34047"/>
            <a:ext cx="632515" cy="79254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7772400" cy="788987"/>
          </a:xfrm>
        </p:spPr>
        <p:txBody>
          <a:bodyPr/>
          <a:lstStyle/>
          <a:p>
            <a:pPr eaLnBrk="1" hangingPunct="1"/>
            <a:br>
              <a:rPr lang="en-US" sz="3400" b="1" i="1"/>
            </a:br>
            <a:r>
              <a:rPr lang="en-US" sz="3400" b="1" i="1"/>
              <a:t>P</a:t>
            </a:r>
            <a:r>
              <a:rPr lang="ro-RO" sz="3400" b="1" i="1"/>
              <a:t>ropositional</a:t>
            </a:r>
            <a:r>
              <a:rPr lang="ro-RO" sz="3400" b="1"/>
              <a:t> </a:t>
            </a:r>
            <a:r>
              <a:rPr lang="en-US" sz="3400" b="1" i="1"/>
              <a:t>logic</a:t>
            </a:r>
            <a:br>
              <a:rPr lang="en-US" sz="3400" b="1"/>
            </a:br>
            <a:endParaRPr lang="ro-RO" sz="3400" b="1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686800" cy="5029200"/>
          </a:xfrm>
        </p:spPr>
        <p:txBody>
          <a:bodyPr/>
          <a:lstStyle/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sz="2000"/>
              <a:t> </a:t>
            </a:r>
            <a:r>
              <a:rPr lang="en-US" sz="2200"/>
              <a:t>Logical propositions are models of propositional assertions 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sz="2200"/>
              <a:t> from natural language, which can be </a:t>
            </a:r>
            <a:r>
              <a:rPr lang="en-US" sz="2200" b="1" i="1"/>
              <a:t>true</a:t>
            </a:r>
            <a:r>
              <a:rPr lang="en-US" sz="2200"/>
              <a:t> or </a:t>
            </a:r>
            <a:r>
              <a:rPr lang="en-US" sz="2200" b="1" i="1"/>
              <a:t>false</a:t>
            </a:r>
            <a:r>
              <a:rPr lang="en-US" sz="2200" b="1"/>
              <a:t>.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endParaRPr lang="en-US" sz="1000" b="1"/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sz="2000" b="1"/>
              <a:t>     </a:t>
            </a:r>
            <a:r>
              <a:rPr lang="en-US" sz="2200" b="1"/>
              <a:t>P: It is sunny.                     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sz="2200" b="1"/>
              <a:t>    Q: It is hot outside.       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sz="2200" b="1"/>
              <a:t>    R: I go to the swimming pool.  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sz="2200" b="1"/>
              <a:t>    S: </a:t>
            </a:r>
            <a:r>
              <a:rPr lang="en-US" sz="2200" b="1" i="1">
                <a:solidFill>
                  <a:srgbClr val="009900"/>
                </a:solidFill>
              </a:rPr>
              <a:t>If</a:t>
            </a:r>
            <a:r>
              <a:rPr lang="en-US" sz="2200" b="1"/>
              <a:t> it is sunny </a:t>
            </a:r>
            <a:r>
              <a:rPr lang="en-US" sz="2200" b="1" i="1">
                <a:solidFill>
                  <a:srgbClr val="009900"/>
                </a:solidFill>
              </a:rPr>
              <a:t>and</a:t>
            </a:r>
            <a:r>
              <a:rPr lang="en-US" sz="2200" b="1"/>
              <a:t> it is hot outside </a:t>
            </a:r>
            <a:r>
              <a:rPr lang="en-US" sz="2200" b="1" i="1">
                <a:solidFill>
                  <a:srgbClr val="009900"/>
                </a:solidFill>
              </a:rPr>
              <a:t>then</a:t>
            </a:r>
            <a:r>
              <a:rPr lang="en-US" sz="2200" b="1"/>
              <a:t> 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sz="2200" b="1"/>
              <a:t>                                                 I will go to the swimming pool.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sz="2200" b="1"/>
              <a:t>           S:  P </a:t>
            </a:r>
            <a:r>
              <a:rPr lang="en-US" sz="2200" b="1">
                <a:cs typeface="Arial" panose="020B0604020202020204" pitchFamily="34" charset="0"/>
              </a:rPr>
              <a:t>/\ Q → R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sz="1000" b="1" i="1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sz="2000" b="1" i="1"/>
              <a:t>“Theorem proving”:</a:t>
            </a:r>
            <a:r>
              <a:rPr lang="en-US" sz="2000" b="1"/>
              <a:t> 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sz="2000" b="1"/>
              <a:t>  From P,Q,S (hypotheses) can we deduce (infer) R (conjecture)?</a:t>
            </a:r>
            <a:endParaRPr lang="ro-RO" sz="2000" b="1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485"/>
            <a:ext cx="632515" cy="79254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i="1"/>
              <a:t>Predicate (first-order) logic</a:t>
            </a:r>
            <a:endParaRPr lang="ro-RO" sz="3200" b="1" i="1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2048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00200"/>
            <a:ext cx="83820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915" y="0"/>
            <a:ext cx="632515" cy="79254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7772400" cy="1093787"/>
          </a:xfrm>
        </p:spPr>
        <p:txBody>
          <a:bodyPr/>
          <a:lstStyle/>
          <a:p>
            <a:pPr eaLnBrk="1" hangingPunct="1"/>
            <a:r>
              <a:rPr lang="en-US" sz="3200" b="1" u="sng"/>
              <a:t>Modelling reasoning using predicate logic</a:t>
            </a:r>
            <a:endParaRPr lang="ro-RO" sz="320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524000"/>
            <a:ext cx="8382000" cy="51054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o-RO" sz="1800" b="1" u="sng"/>
              <a:t>Hypotheses:</a:t>
            </a:r>
            <a:endParaRPr lang="ro-RO" sz="1800" b="1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/>
              <a:t>	</a:t>
            </a:r>
            <a:r>
              <a:rPr lang="ro-RO" sz="1800" b="1"/>
              <a:t>H1. If x is perpendicular to y then x intersects y.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/>
              <a:t>	</a:t>
            </a:r>
            <a:r>
              <a:rPr lang="ro-RO" sz="1800" b="1"/>
              <a:t>H2. If x is parallel to y then x does not intersect y.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/>
              <a:t>	</a:t>
            </a:r>
            <a:r>
              <a:rPr lang="ro-RO" sz="1800" b="1"/>
              <a:t>H3. If x is perpendicular to y and z is perpendicular to y </a:t>
            </a:r>
            <a:endParaRPr lang="en-US" sz="1800" b="1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/>
              <a:t>                                                                     </a:t>
            </a:r>
            <a:r>
              <a:rPr lang="ro-RO" sz="1800" b="1"/>
              <a:t>then x is parallel to z.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/>
              <a:t>	</a:t>
            </a:r>
            <a:r>
              <a:rPr lang="ro-RO" sz="1800" b="1"/>
              <a:t>H4. d1 is perpendicular to d.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/>
              <a:t>	</a:t>
            </a:r>
            <a:r>
              <a:rPr lang="ro-RO" sz="1800" b="1"/>
              <a:t>H5. d is perpendicular to d2.</a:t>
            </a:r>
            <a:endParaRPr lang="ro-RO" sz="1800" b="1" u="sng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o-RO" sz="1800" b="1" u="sng"/>
              <a:t>Conclusion</a:t>
            </a:r>
            <a:r>
              <a:rPr lang="ro-RO" sz="1800" b="1"/>
              <a:t>:</a:t>
            </a:r>
            <a:r>
              <a:rPr lang="en-US" sz="1800" b="1"/>
              <a:t> </a:t>
            </a:r>
            <a:r>
              <a:rPr lang="ro-RO" sz="1800" b="1"/>
              <a:t>C. d1 does not intersect d2.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800" b="1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o-RO" sz="1800" b="1"/>
              <a:t>Check whether the conclusion C is derivable from the set of hypotheses.</a:t>
            </a:r>
            <a:endParaRPr lang="en-US" sz="1800" b="1" u="sng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1800" b="1" u="sng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u="sng"/>
              <a:t>S</a:t>
            </a:r>
            <a:r>
              <a:rPr lang="ro-RO" sz="1800" b="1" u="sng"/>
              <a:t>uccession to the British throne – common-sense human reasoning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o-RO" sz="1800" b="1" u="sng"/>
              <a:t>Hypotheses:</a:t>
            </a:r>
            <a:endParaRPr lang="ro-RO" sz="1800" b="1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o-RO" sz="1800" b="1"/>
              <a:t>      H1: If </a:t>
            </a:r>
            <a:r>
              <a:rPr lang="ro-RO" sz="1800" b="1" i="1"/>
              <a:t>x</a:t>
            </a:r>
            <a:r>
              <a:rPr lang="ro-RO" sz="1800" b="1"/>
              <a:t> is the king and </a:t>
            </a:r>
            <a:r>
              <a:rPr lang="ro-RO" sz="1800" b="1" i="1"/>
              <a:t>y</a:t>
            </a:r>
            <a:r>
              <a:rPr lang="ro-RO" sz="1800" b="1"/>
              <a:t> is his oldest son, then </a:t>
            </a:r>
            <a:r>
              <a:rPr lang="ro-RO" sz="1800" b="1" i="1"/>
              <a:t>y</a:t>
            </a:r>
            <a:r>
              <a:rPr lang="ro-RO" sz="1800" b="1"/>
              <a:t> can become the king.        H2: If </a:t>
            </a:r>
            <a:r>
              <a:rPr lang="ro-RO" sz="1800" b="1" i="1"/>
              <a:t>x</a:t>
            </a:r>
            <a:r>
              <a:rPr lang="ro-RO" sz="1800" b="1"/>
              <a:t> is the king and </a:t>
            </a:r>
            <a:r>
              <a:rPr lang="ro-RO" sz="1800" b="1" i="1"/>
              <a:t>y</a:t>
            </a:r>
            <a:r>
              <a:rPr lang="ro-RO" sz="1800" b="1"/>
              <a:t> defeats </a:t>
            </a:r>
            <a:r>
              <a:rPr lang="ro-RO" sz="1800" b="1" i="1"/>
              <a:t>x</a:t>
            </a:r>
            <a:r>
              <a:rPr lang="ro-RO" sz="1800" b="1"/>
              <a:t>, then </a:t>
            </a:r>
            <a:r>
              <a:rPr lang="ro-RO" sz="1800" b="1" i="1"/>
              <a:t>y</a:t>
            </a:r>
            <a:r>
              <a:rPr lang="ro-RO" sz="1800" b="1"/>
              <a:t> will become the king. </a:t>
            </a:r>
            <a:endParaRPr lang="en-US" sz="1800" b="1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o-RO" sz="1800" b="1"/>
              <a:t>      H3: </a:t>
            </a:r>
            <a:r>
              <a:rPr lang="ro-RO" sz="1800" b="1" i="1"/>
              <a:t>RichardIII</a:t>
            </a:r>
            <a:r>
              <a:rPr lang="ro-RO" sz="1800" b="1"/>
              <a:t>  is the king.</a:t>
            </a:r>
            <a:endParaRPr lang="en-US" sz="1800" b="1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o-RO" sz="1800" b="1"/>
              <a:t>      H4: </a:t>
            </a:r>
            <a:r>
              <a:rPr lang="ro-RO" sz="1800" b="1" i="1"/>
              <a:t>HenryVII </a:t>
            </a:r>
            <a:r>
              <a:rPr lang="ro-RO" sz="1800" b="1"/>
              <a:t>defeated </a:t>
            </a:r>
            <a:r>
              <a:rPr lang="ro-RO" sz="1800" b="1" i="1"/>
              <a:t>RichardIII</a:t>
            </a:r>
            <a:r>
              <a:rPr lang="ro-RO" sz="1800" b="1"/>
              <a:t>.</a:t>
            </a:r>
            <a:endParaRPr lang="en-US" sz="1800" b="1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o-RO" sz="1800" b="1"/>
              <a:t>      H5: </a:t>
            </a:r>
            <a:r>
              <a:rPr lang="ro-RO" sz="1800" b="1" i="1"/>
              <a:t>HenryVIII</a:t>
            </a:r>
            <a:r>
              <a:rPr lang="ro-RO" sz="1800" b="1"/>
              <a:t> is </a:t>
            </a:r>
            <a:r>
              <a:rPr lang="ro-RO" sz="1800" b="1" i="1"/>
              <a:t>HenryVII</a:t>
            </a:r>
            <a:r>
              <a:rPr lang="ro-RO" sz="1800" b="1"/>
              <a:t>’s oldest son.</a:t>
            </a:r>
            <a:endParaRPr lang="ro-RO" sz="1800" b="1" u="sng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o-RO" sz="1800" b="1" u="sng"/>
              <a:t>Conclusion C</a:t>
            </a:r>
            <a:r>
              <a:rPr lang="ro-RO" sz="1800" b="1"/>
              <a:t>:  Can </a:t>
            </a:r>
            <a:r>
              <a:rPr lang="ro-RO" sz="1800" b="1" i="1"/>
              <a:t>HenryVIII</a:t>
            </a:r>
            <a:r>
              <a:rPr lang="ro-RO" sz="1800" b="1"/>
              <a:t> become the king?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2515" cy="79254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o-RO" sz="3200" b="1" u="sng"/>
              <a:t>Types of logics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077200" cy="4530725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t"/>
            </a:pPr>
            <a:r>
              <a:rPr lang="ro-RO" sz="2400" b="1" i="1"/>
              <a:t>classical</a:t>
            </a:r>
            <a:r>
              <a:rPr lang="ro-RO" sz="2400" b="1"/>
              <a:t> logics: </a:t>
            </a:r>
            <a:endParaRPr lang="en-US" sz="2400" b="1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400" b="1"/>
              <a:t>           </a:t>
            </a:r>
            <a:r>
              <a:rPr lang="ro-RO" sz="2400" b="1" i="1"/>
              <a:t>propositional</a:t>
            </a:r>
            <a:r>
              <a:rPr lang="ro-RO" sz="2400" b="1"/>
              <a:t> </a:t>
            </a:r>
            <a:r>
              <a:rPr lang="en-US" sz="2400" b="1"/>
              <a:t>logic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400" b="1"/>
              <a:t>           </a:t>
            </a:r>
            <a:r>
              <a:rPr lang="ro-RO" sz="2400" b="1" i="1"/>
              <a:t>predicate</a:t>
            </a:r>
            <a:r>
              <a:rPr lang="ro-RO" sz="2400" b="1"/>
              <a:t> </a:t>
            </a:r>
            <a:r>
              <a:rPr lang="en-US" sz="2400" b="1"/>
              <a:t>(</a:t>
            </a:r>
            <a:r>
              <a:rPr lang="en-US" sz="2400" b="1" i="1"/>
              <a:t>first order</a:t>
            </a:r>
            <a:r>
              <a:rPr lang="en-US" sz="2400" b="1"/>
              <a:t>) </a:t>
            </a:r>
            <a:r>
              <a:rPr lang="ro-RO" sz="2400" b="1"/>
              <a:t>logic</a:t>
            </a:r>
            <a:endParaRPr lang="en-US" sz="2400" b="1"/>
          </a:p>
          <a:p>
            <a:pPr eaLnBrk="1" hangingPunct="1">
              <a:buFont typeface="Wingdings" panose="05000000000000000000" pitchFamily="2" charset="2"/>
              <a:buNone/>
            </a:pPr>
            <a:endParaRPr lang="en-US" sz="2400" b="1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t"/>
            </a:pPr>
            <a:r>
              <a:rPr lang="ro-RO" sz="2400" b="1" i="1"/>
              <a:t>modal</a:t>
            </a:r>
            <a:r>
              <a:rPr lang="ro-RO" sz="2400" b="1"/>
              <a:t> and </a:t>
            </a:r>
            <a:r>
              <a:rPr lang="ro-RO" sz="2400" b="1" i="1"/>
              <a:t>temporal</a:t>
            </a:r>
            <a:r>
              <a:rPr lang="ro-RO" sz="2400" b="1"/>
              <a:t> logics</a:t>
            </a:r>
            <a:endParaRPr lang="en-US" sz="2400" b="1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t"/>
            </a:pPr>
            <a:endParaRPr lang="ro-RO" sz="2400" b="1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t"/>
            </a:pPr>
            <a:r>
              <a:rPr lang="ro-RO" sz="2400" b="1" i="1"/>
              <a:t>multivalued</a:t>
            </a:r>
            <a:r>
              <a:rPr lang="ro-RO" sz="2400" b="1"/>
              <a:t> and </a:t>
            </a:r>
            <a:r>
              <a:rPr lang="ro-RO" sz="2400" b="1" i="1"/>
              <a:t>fuzzy</a:t>
            </a:r>
            <a:r>
              <a:rPr lang="ro-RO" sz="2400" b="1"/>
              <a:t> logics</a:t>
            </a:r>
            <a:endParaRPr lang="en-US" sz="2400" b="1"/>
          </a:p>
          <a:p>
            <a:pPr eaLnBrk="1" hangingPunct="1">
              <a:buFont typeface="Wingdings" panose="05000000000000000000" pitchFamily="2" charset="2"/>
              <a:buNone/>
            </a:pPr>
            <a:endParaRPr lang="ro-RO" sz="2400" b="1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t"/>
            </a:pPr>
            <a:r>
              <a:rPr lang="ro-RO" sz="2400" b="1" i="1"/>
              <a:t>nonmonotonic</a:t>
            </a:r>
            <a:r>
              <a:rPr lang="ro-RO" sz="2400" b="1"/>
              <a:t> logics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2515" cy="79254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838200" y="228600"/>
            <a:ext cx="7793037" cy="1004887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2400" b="1" dirty="0"/>
              <a:t>Nonmonotonic logics</a:t>
            </a:r>
            <a:br>
              <a:rPr lang="en-US" sz="2400" b="1" dirty="0"/>
            </a:br>
            <a:r>
              <a:rPr lang="en-US" sz="2400" b="1" dirty="0"/>
              <a:t>                                - Default Logic, Reiter 1980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531374"/>
            <a:ext cx="4733925" cy="287655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855406" y="4495800"/>
            <a:ext cx="7620000" cy="19205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o-RO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Nonmonotonic reasoning</a:t>
            </a:r>
            <a:r>
              <a:rPr lang="ro-RO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is an important part of human reasoning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marL="285750" marR="0" indent="-28575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it </a:t>
            </a: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is the process of inferring conclusions (formulas that are only plausible,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not necessarily true) from incomplete information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marR="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dding new facts can later invalidate these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conclusions;</a:t>
            </a:r>
          </a:p>
          <a:p>
            <a:pPr marL="285750" marR="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it is not a valid reasoning.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206665" y="2969649"/>
            <a:ext cx="2819400" cy="4893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latin typeface="Arial" panose="020B0604020202020204" pitchFamily="34" charset="0"/>
                <a:ea typeface="MS Mincho"/>
                <a:cs typeface="Arial" panose="020B0604020202020204" pitchFamily="34" charset="0"/>
              </a:rPr>
              <a:t>Xenophanes, 570 BC – 478 BC, Italy</a:t>
            </a:r>
          </a:p>
          <a:p>
            <a:r>
              <a:rPr lang="en-US" sz="1200" dirty="0">
                <a:latin typeface="Arial" panose="020B0604020202020204" pitchFamily="34" charset="0"/>
                <a:ea typeface="MS Mincho"/>
                <a:cs typeface="Arial" panose="020B0604020202020204" pitchFamily="34" charset="0"/>
              </a:rPr>
              <a:t>An important pre-Socratic philosopher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27145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400" b="1" i="1"/>
              <a:t>Automated Theorem Proving (ATP)</a:t>
            </a:r>
            <a:endParaRPr lang="ro-RO" sz="3400" b="1" i="1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915400" cy="50292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t"/>
            </a:pPr>
            <a:r>
              <a:rPr lang="en-US" sz="2400" b="1"/>
              <a:t>deals with the development of computer programs which show that some statement (the </a:t>
            </a:r>
            <a:r>
              <a:rPr lang="en-US" sz="2400" b="1" i="1" u="sng"/>
              <a:t>conjectur</a:t>
            </a:r>
            <a:r>
              <a:rPr lang="en-US" sz="2400" b="1" i="1"/>
              <a:t>e</a:t>
            </a:r>
            <a:r>
              <a:rPr lang="en-US" sz="2400" b="1"/>
              <a:t>) is a </a:t>
            </a:r>
            <a:r>
              <a:rPr lang="en-US" sz="2400" b="1" i="1" u="sng"/>
              <a:t>logical consequence</a:t>
            </a:r>
            <a:r>
              <a:rPr lang="en-US" sz="2400" b="1"/>
              <a:t> of a set of statements (the </a:t>
            </a:r>
            <a:r>
              <a:rPr lang="en-US" sz="2400" b="1" i="1" u="sng"/>
              <a:t>axioms</a:t>
            </a:r>
            <a:r>
              <a:rPr lang="en-US" sz="2400" b="1"/>
              <a:t> and the </a:t>
            </a:r>
            <a:r>
              <a:rPr lang="en-US" sz="2400" b="1" i="1" u="sng"/>
              <a:t>hypothese</a:t>
            </a:r>
            <a:r>
              <a:rPr lang="en-US" sz="2400" b="1" i="1"/>
              <a:t>s</a:t>
            </a:r>
            <a:r>
              <a:rPr lang="en-US" sz="2400" b="1"/>
              <a:t>).</a:t>
            </a:r>
            <a:r>
              <a:rPr lang="en-US" sz="2400"/>
              <a:t> </a:t>
            </a:r>
          </a:p>
          <a:p>
            <a:pPr eaLnBrk="1" hangingPunct="1">
              <a:lnSpc>
                <a:spcPct val="12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t"/>
            </a:pPr>
            <a:endParaRPr lang="en-US" sz="1000"/>
          </a:p>
          <a:p>
            <a:pPr eaLnBrk="1" hangingPunct="1">
              <a:lnSpc>
                <a:spcPct val="120000"/>
              </a:lnSpc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sz="2600" b="1"/>
              <a:t>    </a:t>
            </a:r>
            <a:r>
              <a:rPr lang="en-US" sz="2600" b="1" u="sng"/>
              <a:t>Dedicated (educational) automated theorem provers</a:t>
            </a:r>
          </a:p>
          <a:p>
            <a:pPr lvl="1" eaLnBrk="1" hangingPunct="1">
              <a:lnSpc>
                <a:spcPct val="12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400" b="1"/>
              <a:t>3TAP, pTAP, leanTAP, Cassandra</a:t>
            </a:r>
            <a:r>
              <a:rPr lang="ro-RO" sz="2400"/>
              <a:t> </a:t>
            </a:r>
            <a:r>
              <a:rPr lang="en-US" sz="2400"/>
              <a:t>(semantic tableaux</a:t>
            </a:r>
            <a:r>
              <a:rPr lang="en-US" sz="2400" b="1"/>
              <a:t>)</a:t>
            </a:r>
            <a:r>
              <a:rPr lang="en-US"/>
              <a:t> </a:t>
            </a:r>
            <a:endParaRPr lang="en-US" sz="2400"/>
          </a:p>
          <a:p>
            <a:pPr lvl="1" eaLnBrk="1" hangingPunct="1">
              <a:lnSpc>
                <a:spcPct val="12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400" b="1"/>
              <a:t>OTTER, PCPROVE, AMPHION, Jape</a:t>
            </a:r>
            <a:r>
              <a:rPr lang="ro-RO"/>
              <a:t> </a:t>
            </a:r>
            <a:r>
              <a:rPr lang="en-US" sz="2400"/>
              <a:t>(resolution)</a:t>
            </a:r>
          </a:p>
          <a:p>
            <a:pPr lvl="1" eaLnBrk="1" hangingPunct="1">
              <a:lnSpc>
                <a:spcPct val="12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400" b="1"/>
              <a:t>HERBY</a:t>
            </a:r>
            <a:r>
              <a:rPr lang="ro-RO" sz="2400"/>
              <a:t> </a:t>
            </a:r>
            <a:r>
              <a:rPr lang="en-US" sz="2400"/>
              <a:t>(semantic trees + Herbrand theorem)</a:t>
            </a:r>
          </a:p>
          <a:p>
            <a:pPr lvl="1" eaLnBrk="1" hangingPunct="1">
              <a:lnSpc>
                <a:spcPct val="12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endParaRPr lang="en-US" sz="1000"/>
          </a:p>
          <a:p>
            <a:pPr lvl="1" eaLnBrk="1" hangingPunct="1">
              <a:lnSpc>
                <a:spcPct val="120000"/>
              </a:lnSpc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fr-FR" sz="2400" b="1"/>
              <a:t>Implementations in: PROLOG, LISP, C/C++,…</a:t>
            </a:r>
            <a:endParaRPr lang="ro-RO" sz="2400" b="1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" y="0"/>
            <a:ext cx="621058" cy="77819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800" b="1"/>
              <a:t>ATP systems in </a:t>
            </a:r>
            <a:r>
              <a:rPr lang="en-US" sz="3800" b="1" i="1" u="sng"/>
              <a:t>mathematics</a:t>
            </a:r>
            <a:r>
              <a:rPr lang="en-US" sz="3800" b="1" u="sng"/>
              <a:t> </a:t>
            </a:r>
            <a:endParaRPr lang="ro-RO" sz="3800" b="1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839200" cy="48768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400" b="1" i="1" u="sng"/>
              <a:t>EQP</a:t>
            </a:r>
            <a:r>
              <a:rPr lang="en-US" b="1"/>
              <a:t>. </a:t>
            </a:r>
            <a:r>
              <a:rPr lang="en-US" sz="2400" b="1"/>
              <a:t>In 1933 Herbert Robbins conjectured that a particular group of axioms forms a basis for Boolean algebra, but neither he nor anyone else could prove this. The proof was found in October 10, 1996, after about 8 days of search by EQP.</a:t>
            </a:r>
            <a:r>
              <a:rPr lang="en-US" sz="2400"/>
              <a:t> </a:t>
            </a:r>
          </a:p>
          <a:p>
            <a:pPr eaLnBrk="1" hangingPunct="1">
              <a:lnSpc>
                <a:spcPct val="125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endParaRPr lang="en-US" sz="1000"/>
          </a:p>
          <a:p>
            <a:pPr eaLnBrk="1" hangingPunct="1"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400" b="1" i="1" u="sng"/>
              <a:t>Otter</a:t>
            </a:r>
            <a:r>
              <a:rPr lang="en-US" sz="2400" b="1" i="1"/>
              <a:t> - </a:t>
            </a:r>
            <a:r>
              <a:rPr lang="en-US" sz="2400" b="1"/>
              <a:t>used to prove several results in quasi-groups.</a:t>
            </a:r>
            <a:r>
              <a:rPr lang="en-US" sz="2400"/>
              <a:t> </a:t>
            </a:r>
          </a:p>
          <a:p>
            <a:pPr eaLnBrk="1" hangingPunct="1"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endParaRPr lang="en-US" sz="1000"/>
          </a:p>
          <a:p>
            <a:pPr eaLnBrk="1" hangingPunct="1">
              <a:lnSpc>
                <a:spcPct val="125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400" b="1" i="1" u="sng"/>
              <a:t>Geometry Expert</a:t>
            </a:r>
            <a:r>
              <a:rPr lang="en-US" sz="2400" b="1"/>
              <a:t> has been used to obtain new results in Euclidean geometry.</a:t>
            </a:r>
            <a:r>
              <a:rPr lang="en-US" sz="2400"/>
              <a:t> </a:t>
            </a:r>
            <a:endParaRPr lang="ro-RO" sz="24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458" y="0"/>
            <a:ext cx="632515" cy="79254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/>
              <a:t>ATP</a:t>
            </a:r>
            <a:r>
              <a:rPr lang="en-US" b="1" i="1"/>
              <a:t> </a:t>
            </a:r>
            <a:r>
              <a:rPr lang="en-US" b="1"/>
              <a:t>for </a:t>
            </a:r>
            <a:r>
              <a:rPr lang="en-US" b="1" i="1" u="sng"/>
              <a:t>software generation</a:t>
            </a:r>
            <a:endParaRPr lang="ro-RO" b="1" i="1" u="sng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915400" cy="5257800"/>
          </a:xfrm>
        </p:spPr>
        <p:txBody>
          <a:bodyPr/>
          <a:lstStyle/>
          <a:p>
            <a:pPr eaLnBrk="1" hangingPunct="1">
              <a:lnSpc>
                <a:spcPct val="115000"/>
              </a:lnSpc>
              <a:buClr>
                <a:schemeClr val="tx1"/>
              </a:buClr>
              <a:buSzTx/>
            </a:pPr>
            <a:r>
              <a:rPr lang="en-US" sz="2100" b="1"/>
              <a:t>the </a:t>
            </a:r>
            <a:r>
              <a:rPr lang="en-US" sz="2100" b="1" i="1" u="sng"/>
              <a:t>KIDS</a:t>
            </a:r>
            <a:r>
              <a:rPr lang="en-US" sz="2100" b="1"/>
              <a:t> system developed at Kestrel Institute</a:t>
            </a:r>
          </a:p>
          <a:p>
            <a:pPr lvl="1" eaLnBrk="1" hangingPunct="1">
              <a:lnSpc>
                <a:spcPct val="115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100" b="1"/>
              <a:t> used to derive scheduling algorithms that have outperformed currently used algorithms</a:t>
            </a:r>
          </a:p>
          <a:p>
            <a:pPr lvl="1" eaLnBrk="1" hangingPunct="1">
              <a:lnSpc>
                <a:spcPct val="115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100" b="1"/>
              <a:t>provides intuitive, high level operations for transformational development of programs from specifications.</a:t>
            </a:r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endParaRPr lang="en-US" sz="1000" b="1"/>
          </a:p>
          <a:p>
            <a:pPr eaLnBrk="1" hangingPunct="1">
              <a:lnSpc>
                <a:spcPct val="115000"/>
              </a:lnSpc>
              <a:buClr>
                <a:schemeClr val="tx1"/>
              </a:buClr>
              <a:buSzTx/>
            </a:pPr>
            <a:r>
              <a:rPr lang="en-US" sz="2100" b="1"/>
              <a:t>the </a:t>
            </a:r>
            <a:r>
              <a:rPr lang="en-US" sz="2100" b="1" i="1" u="sng"/>
              <a:t>AMPHION</a:t>
            </a:r>
            <a:r>
              <a:rPr lang="en-US" sz="2100" b="1"/>
              <a:t> project, sponsored by NASA</a:t>
            </a:r>
          </a:p>
          <a:p>
            <a:pPr lvl="1" eaLnBrk="1" hangingPunct="1">
              <a:lnSpc>
                <a:spcPct val="115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100" b="1"/>
              <a:t> used to determine appropriate subroutines combined to produce programs for satellite guidance.</a:t>
            </a:r>
          </a:p>
          <a:p>
            <a:pPr lvl="1" eaLnBrk="1" hangingPunct="1">
              <a:lnSpc>
                <a:spcPct val="115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100" b="1"/>
              <a:t>by encapsulating usable functionality in software components, and then reusing those components, AMPHION can develop software in less time than human programmers.</a:t>
            </a:r>
            <a:endParaRPr lang="ro-RO" sz="2100" b="1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1" y="0"/>
            <a:ext cx="632515" cy="79254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800" b="1"/>
              <a:t>ATP for </a:t>
            </a:r>
            <a:r>
              <a:rPr lang="en-US" sz="3800" b="1" i="1" u="sng"/>
              <a:t>software verification</a:t>
            </a:r>
            <a:r>
              <a:rPr lang="en-US"/>
              <a:t> </a:t>
            </a:r>
            <a:endParaRPr lang="ro-RO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9154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100" b="1"/>
              <a:t>The </a:t>
            </a:r>
            <a:r>
              <a:rPr lang="en-US" sz="2100" b="1" i="1"/>
              <a:t>Karlsruhe Interactive Verifier (</a:t>
            </a:r>
            <a:r>
              <a:rPr lang="en-US" sz="2100" b="1" i="1" u="sng"/>
              <a:t>KIV</a:t>
            </a:r>
            <a:r>
              <a:rPr lang="en-US" sz="2100" b="1" i="1"/>
              <a:t>)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b="1" i="1"/>
              <a:t>verifies a large</a:t>
            </a:r>
            <a:r>
              <a:rPr lang="en-US" sz="2000" b="1"/>
              <a:t> range of software applications: implementation of set functions, tree and graph representation and manipulation. 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b="1"/>
              <a:t>used for </a:t>
            </a:r>
            <a:r>
              <a:rPr lang="en-US" sz="2000" b="1" i="1"/>
              <a:t>industrial application:</a:t>
            </a:r>
            <a:r>
              <a:rPr lang="en-US" sz="2000" b="1"/>
              <a:t> a software controlled railway switch, safe command transfer in a space vehicle, and supervision of neutron flow in a nuclear reactor.</a:t>
            </a:r>
            <a:r>
              <a:rPr lang="en-US" sz="2000"/>
              <a:t> 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sz="1000"/>
          </a:p>
          <a:p>
            <a:pPr eaLnBrk="1" hangingPunct="1">
              <a:lnSpc>
                <a:spcPct val="90000"/>
              </a:lnSpc>
            </a:pPr>
            <a:r>
              <a:rPr lang="en-US" sz="2000" b="1" i="1" u="sng"/>
              <a:t>PVS</a:t>
            </a:r>
            <a:r>
              <a:rPr lang="en-US" sz="2000" b="1" u="sng"/>
              <a:t> </a:t>
            </a:r>
            <a:r>
              <a:rPr lang="en-US" sz="2000" b="1"/>
              <a:t>is a verification system 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b="1"/>
              <a:t>used in various applications: </a:t>
            </a:r>
            <a:r>
              <a:rPr lang="en-US" sz="2000" b="1" i="1"/>
              <a:t>diagnosis and scheduling algorithms</a:t>
            </a:r>
            <a:r>
              <a:rPr lang="en-US" sz="2000" b="1"/>
              <a:t> for fault tolerant architectures, and requirements specification for portions of the space shuttle flight control system. 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b="1"/>
              <a:t>NASA uses ATP to certify </a:t>
            </a:r>
            <a:r>
              <a:rPr lang="en-US" sz="2000" b="1" i="1"/>
              <a:t>safety properties of aerospace software</a:t>
            </a:r>
            <a:r>
              <a:rPr lang="en-US" sz="2000" b="1"/>
              <a:t> that has been automatically generated from high-level specifications. </a:t>
            </a:r>
            <a:endParaRPr lang="ro-RO" sz="20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591" y="0"/>
            <a:ext cx="632515" cy="79254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800" b="1"/>
              <a:t>ATP for </a:t>
            </a:r>
            <a:r>
              <a:rPr lang="en-US" sz="3800" b="1" i="1" u="sng"/>
              <a:t>hardware verification</a:t>
            </a:r>
            <a:r>
              <a:rPr lang="en-US"/>
              <a:t> </a:t>
            </a:r>
            <a:endParaRPr lang="ro-RO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915400" cy="5257800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SzTx/>
              <a:buFont typeface="Wingdings" panose="05000000000000000000" pitchFamily="2" charset="2"/>
              <a:buChar char="§"/>
            </a:pPr>
            <a:r>
              <a:rPr lang="en-US" sz="2400" b="1" i="1" u="sng"/>
              <a:t>Hardware verification</a:t>
            </a:r>
            <a:r>
              <a:rPr lang="en-US" sz="2400" b="1"/>
              <a:t> is the largest industrial application of ATP. </a:t>
            </a:r>
          </a:p>
          <a:p>
            <a:pPr eaLnBrk="1" hangingPunct="1">
              <a:buClr>
                <a:schemeClr val="tx1"/>
              </a:buClr>
              <a:buSzTx/>
              <a:buFont typeface="Wingdings" panose="05000000000000000000" pitchFamily="2" charset="2"/>
              <a:buChar char="§"/>
            </a:pPr>
            <a:r>
              <a:rPr lang="en-US" sz="2400" b="1" i="1"/>
              <a:t>IBM, Intel, </a:t>
            </a:r>
            <a:r>
              <a:rPr lang="en-US" sz="2400" b="1"/>
              <a:t>and</a:t>
            </a:r>
            <a:r>
              <a:rPr lang="en-US" sz="2400" b="1" i="1"/>
              <a:t> Motorola</a:t>
            </a:r>
            <a:r>
              <a:rPr lang="en-US" sz="2400" b="1"/>
              <a:t> are among the companies that employ ATP technology for verification.</a:t>
            </a:r>
            <a:r>
              <a:rPr lang="en-US" sz="2400"/>
              <a:t> </a:t>
            </a:r>
          </a:p>
          <a:p>
            <a:pPr eaLnBrk="1" hangingPunct="1">
              <a:buClr>
                <a:schemeClr val="tx1"/>
              </a:buClr>
              <a:buSzTx/>
              <a:buFont typeface="Wingdings" panose="05000000000000000000" pitchFamily="2" charset="2"/>
              <a:buChar char="§"/>
            </a:pPr>
            <a:endParaRPr lang="en-US" sz="600"/>
          </a:p>
          <a:p>
            <a:pPr eaLnBrk="1" hangingPunct="1">
              <a:lnSpc>
                <a:spcPct val="12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400" b="1" i="1" u="sng"/>
              <a:t>ACL2</a:t>
            </a:r>
            <a:r>
              <a:rPr lang="en-US" sz="2400" b="1" u="sng"/>
              <a:t> system</a:t>
            </a:r>
            <a:r>
              <a:rPr lang="en-US" sz="2400" b="1"/>
              <a:t> - used to obtain a proof of the correctness of the floating point divide code for AMD's PENTIUM-like AMD5K86 microprocessor</a:t>
            </a:r>
          </a:p>
          <a:p>
            <a:pPr eaLnBrk="1" hangingPunct="1"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endParaRPr lang="en-US" sz="600" b="1"/>
          </a:p>
          <a:p>
            <a:pPr eaLnBrk="1" hangingPunct="1">
              <a:lnSpc>
                <a:spcPct val="12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400" b="1" i="1" u="sng"/>
              <a:t>ANALYTICA</a:t>
            </a:r>
            <a:r>
              <a:rPr lang="en-US" sz="2400" b="1"/>
              <a:t> - used to verify a division circuit that implements the floating point standard of IEEE.</a:t>
            </a:r>
            <a:r>
              <a:rPr lang="en-US" sz="2400"/>
              <a:t> </a:t>
            </a:r>
          </a:p>
          <a:p>
            <a:pPr eaLnBrk="1" hangingPunct="1"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endParaRPr lang="en-US" sz="800"/>
          </a:p>
          <a:p>
            <a:pPr eaLnBrk="1" hangingPunct="1"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400" b="1" i="1" u="sng"/>
              <a:t>HOL</a:t>
            </a:r>
            <a:r>
              <a:rPr lang="en-US" sz="2400" b="1" u="sng"/>
              <a:t> system</a:t>
            </a:r>
            <a:r>
              <a:rPr lang="en-US" sz="2400" b="1"/>
              <a:t> - used at Bell Laboratories for hardware verification.</a:t>
            </a:r>
            <a:r>
              <a:rPr lang="en-US" sz="2400"/>
              <a:t> </a:t>
            </a:r>
            <a:endParaRPr lang="ro-RO" sz="2400" b="1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" y="-6485"/>
            <a:ext cx="632515" cy="7925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BEB77B-0166-D31E-4BEA-F148481D7798}"/>
              </a:ext>
            </a:extLst>
          </p:cNvPr>
          <p:cNvSpPr txBox="1"/>
          <p:nvPr/>
        </p:nvSpPr>
        <p:spPr>
          <a:xfrm>
            <a:off x="2286000" y="326139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tudor.andrei.pop4@stud.ubbcluj.ro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934CE-3C29-F169-A9D4-980A883F5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510" y="713834"/>
            <a:ext cx="8077200" cy="657766"/>
          </a:xfrm>
        </p:spPr>
        <p:txBody>
          <a:bodyPr/>
          <a:lstStyle/>
          <a:p>
            <a:r>
              <a:rPr lang="en-US" sz="3600" dirty="0"/>
              <a:t>Challenges LLMs face with logic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65AEF8-8436-207D-EDB4-ED07DE22DDE5}"/>
              </a:ext>
            </a:extLst>
          </p:cNvPr>
          <p:cNvSpPr txBox="1"/>
          <p:nvPr/>
        </p:nvSpPr>
        <p:spPr>
          <a:xfrm>
            <a:off x="661220" y="1600200"/>
            <a:ext cx="8458200" cy="4481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Pattern-based, not truth-based: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LLMs are trained on vast datasets and predict the next word, making them good at mimicking logical patterns </a:t>
            </a:r>
            <a:r>
              <a:rPr lang="en-US" sz="2000" kern="100" dirty="0">
                <a:effectLst/>
                <a:highlight>
                  <a:srgbClr val="FF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but not at true logical understanding or derivation. 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Lack of consistency: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LLMs can generate </a:t>
            </a:r>
            <a:r>
              <a:rPr lang="en-US" sz="2000" kern="100" dirty="0">
                <a:effectLst/>
                <a:highlight>
                  <a:srgbClr val="FF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logically inconsistent 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answers across different queries, failing to uphold logical rules and self-consistency. 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Difficulty with novel problems: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LLMs often struggle with mathematical and commonsense logic problems that deviate significantly from their training data, exposing their limitations in deriving new solutions. </a:t>
            </a:r>
          </a:p>
        </p:txBody>
      </p:sp>
    </p:spTree>
    <p:extLst>
      <p:ext uri="{BB962C8B-B14F-4D97-AF65-F5344CB8AC3E}">
        <p14:creationId xmlns:p14="http://schemas.microsoft.com/office/powerpoint/2010/main" val="15716230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86753-6BD1-654A-1DEA-ABA22E33E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38199"/>
            <a:ext cx="7772400" cy="582613"/>
          </a:xfrm>
        </p:spPr>
        <p:txBody>
          <a:bodyPr/>
          <a:lstStyle/>
          <a:p>
            <a:r>
              <a:rPr lang="en-US" sz="3600" dirty="0"/>
              <a:t>How LLMs and logic are combined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2C4F11-C014-824A-A811-4700DB2282AF}"/>
              </a:ext>
            </a:extLst>
          </p:cNvPr>
          <p:cNvSpPr txBox="1"/>
          <p:nvPr/>
        </p:nvSpPr>
        <p:spPr>
          <a:xfrm>
            <a:off x="658760" y="1600200"/>
            <a:ext cx="8332839" cy="4835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LLM + Symbolic Solvers: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approach uses an LLM to transform a natural language problem into a formal, </a:t>
            </a:r>
            <a:r>
              <a:rPr lang="en-US" sz="2000" kern="100" dirty="0">
                <a:effectLst/>
                <a:highlight>
                  <a:srgbClr val="FF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symbolic representation that a deterministic symbolic solver 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can then process to perform accurate inferences. 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Semantic Parsing: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 LLM can act as a few-shot semantic parser, </a:t>
            </a:r>
            <a:r>
              <a:rPr lang="en-US" sz="2000" kern="100" dirty="0">
                <a:effectLst/>
                <a:highlight>
                  <a:srgbClr val="FF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converting natural language sentences into a logical form that can be used by a logic-based system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such as an </a:t>
            </a:r>
            <a:r>
              <a:rPr lang="en-US" sz="20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2"/>
              </a:rPr>
              <a:t>answer set program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(ASP). 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Neuro-symbolic Integration: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Some systems integrate LLMs with </a:t>
            </a:r>
            <a:r>
              <a:rPr lang="en-US" sz="2000" kern="100" dirty="0">
                <a:effectLst/>
                <a:highlight>
                  <a:srgbClr val="FF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traditional proof-search engines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using the LLM to guide the search process and replace human-provided heuristics.</a:t>
            </a:r>
          </a:p>
        </p:txBody>
      </p:sp>
    </p:spTree>
    <p:extLst>
      <p:ext uri="{BB962C8B-B14F-4D97-AF65-F5344CB8AC3E}">
        <p14:creationId xmlns:p14="http://schemas.microsoft.com/office/powerpoint/2010/main" val="22862136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References</a:t>
            </a:r>
            <a:endParaRPr lang="ro-RO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600200"/>
            <a:ext cx="9144000" cy="4953000"/>
          </a:xfrm>
        </p:spPr>
        <p:txBody>
          <a:bodyPr/>
          <a:lstStyle/>
          <a:p>
            <a:pPr marL="533400" indent="-533400" eaLnBrk="1" hangingPunct="1">
              <a:lnSpc>
                <a:spcPct val="115000"/>
              </a:lnSpc>
            </a:pPr>
            <a:r>
              <a:rPr lang="it-IT" sz="1900" b="1"/>
              <a:t>M. Ben-Ari: </a:t>
            </a:r>
            <a:r>
              <a:rPr lang="it-IT" sz="1900" b="1" i="1"/>
              <a:t>Mathematical Logic for Computer Science</a:t>
            </a:r>
            <a:r>
              <a:rPr lang="it-IT" sz="1900" b="1"/>
              <a:t>, Ed. </a:t>
            </a:r>
            <a:r>
              <a:rPr lang="en-US" sz="1900" b="1"/>
              <a:t>Springer, 2001</a:t>
            </a:r>
          </a:p>
          <a:p>
            <a:pPr marL="533400" indent="-533400" eaLnBrk="1" hangingPunct="1">
              <a:lnSpc>
                <a:spcPct val="115000"/>
              </a:lnSpc>
            </a:pPr>
            <a:r>
              <a:rPr lang="en-US" sz="1900" b="1"/>
              <a:t>M. Clarke: </a:t>
            </a:r>
            <a:r>
              <a:rPr lang="en-US" sz="1900" b="1" i="1"/>
              <a:t>Logic for Computer Science</a:t>
            </a:r>
            <a:r>
              <a:rPr lang="en-US" sz="1900" b="1"/>
              <a:t>, Ed. Eddison-Wesley 1990.</a:t>
            </a:r>
            <a:endParaRPr lang="fr-FR" sz="1900" b="1"/>
          </a:p>
          <a:p>
            <a:pPr marL="533400" indent="-533400" eaLnBrk="1" hangingPunct="1">
              <a:lnSpc>
                <a:spcPct val="115000"/>
              </a:lnSpc>
            </a:pPr>
            <a:r>
              <a:rPr lang="en-US" sz="1900" b="1"/>
              <a:t>M. Fitting: </a:t>
            </a:r>
            <a:r>
              <a:rPr lang="en-US" sz="1900" b="1" i="1"/>
              <a:t>First-order logic and Automated Theorem Proving</a:t>
            </a:r>
            <a:r>
              <a:rPr lang="en-US" sz="1900" b="1"/>
              <a:t>, Ed. Springer Verlag, 1990.</a:t>
            </a:r>
            <a:endParaRPr lang="it-IT" sz="1900" b="1"/>
          </a:p>
          <a:p>
            <a:pPr marL="533400" indent="-533400" eaLnBrk="1" hangingPunct="1">
              <a:lnSpc>
                <a:spcPct val="115000"/>
              </a:lnSpc>
            </a:pPr>
            <a:r>
              <a:rPr lang="it-IT" sz="1900" b="1"/>
              <a:t>Mihaela Malita, Mircea Malita: </a:t>
            </a:r>
            <a:r>
              <a:rPr lang="it-IT" sz="1900" b="1" i="1"/>
              <a:t>Bazele Inteligentei Artificiale, Vol. </a:t>
            </a:r>
            <a:r>
              <a:rPr lang="en-US" sz="1900" b="1" i="1"/>
              <a:t>I, Logici propozitionale,</a:t>
            </a:r>
            <a:r>
              <a:rPr lang="en-US" sz="1900" b="1"/>
              <a:t> Ed. Tehnica, Bucuresti, 1987 – library. </a:t>
            </a:r>
            <a:endParaRPr lang="it-IT" sz="1900" b="1"/>
          </a:p>
          <a:p>
            <a:pPr marL="533400" indent="-533400" eaLnBrk="1" hangingPunct="1">
              <a:lnSpc>
                <a:spcPct val="115000"/>
              </a:lnSpc>
            </a:pPr>
            <a:r>
              <a:rPr lang="it-IT" sz="1900" b="1"/>
              <a:t>M. Lupea, A. Mihiş: </a:t>
            </a:r>
            <a:r>
              <a:rPr lang="it-IT" sz="1900" b="1" i="1"/>
              <a:t>Logici clasice şi circuite logice. Teorie şi exemple</a:t>
            </a:r>
            <a:r>
              <a:rPr lang="it-IT" sz="1900" b="1"/>
              <a:t>,  Editura Albastra, edition I- 2008, edition II– 2009, edition III- 2011.</a:t>
            </a:r>
          </a:p>
          <a:p>
            <a:pPr marL="533400" indent="-533400" eaLnBrk="1" hangingPunct="1">
              <a:lnSpc>
                <a:spcPct val="115000"/>
              </a:lnSpc>
            </a:pPr>
            <a:r>
              <a:rPr lang="it-IT" sz="1900" b="1">
                <a:solidFill>
                  <a:srgbClr val="009900"/>
                </a:solidFill>
              </a:rPr>
              <a:t>M. Lupea, A. Mihis: </a:t>
            </a:r>
            <a:r>
              <a:rPr lang="it-IT" sz="1900" b="1" i="1">
                <a:solidFill>
                  <a:srgbClr val="009900"/>
                </a:solidFill>
              </a:rPr>
              <a:t>A Computational Approach to Classical Logics and Circuits,  Presa Universitara Clujeana</a:t>
            </a:r>
            <a:r>
              <a:rPr lang="it-IT" sz="1900" b="1">
                <a:solidFill>
                  <a:srgbClr val="009900"/>
                </a:solidFill>
              </a:rPr>
              <a:t>, Cluj-Napoca, </a:t>
            </a:r>
            <a:r>
              <a:rPr lang="it-IT" sz="1900" b="1"/>
              <a:t>edition II-2016 </a:t>
            </a:r>
            <a:r>
              <a:rPr lang="it-IT" sz="1900" b="1">
                <a:solidFill>
                  <a:srgbClr val="009900"/>
                </a:solidFill>
              </a:rPr>
              <a:t>.</a:t>
            </a:r>
            <a:endParaRPr lang="en-US" sz="1900" b="1">
              <a:solidFill>
                <a:srgbClr val="009900"/>
              </a:solidFill>
            </a:endParaRPr>
          </a:p>
          <a:p>
            <a:pPr marL="533400" indent="-533400" eaLnBrk="1" hangingPunct="1">
              <a:lnSpc>
                <a:spcPct val="115000"/>
              </a:lnSpc>
            </a:pPr>
            <a:r>
              <a:rPr lang="en-US" sz="1900" b="1">
                <a:solidFill>
                  <a:srgbClr val="CC0099"/>
                </a:solidFill>
              </a:rPr>
              <a:t>L.C. Paulson: </a:t>
            </a:r>
            <a:r>
              <a:rPr lang="en-US" sz="1900" b="1" i="1">
                <a:solidFill>
                  <a:srgbClr val="CC0099"/>
                </a:solidFill>
              </a:rPr>
              <a:t>Logic and Proof</a:t>
            </a:r>
            <a:r>
              <a:rPr lang="en-US" sz="1900" b="1">
                <a:solidFill>
                  <a:srgbClr val="CC0099"/>
                </a:solidFill>
              </a:rPr>
              <a:t>, Univ. Cambridge, 2000, on-line course.</a:t>
            </a:r>
          </a:p>
          <a:p>
            <a:pPr marL="533400" indent="-533400" eaLnBrk="1" hangingPunct="1">
              <a:lnSpc>
                <a:spcPct val="115000"/>
              </a:lnSpc>
            </a:pPr>
            <a:r>
              <a:rPr lang="en-US" sz="1900" b="1">
                <a:solidFill>
                  <a:srgbClr val="CC0099"/>
                </a:solidFill>
              </a:rPr>
              <a:t>M. Possega: </a:t>
            </a:r>
            <a:r>
              <a:rPr lang="en-US" sz="1900" b="1" i="1">
                <a:solidFill>
                  <a:srgbClr val="CC0099"/>
                </a:solidFill>
              </a:rPr>
              <a:t>Deduction Systems</a:t>
            </a:r>
            <a:r>
              <a:rPr lang="en-US" sz="1900" b="1">
                <a:solidFill>
                  <a:srgbClr val="CC0099"/>
                </a:solidFill>
              </a:rPr>
              <a:t>, Inst. of Informatics, 2002, on-line course</a:t>
            </a:r>
            <a:r>
              <a:rPr lang="en-US" sz="1900" b="1"/>
              <a:t>.</a:t>
            </a:r>
          </a:p>
          <a:p>
            <a:pPr marL="533400" indent="-533400" eaLnBrk="1" hangingPunct="1">
              <a:lnSpc>
                <a:spcPct val="115000"/>
              </a:lnSpc>
            </a:pPr>
            <a:r>
              <a:rPr lang="en-US" sz="1900" b="1"/>
              <a:t>D.Tatar:</a:t>
            </a:r>
            <a:r>
              <a:rPr lang="en-US" sz="1900" b="1" i="1"/>
              <a:t> Bazele matematice ale calculatoarelor</a:t>
            </a:r>
            <a:r>
              <a:rPr lang="en-US" sz="1900" b="1"/>
              <a:t>, edition 1999- library.</a:t>
            </a:r>
            <a:endParaRPr lang="pt-PT" sz="1900" b="1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2515" cy="79254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/>
              <a:t>III. Boolean algebras, Boolean functions</a:t>
            </a:r>
            <a:br>
              <a:rPr lang="en-US" sz="3200" b="1"/>
            </a:br>
            <a:r>
              <a:rPr lang="en-US" sz="3200" b="1"/>
              <a:t>      Logic circuits</a:t>
            </a:r>
            <a:br>
              <a:rPr lang="en-US" sz="3200" b="1"/>
            </a:br>
            <a:endParaRPr lang="ro-RO" sz="3200" b="1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915400" cy="5105400"/>
          </a:xfrm>
        </p:spPr>
        <p:txBody>
          <a:bodyPr/>
          <a:lstStyle/>
          <a:p>
            <a:pPr marL="0" indent="0" eaLnBrk="1" hangingPunct="1">
              <a:lnSpc>
                <a:spcPct val="110000"/>
              </a:lnSpc>
              <a:buClr>
                <a:schemeClr val="tx1"/>
              </a:buClr>
              <a:buSzTx/>
              <a:buNone/>
            </a:pPr>
            <a:endParaRPr lang="ro-RO" sz="22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2515" cy="79254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600200"/>
            <a:ext cx="8809632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/>
              <a:t>III. Boolean algebras, Boolean functions</a:t>
            </a:r>
            <a:br>
              <a:rPr lang="en-US" sz="3200" b="1"/>
            </a:br>
            <a:r>
              <a:rPr lang="en-US" sz="3200" b="1"/>
              <a:t>      Logic circuits</a:t>
            </a:r>
            <a:br>
              <a:rPr lang="en-US" sz="3200" b="1"/>
            </a:br>
            <a:endParaRPr lang="ro-RO" sz="3200" b="1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915400" cy="51054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v"/>
            </a:pPr>
            <a:r>
              <a:rPr lang="en-GB" sz="2200"/>
              <a:t>In 1938 </a:t>
            </a:r>
            <a:r>
              <a:rPr lang="en-GB" sz="2200" b="1"/>
              <a:t>Claude Shannon</a:t>
            </a:r>
            <a:r>
              <a:rPr lang="en-GB" sz="2200"/>
              <a:t> proved that a </a:t>
            </a:r>
            <a:r>
              <a:rPr lang="en-GB" sz="2200" b="1" i="1"/>
              <a:t>two-valued binary Boolean algebra </a:t>
            </a:r>
            <a:r>
              <a:rPr lang="en-GB" sz="2200"/>
              <a:t>can describe the operations</a:t>
            </a:r>
            <a:r>
              <a:rPr lang="en-GB" sz="2200" b="1"/>
              <a:t> of</a:t>
            </a:r>
            <a:r>
              <a:rPr lang="en-GB" sz="2200" b="1" i="1"/>
              <a:t> two-valued electrical switching circuits.</a:t>
            </a:r>
          </a:p>
          <a:p>
            <a:pPr eaLnBrk="1" hangingPunct="1">
              <a:buClr>
                <a:schemeClr val="tx1"/>
              </a:buClr>
              <a:buSzTx/>
              <a:buFont typeface="Wingdings" panose="05000000000000000000" pitchFamily="2" charset="2"/>
              <a:buChar char="v"/>
            </a:pPr>
            <a:endParaRPr lang="en-GB" sz="1000" b="1" i="1"/>
          </a:p>
          <a:p>
            <a:pPr eaLnBrk="1" hangingPunct="1">
              <a:buClr>
                <a:schemeClr val="tx1"/>
              </a:buClr>
              <a:buSzTx/>
              <a:buFont typeface="Wingdings" panose="05000000000000000000" pitchFamily="2" charset="2"/>
              <a:buChar char="v"/>
            </a:pPr>
            <a:r>
              <a:rPr lang="en-GB" sz="2200" b="1" i="1"/>
              <a:t>Propositional logic</a:t>
            </a:r>
            <a:r>
              <a:rPr lang="en-GB" sz="2200"/>
              <a:t> is used to minimize the number of gates in a circuit, and to show the equivalence of </a:t>
            </a:r>
            <a:r>
              <a:rPr lang="en-GB" sz="2200" b="1" i="1"/>
              <a:t>combinational circuits</a:t>
            </a:r>
            <a:r>
              <a:rPr lang="en-GB" sz="2200" b="1"/>
              <a:t>.</a:t>
            </a:r>
          </a:p>
          <a:p>
            <a:pPr eaLnBrk="1" hangingPunct="1">
              <a:buClr>
                <a:schemeClr val="tx1"/>
              </a:buClr>
              <a:buSzTx/>
              <a:buFont typeface="Wingdings" panose="05000000000000000000" pitchFamily="2" charset="2"/>
              <a:buChar char="v"/>
            </a:pPr>
            <a:endParaRPr lang="en-GB" sz="600" b="1"/>
          </a:p>
          <a:p>
            <a:pPr eaLnBrk="1" hangingPunct="1">
              <a:lnSpc>
                <a:spcPct val="11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v"/>
            </a:pPr>
            <a:r>
              <a:rPr lang="en-GB" sz="2200" b="1" err="1"/>
              <a:t>Grigore</a:t>
            </a:r>
            <a:r>
              <a:rPr lang="en-GB" sz="2200" b="1"/>
              <a:t> </a:t>
            </a:r>
            <a:r>
              <a:rPr lang="en-GB" sz="2200" b="1" err="1"/>
              <a:t>Moisil</a:t>
            </a:r>
            <a:r>
              <a:rPr lang="en-GB" sz="2200"/>
              <a:t> (1906-1973) invented the </a:t>
            </a:r>
            <a:r>
              <a:rPr lang="en-GB" sz="2200" b="1" i="1"/>
              <a:t>three-stable circuits</a:t>
            </a:r>
            <a:r>
              <a:rPr lang="en-GB" sz="2200"/>
              <a:t> and had important contributions in the fields of </a:t>
            </a:r>
            <a:r>
              <a:rPr lang="en-GB" sz="2200" b="1" i="1"/>
              <a:t>algebraic logic</a:t>
            </a:r>
            <a:r>
              <a:rPr lang="en-GB" sz="2200"/>
              <a:t> and differential equations. </a:t>
            </a:r>
            <a:r>
              <a:rPr lang="en-GB" sz="2200" b="1" i="1" err="1"/>
              <a:t>Moisil</a:t>
            </a:r>
            <a:r>
              <a:rPr lang="en-GB" sz="2200" b="1" i="1"/>
              <a:t> used propositional logic to minimize Boolean functions.</a:t>
            </a:r>
            <a:r>
              <a:rPr lang="en-GB" sz="2200"/>
              <a:t> </a:t>
            </a:r>
          </a:p>
          <a:p>
            <a:pPr eaLnBrk="1" hangingPunct="1">
              <a:buClr>
                <a:schemeClr val="tx1"/>
              </a:buClr>
              <a:buSzTx/>
              <a:buFont typeface="Wingdings" panose="05000000000000000000" pitchFamily="2" charset="2"/>
              <a:buChar char="v"/>
            </a:pPr>
            <a:endParaRPr lang="en-GB" sz="600"/>
          </a:p>
          <a:p>
            <a:pPr eaLnBrk="1" hangingPunct="1">
              <a:lnSpc>
                <a:spcPct val="11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v"/>
            </a:pPr>
            <a:r>
              <a:rPr lang="en-GB" sz="2200"/>
              <a:t>In modern times </a:t>
            </a:r>
            <a:r>
              <a:rPr lang="en-GB" sz="2200" b="1" i="1"/>
              <a:t>Boolean algebras</a:t>
            </a:r>
            <a:r>
              <a:rPr lang="en-GB" sz="2200"/>
              <a:t> and </a:t>
            </a:r>
            <a:r>
              <a:rPr lang="en-GB" sz="2200" b="1" i="1"/>
              <a:t>Boolean functions</a:t>
            </a:r>
            <a:r>
              <a:rPr lang="en-GB" sz="2200"/>
              <a:t> are indispensable in the design of computer chips and digital circuits.</a:t>
            </a:r>
            <a:endParaRPr lang="ro-RO" sz="22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2515" cy="7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9116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77813"/>
            <a:ext cx="8077200" cy="1143000"/>
          </a:xfrm>
        </p:spPr>
        <p:txBody>
          <a:bodyPr/>
          <a:lstStyle/>
          <a:p>
            <a:pPr eaLnBrk="1" hangingPunct="1"/>
            <a:r>
              <a:rPr lang="en-US" sz="3200" b="1"/>
              <a:t>   III. Boolean algebras, Boolean functions </a:t>
            </a:r>
            <a:br>
              <a:rPr lang="en-US" sz="3200" b="1"/>
            </a:br>
            <a:r>
              <a:rPr lang="en-US" sz="3200" b="1"/>
              <a:t>            and Logic circuits (contd.)</a:t>
            </a:r>
            <a:endParaRPr lang="ro-RO" sz="3200" b="1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458200" cy="5105400"/>
          </a:xfrm>
        </p:spPr>
        <p:txBody>
          <a:bodyPr/>
          <a:lstStyle/>
          <a:p>
            <a:pPr marL="533400" indent="-533400" eaLnBrk="1" hangingPunct="1">
              <a:lnSpc>
                <a:spcPct val="95000"/>
              </a:lnSpc>
              <a:buClr>
                <a:schemeClr val="tx1"/>
              </a:buClr>
              <a:buSzTx/>
              <a:buFont typeface="Wingdings" panose="05000000000000000000" pitchFamily="2" charset="2"/>
              <a:buAutoNum type="arabicPeriod"/>
            </a:pPr>
            <a:r>
              <a:rPr lang="en-US" sz="2100" b="1" i="1" u="sng"/>
              <a:t>Boolean algebras</a:t>
            </a:r>
            <a:r>
              <a:rPr lang="en-US" sz="2100" b="1"/>
              <a:t>: </a:t>
            </a:r>
            <a:r>
              <a:rPr lang="en-US" sz="2100"/>
              <a:t>definition, properties, principle of duality, example.</a:t>
            </a:r>
          </a:p>
          <a:p>
            <a:pPr marL="533400" indent="-533400" eaLnBrk="1" hangingPunct="1">
              <a:lnSpc>
                <a:spcPct val="80000"/>
              </a:lnSpc>
              <a:buClr>
                <a:schemeClr val="tx1"/>
              </a:buClr>
              <a:buSzTx/>
              <a:buFont typeface="Wingdings" panose="05000000000000000000" pitchFamily="2" charset="2"/>
              <a:buAutoNum type="arabicPeriod"/>
            </a:pPr>
            <a:endParaRPr lang="en-US" sz="600"/>
          </a:p>
          <a:p>
            <a:pPr marL="533400" indent="-533400" eaLnBrk="1" hangingPunct="1">
              <a:buClr>
                <a:schemeClr val="tx1"/>
              </a:buClr>
              <a:buSzTx/>
              <a:buFont typeface="Wingdings" panose="05000000000000000000" pitchFamily="2" charset="2"/>
              <a:buAutoNum type="arabicPeriod"/>
            </a:pPr>
            <a:r>
              <a:rPr lang="en-US" sz="2100" b="1" i="1" u="sng"/>
              <a:t>Boolean functions</a:t>
            </a:r>
            <a:r>
              <a:rPr lang="en-US" sz="2100" b="1"/>
              <a:t>: </a:t>
            </a:r>
            <a:r>
              <a:rPr lang="en-US" sz="2100"/>
              <a:t>definitions, maxterms, minterms, canonic disjunctive/conjunctive forms.</a:t>
            </a:r>
          </a:p>
          <a:p>
            <a:pPr marL="533400" indent="-533400" eaLnBrk="1" hangingPunct="1">
              <a:lnSpc>
                <a:spcPct val="80000"/>
              </a:lnSpc>
              <a:buClr>
                <a:schemeClr val="tx1"/>
              </a:buClr>
              <a:buSzTx/>
              <a:buFont typeface="Wingdings" panose="05000000000000000000" pitchFamily="2" charset="2"/>
              <a:buAutoNum type="arabicPeriod"/>
            </a:pPr>
            <a:endParaRPr lang="en-US" sz="600"/>
          </a:p>
          <a:p>
            <a:pPr marL="533400" indent="-533400" eaLnBrk="1" hangingPunct="1">
              <a:lnSpc>
                <a:spcPct val="80000"/>
              </a:lnSpc>
              <a:buClr>
                <a:schemeClr val="tx1"/>
              </a:buClr>
              <a:buSzTx/>
              <a:buFont typeface="Wingdings" panose="05000000000000000000" pitchFamily="2" charset="2"/>
              <a:buAutoNum type="arabicPeriod"/>
            </a:pPr>
            <a:r>
              <a:rPr lang="en-US" sz="2100" b="1" i="1" u="sng"/>
              <a:t>Simplification of Boolean functions</a:t>
            </a:r>
            <a:r>
              <a:rPr lang="en-US" sz="2100" b="1"/>
              <a:t>:</a:t>
            </a:r>
          </a:p>
          <a:p>
            <a:pPr marL="952500" lvl="1" indent="-495300" eaLnBrk="1" hangingPunct="1"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000" b="1"/>
              <a:t>definitions: </a:t>
            </a:r>
            <a:r>
              <a:rPr lang="en-US" sz="2000"/>
              <a:t>maximal monoms, central monoms, factorization;</a:t>
            </a:r>
          </a:p>
          <a:p>
            <a:pPr marL="952500" lvl="1" indent="-495300" eaLnBrk="1" hangingPunct="1"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000" b="1"/>
              <a:t>Veitch-Karnaugh diagrams method </a:t>
            </a:r>
          </a:p>
          <a:p>
            <a:pPr marL="952500" lvl="1" indent="-495300" eaLnBrk="1" hangingPunct="1"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000" b="1"/>
              <a:t>Quine’s analytical method, Moisil’s algebraic method.</a:t>
            </a:r>
          </a:p>
          <a:p>
            <a:pPr marL="952500" lvl="1" indent="-495300" eaLnBrk="1" hangingPunct="1">
              <a:lnSpc>
                <a:spcPct val="115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endParaRPr lang="en-US" sz="600" b="1"/>
          </a:p>
          <a:p>
            <a:pPr marL="952500" lvl="1" indent="-495300" eaLnBrk="1" hangingPunct="1">
              <a:lnSpc>
                <a:spcPct val="115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endParaRPr lang="en-US" sz="600" b="1"/>
          </a:p>
          <a:p>
            <a:pPr marL="533400" indent="-533400" eaLnBrk="1" hangingPunct="1">
              <a:lnSpc>
                <a:spcPct val="80000"/>
              </a:lnSpc>
              <a:buClr>
                <a:schemeClr val="tx1"/>
              </a:buClr>
              <a:buSzTx/>
              <a:buFont typeface="Wingdings" panose="05000000000000000000" pitchFamily="2" charset="2"/>
              <a:buAutoNum type="arabicPeriod"/>
            </a:pPr>
            <a:r>
              <a:rPr lang="en-US" sz="2100" b="1" i="1" u="sng"/>
              <a:t>Logic circuits</a:t>
            </a:r>
            <a:endParaRPr lang="en-US" sz="2100" b="1" u="sng"/>
          </a:p>
          <a:p>
            <a:pPr marL="952500" lvl="1" indent="-495300" eaLnBrk="1" hangingPunct="1"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100"/>
              <a:t>definitions, representations for </a:t>
            </a:r>
            <a:r>
              <a:rPr lang="en-US" sz="2100" b="1" i="1"/>
              <a:t>basic gates</a:t>
            </a:r>
            <a:r>
              <a:rPr lang="en-US" sz="2100"/>
              <a:t> (“and”, “or”, “not”) and </a:t>
            </a:r>
            <a:r>
              <a:rPr lang="en-US" sz="2100" b="1" i="1"/>
              <a:t>derived gates</a:t>
            </a:r>
            <a:r>
              <a:rPr lang="en-US" sz="2100"/>
              <a:t> (“xor”, “nand”, “nor”) </a:t>
            </a:r>
          </a:p>
          <a:p>
            <a:pPr marL="952500" lvl="1" indent="-495300" eaLnBrk="1" hangingPunct="1"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100"/>
              <a:t>examples of logic circuits: </a:t>
            </a:r>
            <a:r>
              <a:rPr lang="en-US" sz="2100" b="1" i="1"/>
              <a:t>adder</a:t>
            </a:r>
            <a:r>
              <a:rPr lang="en-US" sz="2100"/>
              <a:t>, </a:t>
            </a:r>
            <a:r>
              <a:rPr lang="en-US" sz="2100" b="1" i="1"/>
              <a:t>subtractor</a:t>
            </a:r>
            <a:r>
              <a:rPr lang="en-US" sz="2100"/>
              <a:t>, </a:t>
            </a:r>
            <a:r>
              <a:rPr lang="en-US" sz="2100" b="1" i="1"/>
              <a:t>decoder</a:t>
            </a:r>
            <a:r>
              <a:rPr lang="en-US" sz="2100"/>
              <a:t>, </a:t>
            </a:r>
            <a:r>
              <a:rPr lang="en-US" sz="2100" b="1" i="1"/>
              <a:t>encoder</a:t>
            </a:r>
            <a:r>
              <a:rPr lang="en-US" sz="2100"/>
              <a:t>, </a:t>
            </a:r>
            <a:r>
              <a:rPr lang="en-US" sz="2100" b="1" i="1"/>
              <a:t>comparator</a:t>
            </a:r>
            <a:r>
              <a:rPr lang="en-US" sz="2100"/>
              <a:t> </a:t>
            </a:r>
            <a:endParaRPr lang="ro-RO" sz="21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2515" cy="79254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References</a:t>
            </a:r>
            <a:endParaRPr lang="ro-RO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458200" cy="4530725"/>
          </a:xfrm>
        </p:spPr>
        <p:txBody>
          <a:bodyPr/>
          <a:lstStyle/>
          <a:p>
            <a:pPr marL="533400" indent="-533400" eaLnBrk="1" hangingPunct="1">
              <a:lnSpc>
                <a:spcPct val="125000"/>
              </a:lnSpc>
              <a:buClr>
                <a:schemeClr val="tx1"/>
              </a:buClr>
              <a:buSzTx/>
              <a:buFont typeface="Wingdings" panose="05000000000000000000" pitchFamily="2" charset="2"/>
              <a:buAutoNum type="arabicPeriod"/>
            </a:pPr>
            <a:r>
              <a:rPr lang="pt-PT" sz="2000" b="1"/>
              <a:t>M. Cocan, B. Pop: Bazele matematice ale sistemelor de calcul (chapter 2), Editura Albastra, Cluj-Napoca, 2001 – library.</a:t>
            </a:r>
            <a:endParaRPr lang="it-IT" sz="2000" b="1"/>
          </a:p>
          <a:p>
            <a:pPr marL="533400" indent="-533400" eaLnBrk="1" hangingPunct="1">
              <a:lnSpc>
                <a:spcPct val="125000"/>
              </a:lnSpc>
              <a:buClr>
                <a:schemeClr val="tx1"/>
              </a:buClr>
              <a:buSzPct val="105000"/>
              <a:buFont typeface="Wingdings" panose="05000000000000000000" pitchFamily="2" charset="2"/>
              <a:buAutoNum type="arabicPeriod"/>
            </a:pPr>
            <a:r>
              <a:rPr lang="it-IT" sz="2000" b="1"/>
              <a:t>M. Lupea, A. Mihiş: </a:t>
            </a:r>
            <a:r>
              <a:rPr lang="it-IT" sz="2000" b="1" i="1"/>
              <a:t>Logici clasice şi circuite logice. Teorie şi exemple.</a:t>
            </a:r>
            <a:r>
              <a:rPr lang="it-IT" sz="2000" b="1"/>
              <a:t>, Editura Albastra, edition I -2008, edition  II - 2009, edition III - 2011.</a:t>
            </a:r>
          </a:p>
          <a:p>
            <a:pPr marL="533400" indent="-533400" eaLnBrk="1" hangingPunct="1">
              <a:lnSpc>
                <a:spcPct val="125000"/>
              </a:lnSpc>
              <a:buClr>
                <a:schemeClr val="tx1"/>
              </a:buClr>
              <a:buSzTx/>
              <a:buFont typeface="Wingdings" panose="05000000000000000000" pitchFamily="2" charset="2"/>
              <a:buAutoNum type="arabicPeriod"/>
            </a:pPr>
            <a:r>
              <a:rPr lang="it-IT" sz="2000" b="1">
                <a:solidFill>
                  <a:srgbClr val="009900"/>
                </a:solidFill>
              </a:rPr>
              <a:t>M. Lupea, A. Mihis: </a:t>
            </a:r>
            <a:r>
              <a:rPr lang="it-IT" sz="2000" b="1" i="1">
                <a:solidFill>
                  <a:srgbClr val="009900"/>
                </a:solidFill>
              </a:rPr>
              <a:t>A Computational Approach to Classical Logics and Circuits,  Editura Universitara Clujeana</a:t>
            </a:r>
            <a:r>
              <a:rPr lang="it-IT" sz="2000" b="1">
                <a:solidFill>
                  <a:srgbClr val="009900"/>
                </a:solidFill>
              </a:rPr>
              <a:t>, second edition, 2016.</a:t>
            </a:r>
          </a:p>
          <a:p>
            <a:pPr marL="533400" indent="-533400" eaLnBrk="1" hangingPunct="1">
              <a:lnSpc>
                <a:spcPct val="125000"/>
              </a:lnSpc>
              <a:buClr>
                <a:schemeClr val="tx1"/>
              </a:buClr>
              <a:buSzTx/>
              <a:buFont typeface="Wingdings" panose="05000000000000000000" pitchFamily="2" charset="2"/>
              <a:buAutoNum type="arabicPeriod"/>
            </a:pPr>
            <a:r>
              <a:rPr lang="en-US" sz="2000" b="1"/>
              <a:t>D.Tatar: Bazele matematice ale calculatoarelor, edition 1999, library.</a:t>
            </a:r>
            <a:endParaRPr lang="ro-RO" sz="2000" b="1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2515" cy="7925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ayers">
  <a:themeElements>
    <a:clrScheme name="Layers 6">
      <a:dk1>
        <a:srgbClr val="000000"/>
      </a:dk1>
      <a:lt1>
        <a:srgbClr val="FFFFE1"/>
      </a:lt1>
      <a:dk2>
        <a:srgbClr val="330033"/>
      </a:dk2>
      <a:lt2>
        <a:srgbClr val="330033"/>
      </a:lt2>
      <a:accent1>
        <a:srgbClr val="CCCC99"/>
      </a:accent1>
      <a:accent2>
        <a:srgbClr val="FF0000"/>
      </a:accent2>
      <a:accent3>
        <a:srgbClr val="FFFFEE"/>
      </a:accent3>
      <a:accent4>
        <a:srgbClr val="000000"/>
      </a:accent4>
      <a:accent5>
        <a:srgbClr val="E2E2CA"/>
      </a:accent5>
      <a:accent6>
        <a:srgbClr val="E70000"/>
      </a:accent6>
      <a:hlink>
        <a:srgbClr val="990033"/>
      </a:hlink>
      <a:folHlink>
        <a:srgbClr val="B2B2B2"/>
      </a:folHlink>
    </a:clrScheme>
    <a:fontScheme name="Layers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ayers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6AA527AC66B043A6ABC545F551704A" ma:contentTypeVersion="3" ma:contentTypeDescription="Create a new document." ma:contentTypeScope="" ma:versionID="f5ad70e1441f73df0185f183c75be569">
  <xsd:schema xmlns:xsd="http://www.w3.org/2001/XMLSchema" xmlns:xs="http://www.w3.org/2001/XMLSchema" xmlns:p="http://schemas.microsoft.com/office/2006/metadata/properties" xmlns:ns2="83b6afff-f0de-42d1-ac40-a6c349a96d7c" targetNamespace="http://schemas.microsoft.com/office/2006/metadata/properties" ma:root="true" ma:fieldsID="32285c881151771460a5bf1e05eb1adf" ns2:_="">
    <xsd:import namespace="83b6afff-f0de-42d1-ac40-a6c349a96d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b6afff-f0de-42d1-ac40-a6c349a96d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83D08AD-0B78-4120-9EDB-3E7BA655091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FC9D878-A7A0-4B5D-A22C-04D1EDBF334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E2B5635D-BE81-40AD-8801-E372956BDAD5}"/>
</file>

<file path=docProps/app.xml><?xml version="1.0" encoding="utf-8"?>
<Properties xmlns="http://schemas.openxmlformats.org/officeDocument/2006/extended-properties" xmlns:vt="http://schemas.openxmlformats.org/officeDocument/2006/docPropsVTypes">
  <Template>Layers</Template>
  <TotalTime>285</TotalTime>
  <Words>2643</Words>
  <Application>Microsoft Office PowerPoint</Application>
  <PresentationFormat>On-screen Show (4:3)</PresentationFormat>
  <Paragraphs>280</Paragraphs>
  <Slides>33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Aptos</vt:lpstr>
      <vt:lpstr>Arial</vt:lpstr>
      <vt:lpstr>Calibri</vt:lpstr>
      <vt:lpstr>Symbol</vt:lpstr>
      <vt:lpstr>Times New Roman</vt:lpstr>
      <vt:lpstr>Wingdings</vt:lpstr>
      <vt:lpstr>Layers</vt:lpstr>
      <vt:lpstr>Computational Logic</vt:lpstr>
      <vt:lpstr>Competencies</vt:lpstr>
      <vt:lpstr> Methods  </vt:lpstr>
      <vt:lpstr>Content</vt:lpstr>
      <vt:lpstr>       Evaluation - share in the final grade (%) </vt:lpstr>
      <vt:lpstr>Evaluation - share in the final grade (%)</vt:lpstr>
      <vt:lpstr> Rules for seminars</vt:lpstr>
      <vt:lpstr>          IMPORTANT</vt:lpstr>
      <vt:lpstr>I. Numeration systems, numbers representations</vt:lpstr>
      <vt:lpstr>References</vt:lpstr>
      <vt:lpstr>II. Classical logics:                 propositional logic and predicate logic</vt:lpstr>
      <vt:lpstr>LOGIC</vt:lpstr>
      <vt:lpstr>PowerPoint Presentation</vt:lpstr>
      <vt:lpstr>Timeline of research in logic</vt:lpstr>
      <vt:lpstr>Timeline of research in logic (contd.)</vt:lpstr>
      <vt:lpstr>Propositional and predicate logics</vt:lpstr>
      <vt:lpstr> Propositional logic </vt:lpstr>
      <vt:lpstr>Predicate (first-order) logic</vt:lpstr>
      <vt:lpstr>Modelling reasoning using predicate logic</vt:lpstr>
      <vt:lpstr>Types of logics</vt:lpstr>
      <vt:lpstr>Nonmonotonic logics                                 - Default Logic, Reiter 1980</vt:lpstr>
      <vt:lpstr>Automated Theorem Proving (ATP)</vt:lpstr>
      <vt:lpstr>ATP systems in mathematics </vt:lpstr>
      <vt:lpstr>ATP for software generation</vt:lpstr>
      <vt:lpstr>ATP for software verification </vt:lpstr>
      <vt:lpstr>ATP for hardware verification </vt:lpstr>
      <vt:lpstr>Challenges LLMs face with logic </vt:lpstr>
      <vt:lpstr>How LLMs and logic are combined </vt:lpstr>
      <vt:lpstr>References</vt:lpstr>
      <vt:lpstr>III. Boolean algebras, Boolean functions       Logic circuits </vt:lpstr>
      <vt:lpstr>III. Boolean algebras, Boolean functions       Logic circuits </vt:lpstr>
      <vt:lpstr>   III. Boolean algebras, Boolean functions              and Logic circuits (contd.)</vt:lpstr>
      <vt:lpstr>References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Computational Logic</dc:title>
  <dc:creator>Iulian Lupea</dc:creator>
  <cp:lastModifiedBy>Mihaela-Ana Lupea</cp:lastModifiedBy>
  <cp:revision>4</cp:revision>
  <dcterms:created xsi:type="dcterms:W3CDTF">2017-09-26T19:50:42Z</dcterms:created>
  <dcterms:modified xsi:type="dcterms:W3CDTF">2025-10-01T12:04:15Z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0x010100C26AA527AC66B043A6ABC545F551704A</vt:lpwstr>
  </property>
</Properties>
</file>
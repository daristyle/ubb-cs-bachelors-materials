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notesMasterIdLst>
    <p:notesMasterId r:id="rId36"/>
  </p:notesMasterIdLst>
  <p:sldIdLst>
    <p:sldId id="256" r:id="rId5"/>
    <p:sldId id="281" r:id="rId6"/>
    <p:sldId id="258" r:id="rId7"/>
    <p:sldId id="259" r:id="rId8"/>
    <p:sldId id="260" r:id="rId9"/>
    <p:sldId id="257" r:id="rId10"/>
    <p:sldId id="261" r:id="rId11"/>
    <p:sldId id="262" r:id="rId12"/>
    <p:sldId id="286" r:id="rId13"/>
    <p:sldId id="264" r:id="rId14"/>
    <p:sldId id="277" r:id="rId15"/>
    <p:sldId id="290" r:id="rId16"/>
    <p:sldId id="296" r:id="rId17"/>
    <p:sldId id="272" r:id="rId18"/>
    <p:sldId id="273" r:id="rId19"/>
    <p:sldId id="274" r:id="rId20"/>
    <p:sldId id="276" r:id="rId21"/>
    <p:sldId id="287" r:id="rId22"/>
    <p:sldId id="265" r:id="rId23"/>
    <p:sldId id="266" r:id="rId24"/>
    <p:sldId id="267" r:id="rId25"/>
    <p:sldId id="292" r:id="rId26"/>
    <p:sldId id="302" r:id="rId27"/>
    <p:sldId id="300" r:id="rId28"/>
    <p:sldId id="299" r:id="rId29"/>
    <p:sldId id="271" r:id="rId30"/>
    <p:sldId id="280" r:id="rId31"/>
    <p:sldId id="293" r:id="rId32"/>
    <p:sldId id="279" r:id="rId33"/>
    <p:sldId id="278" r:id="rId34"/>
    <p:sldId id="301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2849" autoAdjust="0"/>
  </p:normalViewPr>
  <p:slideViewPr>
    <p:cSldViewPr>
      <p:cViewPr varScale="1">
        <p:scale>
          <a:sx n="71" d="100"/>
          <a:sy n="71" d="100"/>
        </p:scale>
        <p:origin x="1661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1T18:22:34.42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2822 11448 0,'18'0'78,"-1"0"-62,1 0 0,0 0-1,-1 0 1,19 0-1,34 0 32,-52 0-31,0 0 0,-4040 0-1,8079 0 1,-8079 0-1,8097 0 1,-4040 0 15,0 0 1,-17 0-17,0 0 1,34 0 15,-16 0 0,-1 0 1,0 0-17,1 0 1,-19 0-1,18 0 17,1 0 15,-1 0-32,-17 0 16,-1 0-15,19 0-16,-1 0 16,0 0-1,18 0 1,35 0 0,18 35-1,-53-35 1,-18 0-16,18 0 15,0 0 1,-18 0 0,1 0-1,-19 0 17,19 0-17,52 0 1,-18-18-1,54 18 1,-18 0 15,-53 0-31,-18 0 16,35 18 0,-17-18 15,-17 0-16,-4023 0 17,8273 18-17,-4197-18 1,-19 0 0,-17 0-1,-18 0 16,1 0-31,70 0 32,-1 0-17,-34 0 1,-1 0 15,1 0-15,-36 0-1,-17 0 17,35 0-17,-36 0-15,19 0 16,105 0 0,-88 17 15,88 1-16,-53-18 1,0 0 0,0 0-1,-70 0 1,35 0 0,0 17-1,-18-17 1,53 0 15,36 0-15,88 0-1,-71 0 1,-35 0 0,-4128 0-1,8096 0 16,-4038 0 1,17 0-17,0 0 17,-1 0-17,1 0 16,0 0 1,-17 0-17,52 0 1,-18 0 15,1 0-15,35 0-1,70 0 1,-35 0 0,36 0-1,-36 0 1,-88 0-16,35 0 16,-35 0-1,-36 0 141,19 0-140,69-17 0,1 17-1,53 0 1,-106 0 0,53 0-1,17 0 1,-35 0-1,18 17 1,-17-17 0,34 0-1,-88 0-15,18 0 16,-35 0-16,35 0 16,35 0-1,-53 0 1,0 0-1,18 0 1,-17 0 15,-1 0 1,0 0-17,1 0 1,69 0-1,-34 0 1,-1 0-16,1 0 16,123 0-1,-53 0 1,18 0 0,-18 0 15,0 0-16,-35 0 1,17 0 0,107 0-1,-142 0 1,0 0 0,18 0 15,-71 0-31,71 0 15,-18 0 17,36 0-17,-1 0 1,1 0 0,-18 0-1,-1 36 1,1-36-1,53 0 1,-89 0 0,19 0-16,-19 0 15,-17 0-15,35 0 16,89 0 0,-36 0-1,0 0 1,-53-36-1,-35 36 1,-18 0 0,18 0 15,-17 0-15,16 18-1,-16-18 1,34 0-1,-52 0-15,35 0 16,106 0 0,-1 0-1,36 0 1,-141 0 0,71 0-1,-36 0 1,-17 0-1,-36-35 1,18 35 0,0 0-1,17 0 1,-52 0-16,52 0 16,89-35-1,-53 35 1,0 0 15,-71 0-15,0 0-1,-17 0 1,17 0 0,-17 0-1,35 0 1,-18 0-1,0 0 1,1 0-16,-1 0 16,88 0-1,-70 0 1,53 0 0,0-36-1,0 19 1,-53 17-1,0 0 1,35 0 0,-71 0 31,1 0-32,17-18 1,1 0-1,-1 1 1,106 17 0,-88-18-1,35-17 1,-17 17 0,-36 18-1,36 0 1,-36 0-1,53 0 1,-35 0-16,18 0 16,70 0 15,-53 0-31,141 0 31,-141 0-15,-17 0-1,-18 0 1,-18 0 15,18 0-15,-18 0 0,18 0-1,0 0 1,0 0-1,0 0-15,0 0 16,88 35 0,-70-35-1,-1 0 1,1 0 0,-1 0-1,18 0 1,18 0 15,0 0-15,53 0-1,-106 0-15,35 0 16,88 36 0,-140-36-16,34 17 15,71-17 1,-105 0-1,-19 0 110,1 0-109,-1 0 15,1 0-15,0 0 0,-1 0-1,1 0 1,17 0-1,18 18 1,18 17 0,35-17-1,-36 17 1,-70-17 375,-53-18-376,36 0 1,-72 35 15,1-17-15,18-1-1,-71-17 1,105 0 0,19 0-1,-54 18 48,36 0-48,-53 17 1,70-35 93,-35 0-77,0 0-17,-17 0 1,17 0-1,17 0-15,-17-35 79,18 35-64,-35 0 1,-1-18 15,18 18-15,18 0-1,17 0 1,-17 0 0,-53 0 15,17 0 0,36 0-15,17 0-1,1 0 1,-19 0 0,-34 0-1,-36 0 1,18 0-1,17 0 1,18 0 0,36 0 62,-19 0-63,-69 0 1,69 0 0,1 0 15,-18 0-15,18 0-1,0 0 1,-1 0-16,1 0 31,-71 0-15,0 0-1,0 0 1,54 0 0,16 0-1,-17 0 1,18 0-1,0 0 1,-18-18 0,-18 18-1,1 0 1,35 0 0,17 0-16,-106 0 31,36 0-16,0 0 1,35 0 0,0 0-1,0 0 1,0 0 0,0 0-1,-35 0 1,-35-17-1,35 17 1,70 0-16,-53 0 16,-105 0-1,53 0 1,34 0 0,-17 0-1,18 0 16,0 0-15,0 0 0,70 0-1,-17 0 1,0 0 0,17 0-1,0 0 1,1 0-1,-19 0 1,-16 0 0,-19 17-1,71 1 1,-35-18 0,-1-18-1,19 18 1,-1 0-1,-35 0 1,18 0 0,17 0-1,1 0 1,-89 0 0,0 0-1,0 0 1,-17-17-1,17 17 1,71 0 0,-1 0-1,-17 0 1,18 0 0,-35 0-1,17 0 1,0 0-16,17 0 31,-246-36-15,176 36-1,-35-17 1,53 17 0,-35 0 15,17 0-16,0 0 17,0 0-17,36 0 1,17 0-16,-18-18 16,-52 1-1,52 17-15,-52 0 16,-1 0-1,36 0 1,17 0 0,18 0-1,36 0 63,-107-18-31,71 18-31,-17-18 0,-18-17-1,17 35 1,36 0-1,17 0 1,-17 0 31,17 0-16,1 0-31,-72 0 16,1 0-1,0 0 1,-18 0 15,-123 0-15,123 0 15,0 0-15,-35 0-1,71 0-15,17 0 16,-106 0 0,106 0-16,18 0 15,-106 0 1,70 0-16,-35 0 16,36 0-1,-1 18 1,36-18-1,0 0 1,-1 0 0,-17 0-1,0 0 1,1 0 0,-1 0-1,17 0-15,-69 0 47,-107 0-16,88 0-15,89 0 0,-71 0-1,18 0 1,18 0-1,17 0 1,17 0 0,19 0 31,-1 0-32,-52 0 1,34 0 15,-52 0-15,35 0 15,-106 0 0,54 0-15,34 0-16,0 0 15,36 0-15,-35 0 16,-1 0-16,0 0 31,-140 0-15,70 0 0,70 0-1,36 0 1,0 0-1,17 0 1,0 0 0,-17 0-1,0 0 1,-1 0 0,1 0-1,18 0-15,-19 0 16,-17 0 15,-70 0-31,35 0 31,-18 0-15,18 0 0,-36 0-1,71 0 1,-53 0-1,36 0 1,-36 0 0,36 0-1,17 0-15,35 0 16,-88 0 0,0 0-1,0 0 1,18 0-1,18 0 1,-36 0 0,0 0-1,35 0 1,-34 0-16,-1 0 16,-35 0 15,88 0-31,-18 0 15,-17 0-15,18 0 16,-89 0 0,53 0-1,-35 0 1,88 0 0,0 0-1,18 0 63,-1 0-15,-17 0-48,1 0 1,-37 0 0,36 0-1,-17 0 1,-1 0 0,-17 0-1,-18 0 1,18 0-1,0 0 1,17 0 15,54 0-15,-36 0 93,-18 17-77,54-17-17,-19 0 16,1 0 1,0 0-17,0 0 1,-36 18 15,-88-18-15,71 0-1,53 0-15,-1 0 16,19 0-16,-18 0 16,-36 0 15,36 0-31,-53 0 16,52 0 15,-52 0-16,53 0 1,17 0 156,0 0-110,1 18-46,-1-18 15,1 0 1,-19 17-17,-34 1 95,52-18-95,-17 0 1,-53 17-1,70 1-15,-35-18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1T18:22:48.172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1976 12524 0,'35'0'140,"53"17"-124,-17-17 0,-19 18-1,1-18 1,0 0 0,18 18-1,-18-18 1,-18 0-16,-17 0 31,52 0-15,1-18-1,-36 18 1,18 0 0,18 18-1,17-18 1,-18 0 15,-4021 0-31,8096 0 31,-4092 0-15,-17 0 15,-19 0-15,18 0-1,-17 0 1,35 0 0,0 0-1,53 0 1,0 0 0,-18 0-1,0 0 1,-53 0-1,1 0 17,-1 0 30,0 0-46,0 0-1,18 0 1,18 0 0,17 0-1,-4057 0 1,8114 0 0,-4109 0-16,52 17 15,53 1 1,-88-18-16,35 0 15,0 0 1,1 0 0,-37 0-1,19 0 1,-18 0 15,0 0-15,53 0-1,35 0 1,-106 0 0,0 0-16,1 0 15,-19 17-15,1-17 16,17 0 0,18 0 15,-35 0-16,17 0 1,0 0 0,18 0-1,0 0 1,-18 0 0,1 0-1,-1 0 1,-17 0-1,-1 0-15,1 0 16,52 0 0,1 0-1,17 0 1,-35 0 0,0 0-1,0 0 1,-35 0-1,17 0 1,53 0 0,-70 0-16,35 0 15,-36 0-15,18 0 16,36 0 0,-36 0-16,1 0 15,-1 0 1,53 0-1,71-88 17,-89 53-32,-17 35 15,106 0 1,-35 0 0,17 0-1,-18 0 1,-70 0-16,18 0 15,34 0 1,-69 0-16,17 0 16,-18 0-16,53 18 15,-17-1 1,-36-17 0,0 0-1,-17 0 126,35 0-110,35 0-15,-35 0-1,17 0 1,36 0 0,-70 0-1,-1 0 1,0 0-1,0 0 48,18 0-47,-17 0-1,34 0 1,36-35-1,0 35 1,70 0 0,36 0-1,-71 18 1,18-18 0,-71 0-1,18 0 1,-71 17-16,18-17 15,53 0 1,-71 0 0,0 0-1,1 0 32,-1 0-16,0 0-15,18 0 0,18 0-1,34 18 1,-34-18-16,0 0 16,140 0-1,-87 0 1,-1 0-1,-35 18 1,-70-1 0,17-17-1,-17 0 1,17 0 15,-17 0-15,-4040 0-1,8097 0 1,-4022 0 15,-18 0-15,0 0 0,53 0-1,54 0 1,16 0-1,89 0 1,18 18 15,211-18-15,-264 17 0,-159 1-1,17-18-15,71 0 31,-70 18 1,-54-18-17,1 0 1,0 0 15,17 0-15,18 0-1,-18 0 1,-17 0-16,0 0 16,17 0-1,18 0-15,-36 0 16,124 0 0,1 0-1,-54 0 1,18 0-1,17 0 17,-35 0-17,18 0 1,-71 0 0,36 0-1,-36 0 1,-17 0 15,-1 0-15,19 0-1,17 0 1,-18 0 0,0 0-1,1 0 1,-19 0-1,18 0 17,18 0 15,0 0-32,-35 0-15,88 0 16,0 0-1,52 0 1,-69 0 0,52 0-1,-36 35 1,-52-35 0,18 0-1,-53 0 32,-1 0-31,1 0-16,35 0 15,0 0 1,35 0 0,0 0-1,18 0 16,-18 0-15,-17 0-16,-36 0 16,53 0-1,18 0 1,-35 0 0,34 0-1,-69 0-15,-1 0 16,71 0-1,-71 0 1,0 0 0,18 0-1,-18 0 1,1 0 0,-1 0-1,18 0 1,35 0-1,-17 0 1,35 0 15,-71 0-31,18 0 16,88 0 0,-71 0-1,-17 0 1,-35 0-1,17 0 1,1-18 0,-1 18-1,0 0 1,18-17 0,53 17-1,-36 0 1,-34 0-16,-1 0 15,88 0 1,-70 0 15,71 0-15,-89 0 0,0 0 15,1 0-16,17 0 1,-18 0 15,-18 0-15,1 0-16,17 0 31,1-18-15,17 0-1,0 18 1,-1 0 0,-16 0-1,34 0 1,18 0 0,-17 0-1,35 0 1,-36 0-1,-17 0-15,18 0 16,17 0-16,71 0 31,-53 0-15,-18 0 0,0 0-1,-53 0 48,18 0-48,-17 0 1,34 0 0,1 0-1,17 0 1,-53 0-16,18 0 15,35 0 1,36 0 0,17 0-1,-18 0 17,-17 0-17,0 0 1,-36 0-1,-34 0 1,-1 0 15,0 0-15,1 0 0,17 0-1,-1 0 1,1 0-1,0 0 1,-35 0 47,17 0-48,0 0-15,107 0 31,-19 0-15,-70 0-16,0 0 16,-36 0 187,19 0-188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1T18:22:55.84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2752 13494 0,'0'-18'78,"53"0"-62,-36 18 0,18 0-1,-17 0 1,17 0-1,1 0 1,-1 0 0,0 0-1,53 0 1,-52 0 0,17 0 15,-36 0-31,-4003 0 0,8078 0 15,-4057 0 1,1 0 15,17 0 1,-36 0-17,1 0-15,-1 0 16,19 0-1,-19 0-15,19 0 16,-1 0 0,-17 0-16,-1 0 15,36 0 1,-18 0 0,18-17-1,-17 17 1,-1 0-1,18 0 1,17 0 0,-34 0 15,-1 0-15,-17 0-1,-1 0 1,19 0-1,16 0 1,-4056 0 15,8061 0-15,-4021 0 0,-1 0-1,88 0 1,18 0-1,36 0 17,52-18-17,-211 18-15,35-17 47,-36-1-16,19 18-15,-1 0 0,35 0-1,-17 0 1,0-18 0,-17 18 77,-19 0-77,89 0 0,53 0-1,17 0 1,-88 0-1,1 0 1,-54 0 0,0 0-1,0 0 32,18 0-31,0 0-1,35 18 1,18-18 0,-53 0-1,-18 0 1,1 0 0,17 0-1,-36 35 1,71-35-1,-35 0 1,0 0-16,-17 0 16,105 0-1,-53 18 1,35-1 0,-34-17-1,-19 0 16,-4056 0-15,8078 0 0,-4057 0-1,18 0 1,35 0 0,-35 0-1,-35 0-15,17 0 16,18 0-1,-35 0 1,-1 0 0,19 0-1,17 0 1,-1 0 0,37 0-1,-36 0 1,17 0 15,1 18-15,-18 0-1,-18-18-15,18 17 16,123-17 0,-52 0-1,-1 0 1,-17 0-1,-18 0 1,0 0 0,-52 0-1,-1 0 1,18 0 62,0 0-62,35 0 15,-70 0-15,-1 0-1,1 0 1,17 0-1,0 0 1,36-35-16,-36-18 16,1 53-1,-1 0-15,53 0 32,-17 0-32,34 0 15,72 0 1,-89 0 15,-35-17-15,0-1 15,-36 18 0,36 0 0,-4021 0-15,8095 0 0,-4109 0-16,70 0 15,-53 0 1,1 0 0,16 0-1,19 0 1,0 0-1,34 0 1,-34 0 0,123-18-1,-18 18 1,-35 18 0,18 0-1,-106-1-15,0-17 16,123 18-1,-123-18 1,-17 0 0,-1 0-1,0 0 17,-17 0-17,17 0 1,18 0-1,-35 0 1,17 0 0,18 0-1,-18 0 1,18 17 0,-18-17-1,54 0 1,34 0-1,0 0 1,-52 18 0,35-18-1,-36 0 1,-17 0 0,-17 0-1,-19 0 1,19 0-1,-1 0 32,-18 0-31,19 0 0,-1 0-1,0 0 1,18 0-1,-18 0 1,-17 0 0,17 0-1,-17 0 1,17 0-16,1 0 16,-19 0 46,1 0-46,88 0 15,-53 0-15,-36 0-1,36 0 1,-18 0-1,1 0 1,-1 0-16,0 0 16,36 0-1,-36 0-15,0 0 16,1 0 15,87 0 0,-70 0-15,88 0 0,-53 0 15,106 0-15,-105 0 15,-72 0-31,1 0 15,17 0 1,0 0 47,1 0-17,17 0-30,-18 0 0,18 0-1,-18 0-15,-17 0 16,88 0 0,-36 0-1,-17 0 1,-18 0-1,18 0 17,18 0-17,17 0 1,-17 0 0,-36 0-1,53 0 1,-35 0-1,-18 0-15,18 0 16,71 0 0,-72 0-1,-16 0 1,17 0 0,0 0-1,17 0 1,-35 0-1,54 0 1,-19 0 0,-17 0-1,35 0 17,-4092 0-17,8167 0 1,-4092 0-1,-36 0 1,18 0 0,17 0-1,-17 0 1,-17 0 0,16 0-1,-16 0 1,-1 0-1,0 0 1,1 0-16,-19 0 16,71 0-1,1 0 1,-54 0 15,71 0 0,-71 0 48,0 0-64,18 0 1,0 0-1,-18 0 1,18-35 15,-17 35 1,-1 0-17,0 0 1,0 0 15,1 0 0,-19 0 110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11-11T18:23:00.10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6121 13511 0,'17'0'32,"19"0"-17,17 0 1,-18 0-16,18 0 16,35 0-1,-18 0 1,-34 0-1,-1 0 1,-17 0 15,-1 0 1,36 0-1,-18 0-16,18 0 1,0 0-16,-35 0 16,105-17-1,-52-1 1,-18 0 0,-35 18-1,17 0 1,35 0-1,19 0 1,-1 0 0,18 0-1,-71 0 1,0 0 0,0 0-16,18 0 15,-17 0 1,34 0 15,-35 0-15,54 0-1,-1 0 1,0 0 0,-35 0-1,18 0 1,-1 0-1,-35 0-15,-17 0 16,88 0 0,-71 0-16,18 0 15,106 0 1,-36 0 0,-52 0-1,70 0 1,-35 0-1,0 18 1,-36-18 0,-17 0-1,35 0 1,0 0 15,36 0-15,-71 0-16,-36 18 15,125-1 1,-37-17 15,89 0-15,-88 18 0,18-18-1,-1 0 1,1 0-1,-1 0 1,18 0 0,-70 18-16,35 17 15,-53-35-15,-1 0 32,248 35-17,-194-17 16,-18-18 1,-35 17-17,0-17 1,0 0 0,18 18-1,-36 17 1,0-35-1,1 0 17,34 0-17,-35 0 1,18 0 0,0 0-1,35 0 1,1 0-1,-1 0 1,18 0 0,-18 0 15,-53 0-15,124-53-1,-4163 53 1,8096-35-1,-4021 35 1,-36 0 0,0 0-1,0 0 1,36 0 0,0-53-1,34 53 1,-16 0-1,-37-17-15,-16-1 16,52 18 0,18-18-1,-71 18 1,-17-17 15,52 17-15,-34 0-1,-1 0 1,0 0 0,36 0-1,-18 0 1,17 0 0,18 0-1,-52 0-15,-1 0 16,141 0-1,-88 0 1,54 0 0,-54 0-1,35 0 1,-17 0 0,-35 0-1,-1 0 1,1 0 15,-18 17-15,35-17-1,0 18 1,71 0 0,-36-1-1,36-17 1,17 0-1,-87 0 1,34 0 0,-35 0-1,-17 0 1,-18 0 0,17 0-1,-52 0 1,0 0-16,-1 0 15,36 0 1,18-17 47,-54-1-48,36 18 16,-17 0-15,16 0 0,72 0-1,-71 0 1,17 35 0,1-35-16,88 18 15,-18 35 16,88 0 1,-194-53-17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D2C23C6-1587-410E-9D11-210456A22052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4FD1C73-336B-4737-A19D-5867452D2E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77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67FBEF-2037-4BB4-9B3B-0BEBCC98404B}" type="slidenum">
              <a:rPr lang="en-US"/>
              <a:pPr eaLnBrk="1" hangingPunct="1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68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559932-B637-431D-9EED-3E96CE51D839}" type="slidenum">
              <a:rPr lang="en-US"/>
              <a:pPr eaLnBrk="1" hangingPunct="1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19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5DA81-10FC-4DF5-A72B-69A6D700E269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D89217EE-F022-49A6-9CCC-2E25D7D35F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94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B3CFA35-A6A7-4AC5-90B8-AA4C7DBDD978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61F1B40-EAFC-4D19-B5FC-7FB7F66013A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2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1A62D-3E96-4C9A-9239-8A4484E4B69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104B83F9-AA4F-44D9-B334-56FEA9091F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3D938-04A3-40CB-9716-F308B1BCC89F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5E0B9F-F19E-4858-A80E-05C003843C0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4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E85C0-0844-4119-8EBD-2DD3A51934BB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E60741-43D9-4E2E-A953-FC2C78E8109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7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BDCBED1A-4EA9-4F96-A65C-5CE239EB5E38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E3D1FF-0C16-4EE6-9420-CFB05765F25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4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221F59-80E1-43D9-AE6F-B2179A4F557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4AF863-9B36-4088-9B56-1544ED608F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CEB7A5-D102-4F5F-A919-B1BF3271C620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7DE1973-373A-4F12-BB81-C38E40CD5E9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9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A724E1B-96BF-4197-988B-A17ACF8DE60E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D2E09A-90CC-4AB5-B8CB-A85A65FA14D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0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CC246-D360-49CE-BF82-E2569ED533D5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9AD42-98AD-44AA-8E5F-8657434208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2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B46EDA-2188-4A84-91B8-1D0B746CB9A7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48E7DF-E7DD-4E67-8CFE-3D557EC408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9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28C5F2-2984-4CCB-8204-ACA75012E8DF}" type="datetimeFigureOut">
              <a:rPr lang="en-US"/>
              <a:pPr>
                <a:defRPr/>
              </a:pPr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ACB5B500-9B4D-4C63-8CDA-CFFBF09EC37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3994" r:id="rId4"/>
    <p:sldLayoutId id="2147483995" r:id="rId5"/>
    <p:sldLayoutId id="2147484002" r:id="rId6"/>
    <p:sldLayoutId id="2147483996" r:id="rId7"/>
    <p:sldLayoutId id="2147484003" r:id="rId8"/>
    <p:sldLayoutId id="2147484004" r:id="rId9"/>
    <p:sldLayoutId id="2147483997" r:id="rId10"/>
    <p:sldLayoutId id="214748399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05000"/>
            <a:ext cx="61722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Resolution Proof Method</a:t>
            </a:r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3505200"/>
            <a:ext cx="6172200" cy="1371600"/>
          </a:xfrm>
        </p:spPr>
        <p:txBody>
          <a:bodyPr/>
          <a:lstStyle/>
          <a:p>
            <a:pPr eaLnBrk="1" hangingPunct="1"/>
            <a:r>
              <a:rPr lang="en-US" sz="2400"/>
              <a:t>IN  PROPOSITIONAL 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696200" cy="914400"/>
          </a:xfrm>
        </p:spPr>
        <p:txBody>
          <a:bodyPr/>
          <a:lstStyle/>
          <a:p>
            <a:pPr>
              <a:defRPr/>
            </a:pPr>
            <a:r>
              <a:rPr lang="en-US" sz="2200" b="1" u="sng"/>
              <a:t>DECISION PROBLEMS</a:t>
            </a:r>
            <a:r>
              <a:rPr lang="en-US" sz="2200"/>
              <a:t> </a:t>
            </a:r>
            <a:r>
              <a:rPr lang="en-US" sz="2200" b="1"/>
              <a:t>IN</a:t>
            </a:r>
            <a:br>
              <a:rPr lang="en-US" sz="2200"/>
            </a:br>
            <a:r>
              <a:rPr lang="en-US" sz="2200"/>
              <a:t>	        </a:t>
            </a:r>
            <a:r>
              <a:rPr lang="en-US" sz="2200" b="1" u="sng"/>
              <a:t> PROPOSITIONAL/PREDICATE LOGIC</a:t>
            </a:r>
          </a:p>
        </p:txBody>
      </p:sp>
      <p:sp>
        <p:nvSpPr>
          <p:cNvPr id="10243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89" y="1605064"/>
            <a:ext cx="7772400" cy="3500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/>
              <a:t>Resolution Proof Method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305800" cy="4724400"/>
          </a:xfrm>
        </p:spPr>
        <p:txBody>
          <a:bodyPr/>
          <a:lstStyle/>
          <a:p>
            <a:pPr eaLnBrk="1" hangingPunct="1"/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It was proposed by  J.A. Robinson in 1965 as a proof method for classical logics</a:t>
            </a:r>
          </a:p>
          <a:p>
            <a:pPr eaLnBrk="1" hangingPunct="1"/>
            <a:endParaRPr lang="en-US" sz="5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Dedicated theorem provers based on resolution: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</a:t>
            </a:r>
            <a:r>
              <a:rPr lang="en-US" sz="2200" b="1">
                <a:latin typeface="Tahoma" panose="020B0604030504040204" pitchFamily="34" charset="0"/>
                <a:cs typeface="Tahoma" panose="020B0604030504040204" pitchFamily="34" charset="0"/>
              </a:rPr>
              <a:t>OTTER, PCPROOVE, AMPHION, Jape</a:t>
            </a:r>
          </a:p>
          <a:p>
            <a:pPr eaLnBrk="1" hangingPunct="1"/>
            <a:endParaRPr lang="en-US" sz="5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It was easily adapted to </a:t>
            </a:r>
            <a:r>
              <a:rPr lang="en-US" sz="2200" i="1">
                <a:latin typeface="Tahoma" panose="020B0604030504040204" pitchFamily="34" charset="0"/>
                <a:cs typeface="Tahoma" panose="020B0604030504040204" pitchFamily="34" charset="0"/>
              </a:rPr>
              <a:t>nonstandard logics</a:t>
            </a:r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 (modal, temporal, many-valued, non-monotonic).</a:t>
            </a:r>
          </a:p>
          <a:p>
            <a:pPr eaLnBrk="1" hangingPunct="1"/>
            <a:endParaRPr lang="en-US" sz="5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Its basic aim is to check the </a:t>
            </a:r>
            <a:r>
              <a:rPr lang="en-US" sz="2200" b="1" i="1">
                <a:latin typeface="Tahoma" panose="020B0604030504040204" pitchFamily="34" charset="0"/>
                <a:cs typeface="Tahoma" panose="020B0604030504040204" pitchFamily="34" charset="0"/>
              </a:rPr>
              <a:t>consistency/inconsistency</a:t>
            </a:r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     of a set of clauses.</a:t>
            </a:r>
          </a:p>
          <a:p>
            <a:pPr eaLnBrk="1" hangingPunct="1"/>
            <a:endParaRPr lang="en-US" sz="5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US" sz="2200">
                <a:latin typeface="Tahoma" panose="020B0604030504040204" pitchFamily="34" charset="0"/>
                <a:cs typeface="Tahoma" panose="020B0604030504040204" pitchFamily="34" charset="0"/>
              </a:rPr>
              <a:t>It is based on syntactic considerations =&gt; </a:t>
            </a:r>
            <a:r>
              <a:rPr lang="en-US" sz="2200" b="1" i="1">
                <a:latin typeface="Tahoma" panose="020B0604030504040204" pitchFamily="34" charset="0"/>
                <a:cs typeface="Tahoma" panose="020B0604030504040204" pitchFamily="34" charset="0"/>
              </a:rPr>
              <a:t>syntactic method</a:t>
            </a:r>
          </a:p>
          <a:p>
            <a:pPr eaLnBrk="1" hangingPunct="1"/>
            <a:endParaRPr lang="en-US" sz="500" b="1" i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en-GB" sz="2200">
                <a:latin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sz="2200" b="1" i="1">
                <a:latin typeface="Tahoma" panose="020B0604030504040204" pitchFamily="34" charset="0"/>
                <a:cs typeface="Tahoma" panose="020B0604030504040204" pitchFamily="34" charset="0"/>
              </a:rPr>
              <a:t>validity</a:t>
            </a:r>
            <a:r>
              <a:rPr lang="en-GB" sz="2200">
                <a:latin typeface="Tahoma" panose="020B0604030504040204" pitchFamily="34" charset="0"/>
                <a:cs typeface="Tahoma" panose="020B0604030504040204" pitchFamily="34" charset="0"/>
              </a:rPr>
              <a:t> of a formula </a:t>
            </a:r>
            <a:r>
              <a:rPr lang="en-GB" sz="2200" b="1">
                <a:latin typeface="Tahoma" panose="020B0604030504040204" pitchFamily="34" charset="0"/>
                <a:cs typeface="Tahoma" panose="020B0604030504040204" pitchFamily="34" charset="0"/>
              </a:rPr>
              <a:t>is proved by contradiction</a:t>
            </a:r>
            <a:r>
              <a:rPr lang="en-GB" sz="2200">
                <a:latin typeface="Tahoma" panose="020B0604030504040204" pitchFamily="34" charset="0"/>
                <a:cs typeface="Tahoma" panose="020B0604030504040204" pitchFamily="34" charset="0"/>
              </a:rPr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                   </a:t>
            </a:r>
            <a:r>
              <a:rPr lang="en-GB" sz="2200">
                <a:latin typeface="Tahoma" panose="020B0604030504040204" pitchFamily="34" charset="0"/>
                <a:cs typeface="Tahoma" panose="020B0604030504040204" pitchFamily="34" charset="0"/>
              </a:rPr>
              <a:t>=&gt;</a:t>
            </a:r>
            <a:r>
              <a:rPr lang="en-GB" sz="2200" b="1" i="1">
                <a:latin typeface="Tahoma" panose="020B0604030504040204" pitchFamily="34" charset="0"/>
                <a:cs typeface="Tahoma" panose="020B0604030504040204" pitchFamily="34" charset="0"/>
              </a:rPr>
              <a:t> refutation method</a:t>
            </a:r>
          </a:p>
          <a:p>
            <a:pPr eaLnBrk="1" hangingPunct="1"/>
            <a:endParaRPr lang="en-US" sz="22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747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0207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i="1" u="sng" dirty="0"/>
              <a:t>Resolution method </a:t>
            </a:r>
            <a:br>
              <a:rPr lang="en-US" b="1" i="1" dirty="0"/>
            </a:br>
            <a:r>
              <a:rPr lang="en-US" b="1" i="1" dirty="0"/>
              <a:t>- </a:t>
            </a:r>
            <a:r>
              <a:rPr lang="en-US" b="1" dirty="0"/>
              <a:t>formal system for propositional logic -</a:t>
            </a:r>
            <a:endParaRPr lang="en-US" dirty="0"/>
          </a:p>
        </p:txBody>
      </p:sp>
      <p:pic>
        <p:nvPicPr>
          <p:cNvPr id="1126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447800"/>
            <a:ext cx="7620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/>
              <a:t>Definitions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7848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73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i="1" u="sng" dirty="0"/>
              <a:t>Algorithm</a:t>
            </a:r>
            <a:r>
              <a:rPr lang="en-US" sz="2400" b="1" u="sng" dirty="0"/>
              <a:t>:</a:t>
            </a:r>
            <a:r>
              <a:rPr lang="en-US" sz="2400" b="1" i="1" dirty="0"/>
              <a:t> </a:t>
            </a:r>
            <a:r>
              <a:rPr lang="en-US" sz="2400" b="1" dirty="0" err="1"/>
              <a:t>General_propositional_resolution</a:t>
            </a:r>
            <a:br>
              <a:rPr lang="en-US" sz="2400" b="1" dirty="0"/>
            </a:br>
            <a:endParaRPr lang="en-US" sz="2400" b="1" dirty="0"/>
          </a:p>
        </p:txBody>
      </p:sp>
      <p:pic>
        <p:nvPicPr>
          <p:cNvPr id="1331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19200"/>
            <a:ext cx="73914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/>
              <a:t>Theoretical Results</a:t>
            </a:r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676400"/>
            <a:ext cx="8305800" cy="4038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077200" cy="868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b="1" u="sng" dirty="0"/>
              <a:t>Resolution</a:t>
            </a:r>
            <a:r>
              <a:rPr lang="ro-RO" dirty="0"/>
              <a:t> </a:t>
            </a:r>
            <a:r>
              <a:rPr lang="en-US" dirty="0"/>
              <a:t>-</a:t>
            </a:r>
            <a:r>
              <a:rPr lang="ro-RO" dirty="0"/>
              <a:t> </a:t>
            </a:r>
            <a:r>
              <a:rPr lang="ro-RO" b="1" dirty="0"/>
              <a:t>a refutation </a:t>
            </a:r>
            <a:r>
              <a:rPr lang="en-US" b="1" dirty="0"/>
              <a:t>Proof </a:t>
            </a:r>
            <a:r>
              <a:rPr lang="ro-RO" b="1" dirty="0"/>
              <a:t>method </a:t>
            </a:r>
            <a:endParaRPr lang="en-US" b="1" dirty="0"/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3900" y="1447800"/>
            <a:ext cx="7848600" cy="4572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sz="3200" b="1" u="sng" dirty="0"/>
              <a:t>Example 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12" y="2895600"/>
            <a:ext cx="8229600" cy="5794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685800"/>
            <a:ext cx="7685088" cy="2038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5046"/>
            <a:ext cx="3414713" cy="844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789" y="3455553"/>
            <a:ext cx="4022505" cy="844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912" y="4270611"/>
            <a:ext cx="5029200" cy="9351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86400"/>
            <a:ext cx="8141837" cy="8474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90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47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249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sz="3100" b="1" u="sng" dirty="0"/>
              <a:t>Theorem</a:t>
            </a:r>
            <a:r>
              <a:rPr lang="ro-RO" sz="3100" b="1" dirty="0"/>
              <a:t> </a:t>
            </a:r>
            <a:br>
              <a:rPr lang="en-US" dirty="0"/>
            </a:br>
            <a:r>
              <a:rPr lang="en-US" dirty="0"/>
              <a:t>  </a:t>
            </a:r>
            <a:r>
              <a:rPr lang="ro-RO" sz="2700" b="1" dirty="0"/>
              <a:t>(based on Davis-Putman procedure)</a:t>
            </a:r>
            <a:br>
              <a:rPr lang="en-US" sz="2700" b="1" dirty="0"/>
            </a:br>
            <a:endParaRPr lang="en-US" sz="27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802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" y="1530991"/>
            <a:ext cx="8029575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Example 2. Modeling reasoning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4983692" y="1143000"/>
            <a:ext cx="3657600" cy="3390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6867"/>
            <a:ext cx="4543425" cy="5314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563562"/>
          </a:xfrm>
        </p:spPr>
        <p:txBody>
          <a:bodyPr>
            <a:normAutofit/>
          </a:bodyPr>
          <a:lstStyle/>
          <a:p>
            <a:r>
              <a:rPr lang="en-US" sz="2400" b="1" dirty="0"/>
              <a:t>Example 2 – general Resolution(contd.)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38200"/>
            <a:ext cx="4038600" cy="3609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814387"/>
            <a:ext cx="4191000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570412"/>
            <a:ext cx="83058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8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/>
              <a:t>IMPORTANT!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905000"/>
            <a:ext cx="8480424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35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dirty="0"/>
              <a:t>Strategies and Refinements of Resolution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001000" cy="5178425"/>
          </a:xfrm>
        </p:spPr>
        <p:txBody>
          <a:bodyPr/>
          <a:lstStyle/>
          <a:p>
            <a:r>
              <a:rPr lang="en-GB" b="1"/>
              <a:t>Strategies:</a:t>
            </a:r>
          </a:p>
          <a:p>
            <a:pPr lvl="1"/>
            <a:r>
              <a:rPr lang="en-GB"/>
              <a:t>assure that all the possible clauses to be derived are generated </a:t>
            </a:r>
          </a:p>
          <a:p>
            <a:pPr lvl="1"/>
            <a:r>
              <a:rPr lang="en-GB"/>
              <a:t>try to avoid the derivation of redundant and irrelevant clauses in order to obtain the empty clause.</a:t>
            </a:r>
          </a:p>
          <a:p>
            <a:pPr lvl="1"/>
            <a:r>
              <a:rPr lang="en-GB" b="1"/>
              <a:t>level-saturation</a:t>
            </a:r>
            <a:r>
              <a:rPr lang="en-GB"/>
              <a:t> strategy, </a:t>
            </a:r>
            <a:r>
              <a:rPr lang="en-GB" b="1"/>
              <a:t>deletion </a:t>
            </a:r>
            <a:r>
              <a:rPr lang="en-GB"/>
              <a:t>strategy,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GB"/>
              <a:t>    </a:t>
            </a:r>
            <a:r>
              <a:rPr lang="en-GB" b="1"/>
              <a:t>set-of-support</a:t>
            </a:r>
            <a:r>
              <a:rPr lang="en-GB"/>
              <a:t> strategy</a:t>
            </a:r>
          </a:p>
          <a:p>
            <a:endParaRPr lang="en-GB" sz="600" b="1"/>
          </a:p>
          <a:p>
            <a:r>
              <a:rPr lang="en-GB" b="1"/>
              <a:t>Refinements</a:t>
            </a:r>
          </a:p>
          <a:p>
            <a:pPr lvl="1"/>
            <a:r>
              <a:rPr lang="en-US" sz="2200"/>
              <a:t>make the resolution process more efficient by imposing  restrictions on the clashing clauses</a:t>
            </a:r>
          </a:p>
          <a:p>
            <a:pPr lvl="1"/>
            <a:r>
              <a:rPr lang="en-US" sz="2200" b="1"/>
              <a:t>lock</a:t>
            </a:r>
            <a:r>
              <a:rPr lang="en-US" sz="2200" b="1" i="1"/>
              <a:t> </a:t>
            </a:r>
            <a:r>
              <a:rPr lang="en-US" sz="2200"/>
              <a:t>resolution,</a:t>
            </a:r>
            <a:r>
              <a:rPr lang="en-US" sz="2200" i="1"/>
              <a:t> </a:t>
            </a:r>
            <a:r>
              <a:rPr lang="en-US" sz="2200" b="1"/>
              <a:t>linear </a:t>
            </a:r>
            <a:r>
              <a:rPr lang="en-US" sz="2200"/>
              <a:t>resolution</a:t>
            </a:r>
            <a:r>
              <a:rPr lang="en-US" sz="2200" i="1"/>
              <a:t>,</a:t>
            </a:r>
            <a:r>
              <a:rPr lang="en-US" sz="2200" b="1" i="1"/>
              <a:t> </a:t>
            </a:r>
          </a:p>
          <a:p>
            <a:pPr lvl="1">
              <a:buFont typeface="Wingdings 2" panose="05020102010507070707" pitchFamily="18" charset="2"/>
              <a:buNone/>
            </a:pPr>
            <a:r>
              <a:rPr lang="en-US" sz="2200" b="1" i="1"/>
              <a:t>    </a:t>
            </a:r>
            <a:r>
              <a:rPr lang="en-US" sz="2200" b="1"/>
              <a:t>semantic </a:t>
            </a:r>
            <a:r>
              <a:rPr lang="en-US" sz="2200"/>
              <a:t>resolution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7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/>
          <a:lstStyle/>
          <a:p>
            <a:pPr>
              <a:defRPr/>
            </a:pPr>
            <a:r>
              <a:rPr lang="en-US" sz="2400" b="1" u="sng" dirty="0"/>
              <a:t>Remarks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001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u="sng" dirty="0"/>
              <a:t>Strategies of Resolution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85" y="1600200"/>
            <a:ext cx="8458200" cy="23574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822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sz="2000" b="1" i="1" u="sng" dirty="0"/>
              <a:t>Algorithm</a:t>
            </a:r>
            <a:r>
              <a:rPr lang="en-US" sz="2000" b="1" dirty="0"/>
              <a:t>:</a:t>
            </a:r>
            <a:r>
              <a:rPr lang="ro-RO" sz="2000" b="1" i="1" dirty="0"/>
              <a:t> </a:t>
            </a:r>
            <a:r>
              <a:rPr lang="ro-RO" sz="2000" b="1" dirty="0"/>
              <a:t>level-saturation-strategy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7787780" cy="54071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3</a:t>
            </a:r>
            <a:endParaRPr lang="en-US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74850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36646"/>
            <a:ext cx="8077200" cy="17438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1" y="3051174"/>
            <a:ext cx="4648200" cy="2647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81" y="3027081"/>
            <a:ext cx="3462048" cy="2611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22" y="5662894"/>
            <a:ext cx="8108156" cy="8354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580" y="699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54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 eaLnBrk="1" hangingPunct="1">
              <a:defRPr/>
            </a:pPr>
            <a:r>
              <a:rPr lang="en-US" b="1" u="sng" dirty="0"/>
              <a:t>Lock Resolution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143000"/>
            <a:ext cx="8305800" cy="4572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0615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/>
              <a:t>Theorems</a:t>
            </a:r>
            <a:r>
              <a:rPr lang="en-US" dirty="0"/>
              <a:t> – Lock resolution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524000"/>
            <a:ext cx="8153400" cy="4267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90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GB" b="1" u="sng" dirty="0"/>
              <a:t>Remarks</a:t>
            </a:r>
            <a:br>
              <a:rPr lang="en-US" u="sng" dirty="0"/>
            </a:br>
            <a:endParaRPr lang="en-US" u="sng" dirty="0"/>
          </a:p>
        </p:txBody>
      </p:sp>
      <p:sp>
        <p:nvSpPr>
          <p:cNvPr id="2662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229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Example 4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78" y="1524000"/>
            <a:ext cx="4184878" cy="4876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76" y="1578217"/>
            <a:ext cx="3964130" cy="4768365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935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AED40-3410-A373-413E-ABC0175E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92E2-4F9B-362B-F14F-6D11924D5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b="1" u="sng" dirty="0"/>
              <a:t>Example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33E58-9799-EC50-C0F3-7401D32A0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F3FC2E-4E2B-B18D-32DB-CD6E89DFD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49" y="1229509"/>
            <a:ext cx="7381875" cy="1257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2C3FDB-1308-39A9-5D52-5DC794D00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7" y="2675742"/>
            <a:ext cx="78962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5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r>
              <a:rPr lang="en-US" b="1" dirty="0"/>
              <a:t>Example 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43000"/>
            <a:ext cx="7543800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9378"/>
            <a:ext cx="7620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6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6 </a:t>
            </a:r>
            <a:r>
              <a:rPr lang="en-US" dirty="0"/>
              <a:t>(contd.)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1" y="823912"/>
            <a:ext cx="5715000" cy="390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8" y="1426368"/>
            <a:ext cx="6029325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25" y="1966394"/>
            <a:ext cx="8124825" cy="163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65" y="3810000"/>
            <a:ext cx="7705725" cy="2733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FAFD67-6FC4-3A2B-60C2-E0C5C651C164}"/>
              </a:ext>
            </a:extLst>
          </p:cNvPr>
          <p:cNvSpPr txBox="1"/>
          <p:nvPr/>
        </p:nvSpPr>
        <p:spPr>
          <a:xfrm>
            <a:off x="6705600" y="1476136"/>
            <a:ext cx="16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tautologies</a:t>
            </a:r>
          </a:p>
        </p:txBody>
      </p:sp>
    </p:spTree>
    <p:extLst>
      <p:ext uri="{BB962C8B-B14F-4D97-AF65-F5344CB8AC3E}">
        <p14:creationId xmlns:p14="http://schemas.microsoft.com/office/powerpoint/2010/main" val="345317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1" u="sng" dirty="0"/>
              <a:t>Linear Resolution </a:t>
            </a:r>
            <a:r>
              <a:rPr lang="en-US" sz="2800" dirty="0"/>
              <a:t>(Loveland 1971)</a:t>
            </a:r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990600"/>
            <a:ext cx="7086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603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Theoretical results</a:t>
            </a:r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6248400" cy="23622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7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219200"/>
            <a:ext cx="7532687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0"/>
            <a:ext cx="7772399" cy="4953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887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567E14-BC63-8346-03FC-C174515EFB8B}"/>
                  </a:ext>
                </a:extLst>
              </p14:cNvPr>
              <p14:cNvContentPartPr/>
              <p14:nvPr/>
            </p14:nvContentPartPr>
            <p14:xfrm>
              <a:off x="-349200" y="4076640"/>
              <a:ext cx="8013960" cy="12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567E14-BC63-8346-03FC-C174515EFB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65040" y="4013280"/>
                <a:ext cx="804528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903554-29A9-9092-9D33-F51B5B0E4136}"/>
                  </a:ext>
                </a:extLst>
              </p14:cNvPr>
              <p14:cNvContentPartPr/>
              <p14:nvPr/>
            </p14:nvContentPartPr>
            <p14:xfrm>
              <a:off x="-355680" y="4502160"/>
              <a:ext cx="8484120" cy="70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903554-29A9-9092-9D33-F51B5B0E41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371520" y="4438800"/>
                <a:ext cx="85154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B1AFCC-D3A9-470B-724C-3D7CDBD9FC58}"/>
                  </a:ext>
                </a:extLst>
              </p14:cNvPr>
              <p14:cNvContentPartPr/>
              <p14:nvPr/>
            </p14:nvContentPartPr>
            <p14:xfrm>
              <a:off x="-279360" y="4813200"/>
              <a:ext cx="6832800" cy="5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B1AFCC-D3A9-470B-724C-3D7CDBD9FC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95200" y="4749840"/>
                <a:ext cx="68641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F1D9DC-6A83-66FB-C64F-9F1088540164}"/>
                  </a:ext>
                </a:extLst>
              </p14:cNvPr>
              <p14:cNvContentPartPr/>
              <p14:nvPr/>
            </p14:nvContentPartPr>
            <p14:xfrm>
              <a:off x="2203560" y="4844880"/>
              <a:ext cx="4191120" cy="89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F1D9DC-6A83-66FB-C64F-9F10885401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87720" y="4781520"/>
                <a:ext cx="42224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847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sz="2600" b="1" u="sng" dirty="0"/>
              <a:t>Special cases of linear resolution</a:t>
            </a:r>
            <a:br>
              <a:rPr lang="en-US" b="1" u="sng" dirty="0"/>
            </a:br>
            <a:endParaRPr lang="en-US" b="1" u="sng" dirty="0"/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066800"/>
            <a:ext cx="7696200" cy="487045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600" b="1" dirty="0"/>
              <a:t>Example 8</a:t>
            </a:r>
          </a:p>
        </p:txBody>
      </p:sp>
      <p:pic>
        <p:nvPicPr>
          <p:cNvPr id="3584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295400"/>
            <a:ext cx="7620000" cy="4751388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04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458200" cy="4713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33400"/>
            <a:ext cx="4114800" cy="2457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992909"/>
            <a:ext cx="1967972" cy="2776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028" y="609600"/>
            <a:ext cx="3491972" cy="11796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2990850"/>
            <a:ext cx="2105025" cy="1666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671" y="1737411"/>
            <a:ext cx="3867150" cy="11318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9268" y="3014662"/>
            <a:ext cx="2171700" cy="1619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5914557"/>
            <a:ext cx="7924800" cy="50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6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7e31cc57aabda9f4431eddcbfc968b25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92f8d06eafcff663408d11b42984bcbc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1F2ABF-FF3C-4819-BE49-5D2151DD0EF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36DD73-E08C-456F-AA16-D6C00CE54090}"/>
</file>

<file path=customXml/itemProps3.xml><?xml version="1.0" encoding="utf-8"?>
<ds:datastoreItem xmlns:ds="http://schemas.openxmlformats.org/officeDocument/2006/customXml" ds:itemID="{C40BF7D2-453F-4FDE-A1B4-28E7FB6222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7077</TotalTime>
  <Words>277</Words>
  <Application>Microsoft Office PowerPoint</Application>
  <PresentationFormat>On-screen Show (4:3)</PresentationFormat>
  <Paragraphs>56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Century Schoolbook</vt:lpstr>
      <vt:lpstr>Tahoma</vt:lpstr>
      <vt:lpstr>Wingdings</vt:lpstr>
      <vt:lpstr>Wingdings 2</vt:lpstr>
      <vt:lpstr>Oriel</vt:lpstr>
      <vt:lpstr>Resolution Proof Method</vt:lpstr>
      <vt:lpstr>DECISION PROBLEMS IN           PROPOSITIONAL/PREDICATE LOGIC</vt:lpstr>
      <vt:lpstr>Resolution Proof Method</vt:lpstr>
      <vt:lpstr>Resolution method  - formal system for propositional logic -</vt:lpstr>
      <vt:lpstr>Definitions</vt:lpstr>
      <vt:lpstr>Algorithm: General_propositional_resolution </vt:lpstr>
      <vt:lpstr>Theoretical Results</vt:lpstr>
      <vt:lpstr>Resolution - a refutation Proof method </vt:lpstr>
      <vt:lpstr>Example 1</vt:lpstr>
      <vt:lpstr>Theorem    (based on Davis-Putman procedure) </vt:lpstr>
      <vt:lpstr>Example 2. Modeling reasoning</vt:lpstr>
      <vt:lpstr>Example 2 – general Resolution(contd.)</vt:lpstr>
      <vt:lpstr>IMPORTANT!</vt:lpstr>
      <vt:lpstr>Strategies and Refinements of Resolution</vt:lpstr>
      <vt:lpstr>Remarks</vt:lpstr>
      <vt:lpstr>Strategies of Resolution</vt:lpstr>
      <vt:lpstr>Algorithm: level-saturation-strategy</vt:lpstr>
      <vt:lpstr>Example 3</vt:lpstr>
      <vt:lpstr>Lock Resolution</vt:lpstr>
      <vt:lpstr>Theorems – Lock resolution</vt:lpstr>
      <vt:lpstr>Remarks </vt:lpstr>
      <vt:lpstr>Example 4</vt:lpstr>
      <vt:lpstr>Example 5</vt:lpstr>
      <vt:lpstr>Example 6</vt:lpstr>
      <vt:lpstr>Example 6 (contd.)</vt:lpstr>
      <vt:lpstr>Linear Resolution (Loveland 1971)</vt:lpstr>
      <vt:lpstr>Theoretical results</vt:lpstr>
      <vt:lpstr>PowerPoint Presentation</vt:lpstr>
      <vt:lpstr>Special cases of linear resolution </vt:lpstr>
      <vt:lpstr>Example 8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</dc:creator>
  <cp:lastModifiedBy>Mihaela-Ana Lupea</cp:lastModifiedBy>
  <cp:revision>155</cp:revision>
  <dcterms:created xsi:type="dcterms:W3CDTF">2017-11-14T13:30:18Z</dcterms:created>
  <dcterms:modified xsi:type="dcterms:W3CDTF">2025-11-11T19:35:11Z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